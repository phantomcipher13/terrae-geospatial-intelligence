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terrae-geospatial-intelligence.vercel.app" TargetMode="Externa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terrae-geospatial-intelligence.vercel.app" TargetMode="Externa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terrae-geospatial-intelligence.vercel.app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terrae-geospatial-intelligence.vercel.app" TargetMode="External"/><Relationship Id="rId3" Type="http://schemas.openxmlformats.org/officeDocument/2006/relationships/image" Target="../media/image3.jpg"/><Relationship Id="rId4" Type="http://schemas.openxmlformats.org/officeDocument/2006/relationships/image" Target="../media/image4.jpg"/><Relationship Id="rId5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terrae-geospatial-intelligence.vercel.app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terrae-geospatial-intelligence.vercel.app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" y="256032"/>
            <a:ext cx="11002975" cy="22860"/>
          </a:xfrm>
          <a:prstGeom prst="rect">
            <a:avLst/>
          </a:prstGeom>
          <a:solidFill>
            <a:srgbClr val="C5A8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01752"/>
            <a:ext cx="77724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00" b="1">
                <a:solidFill>
                  <a:srgbClr val="C5A869"/>
                </a:solidFill>
                <a:latin typeface="Consolas"/>
              </a:defRPr>
            </a:pPr>
            <a:r>
              <a:t>SMART INDIA HACKATHON 2026 · PS: SIH26227 · SPACE TECHNOLOGY · SOFTWARE · MINISTRY OF DEFENCE / INDIAN ARMY — DGIS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301752"/>
            <a:ext cx="3182112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00">
                <a:solidFill>
                  <a:srgbClr val="94A3B8"/>
                </a:solidFill>
                <a:latin typeface="Consolas"/>
              </a:rPr>
              <a:t>TEAM: Quantumcrew  |  </a:t>
            </a:r>
            <a:r>
              <a:rPr sz="800" b="1">
                <a:solidFill>
                  <a:srgbClr val="4EA8DE"/>
                </a:solidFill>
                <a:latin typeface="Consolas"/>
              </a:rPr>
              <a:t>SLIDE 01 / 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548640"/>
            <a:ext cx="11002975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50" b="1">
                <a:solidFill>
                  <a:srgbClr val="F5F3ED"/>
                </a:solidFill>
                <a:latin typeface="Georgia"/>
              </a:defRPr>
            </a:pPr>
            <a:r>
              <a:t>01 — PROBLEM STATEMENT</a:t>
            </a:r>
          </a:p>
          <a:p>
            <a:pPr>
              <a:defRPr sz="950">
                <a:solidFill>
                  <a:srgbClr val="94A3B8"/>
                </a:solidFill>
                <a:latin typeface="Segoe UI"/>
              </a:defRPr>
            </a:pPr>
            <a:r>
              <a:t>SEMANTIC RETRIEVAL AND MULTI-TEMPORAL CHANGE ANALYSIS OF SATELLITE IMAGERY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565392"/>
            <a:ext cx="110029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80">
                <a:solidFill>
                  <a:srgbClr val="64748B"/>
                </a:solidFill>
                <a:latin typeface="Segoe UI"/>
              </a:rPr>
              <a:t>TERRAE — Earth Intelligence Satellite Investigation Console  |  Ministry of Defence / Indian Army — DGIS  |  SIH 2026 Submission</a:t>
            </a:r>
            <a:r>
              <a:rPr sz="780">
                <a:solidFill>
                  <a:srgbClr val="64748B"/>
                </a:solidFill>
                <a:latin typeface="Segoe UI"/>
              </a:rPr>
              <a:t>                                                         Live Console: </a:t>
            </a:r>
            <a:r>
              <a:rPr sz="780">
                <a:solidFill>
                  <a:srgbClr val="4EA8DE"/>
                </a:solidFill>
                <a:latin typeface="Segoe UI"/>
                <a:hlinkClick r:id="rId2"/>
              </a:rPr>
              <a:t>https://terrae-geospatial-intelligence.vercel.app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188720"/>
            <a:ext cx="11002975" cy="457200"/>
          </a:xfrm>
          <a:prstGeom prst="roundRect">
            <a:avLst/>
          </a:prstGeom>
          <a:solidFill>
            <a:srgbClr val="171F30"/>
          </a:solidFill>
          <a:ln w="12700">
            <a:solidFill>
              <a:srgbClr val="C5A8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234440"/>
            <a:ext cx="10728655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250" b="1">
                <a:solidFill>
                  <a:srgbClr val="C5A869"/>
                </a:solidFill>
                <a:latin typeface="Georgia"/>
              </a:rPr>
              <a:t>“Finding a changed pixel is easy. Knowing whether it matters is harder.”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737360"/>
            <a:ext cx="3291840" cy="4114800"/>
          </a:xfrm>
          <a:prstGeom prst="roundRect">
            <a:avLst/>
          </a:prstGeom>
          <a:solidFill>
            <a:srgbClr val="111724"/>
          </a:solidFill>
          <a:ln w="12700">
            <a:solidFill>
              <a:srgbClr val="253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828800"/>
            <a:ext cx="301752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 b="1">
                <a:solidFill>
                  <a:srgbClr val="E09F3E"/>
                </a:solidFill>
                <a:latin typeface="Consolas"/>
              </a:defRPr>
            </a:pPr>
            <a:r>
              <a:t>CURRENT ANALYST WORKFLOW (STATUS QUO)</a:t>
            </a:r>
          </a:p>
          <a:p>
            <a:pPr>
              <a:spcBef>
                <a:spcPts val="400"/>
              </a:spcBef>
            </a:pPr>
            <a:r>
              <a:rPr sz="800" b="1">
                <a:solidFill>
                  <a:srgbClr val="F5F3ED"/>
                </a:solidFill>
                <a:latin typeface="Segoe UI"/>
              </a:rPr>
              <a:t>01 / METADATA SEARCH
</a:t>
            </a:r>
            <a:r>
              <a:rPr sz="750">
                <a:solidFill>
                  <a:srgbClr val="94A3B8"/>
                </a:solidFill>
                <a:latin typeface="Segoe UI"/>
              </a:rPr>
              <a:t>  Filter sensor catalogs, timestamps, and cloud cover.</a:t>
            </a:r>
          </a:p>
          <a:p>
            <a:pPr>
              <a:spcBef>
                <a:spcPts val="400"/>
              </a:spcBef>
            </a:pPr>
            <a:r>
              <a:rPr sz="800" b="1">
                <a:solidFill>
                  <a:srgbClr val="F5F3ED"/>
                </a:solidFill>
                <a:latin typeface="Segoe UI"/>
              </a:rPr>
              <a:t>02 / COORDINATES
</a:t>
            </a:r>
            <a:r>
              <a:rPr sz="750">
                <a:solidFill>
                  <a:srgbClr val="94A3B8"/>
                </a:solidFill>
                <a:latin typeface="Segoe UI"/>
              </a:rPr>
              <a:t>  Manual geographic bounding-box guesswork.</a:t>
            </a:r>
          </a:p>
          <a:p>
            <a:pPr>
              <a:spcBef>
                <a:spcPts val="400"/>
              </a:spcBef>
            </a:pPr>
            <a:r>
              <a:rPr sz="800" b="1">
                <a:solidFill>
                  <a:srgbClr val="F5F3ED"/>
                </a:solidFill>
                <a:latin typeface="Segoe UI"/>
              </a:rPr>
              <a:t>03 / SCENE SEARCH
</a:t>
            </a:r>
            <a:r>
              <a:rPr sz="750">
                <a:solidFill>
                  <a:srgbClr val="94A3B8"/>
                </a:solidFill>
                <a:latin typeface="Segoe UI"/>
              </a:rPr>
              <a:t>  Download and unpack multi-gigabyte raw GeoTIFF tiles.</a:t>
            </a:r>
          </a:p>
          <a:p>
            <a:pPr>
              <a:spcBef>
                <a:spcPts val="400"/>
              </a:spcBef>
            </a:pPr>
            <a:r>
              <a:rPr sz="800" b="1">
                <a:solidFill>
                  <a:srgbClr val="F5F3ED"/>
                </a:solidFill>
                <a:latin typeface="Segoe UI"/>
              </a:rPr>
              <a:t>04 / MANUAL COMPARISON
</a:t>
            </a:r>
            <a:r>
              <a:rPr sz="750">
                <a:solidFill>
                  <a:srgbClr val="94A3B8"/>
                </a:solidFill>
                <a:latin typeface="Segoe UI"/>
              </a:rPr>
              <a:t>  Flicker/blink inspection of T0 vs T1 images on screen.</a:t>
            </a:r>
          </a:p>
          <a:p>
            <a:pPr>
              <a:spcBef>
                <a:spcPts val="400"/>
              </a:spcBef>
            </a:pPr>
            <a:r>
              <a:rPr sz="800" b="1">
                <a:solidFill>
                  <a:srgbClr val="F5F3ED"/>
                </a:solidFill>
                <a:latin typeface="Segoe UI"/>
              </a:rPr>
              <a:t>05 / MANUAL INTERPRETATION
</a:t>
            </a:r>
            <a:r>
              <a:rPr sz="750">
                <a:solidFill>
                  <a:srgbClr val="94A3B8"/>
                </a:solidFill>
                <a:latin typeface="Segoe UI"/>
              </a:rPr>
              <a:t>  Crude pixel subtraction forces analyst to guess ground cause.</a:t>
            </a:r>
          </a:p>
          <a:p>
            <a:pPr>
              <a:spcBef>
                <a:spcPts val="600"/>
              </a:spcBef>
            </a:pPr>
            <a:r>
              <a:rPr sz="740" b="1">
                <a:solidFill>
                  <a:srgbClr val="E09F3E"/>
                </a:solidFill>
                <a:latin typeface="Segoe UI"/>
              </a:rPr>
              <a:t>CRITICAL DEFENSE FLAW:
Naive pixel differencing creates massive false-alarm exhaustion from seasonal phenology, moisture, and sun angle.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77639" y="1737360"/>
            <a:ext cx="3977639" cy="4114800"/>
          </a:xfrm>
          <a:prstGeom prst="roundRect">
            <a:avLst/>
          </a:prstGeom>
          <a:solidFill>
            <a:srgbClr val="111724"/>
          </a:solidFill>
          <a:ln w="12700">
            <a:solidFill>
              <a:srgbClr val="253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0" y="1828800"/>
            <a:ext cx="3703319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 b="1">
                <a:solidFill>
                  <a:srgbClr val="4EA8DE"/>
                </a:solidFill>
                <a:latin typeface="Consolas"/>
              </a:defRPr>
            </a:pPr>
            <a:r>
              <a:t>OPERATIONAL DEFENSE CHALLENGE</a:t>
            </a:r>
          </a:p>
          <a:p>
            <a:pPr>
              <a:spcBef>
                <a:spcPts val="300"/>
              </a:spcBef>
            </a:pPr>
            <a:r>
              <a:rPr sz="850" b="1">
                <a:solidFill>
                  <a:srgbClr val="F5F3ED"/>
                </a:solidFill>
                <a:latin typeface="Segoe UI"/>
              </a:rPr>
              <a:t>Analysts must find relevant satellite scenes and determine whether observed changes are persistent, meaningful, and supported by evidence.</a:t>
            </a:r>
          </a:p>
          <a:p>
            <a:pPr>
              <a:spcBef>
                <a:spcPts val="500"/>
              </a:spcBef>
            </a:pPr>
            <a:r>
              <a:rPr sz="780" b="1">
                <a:solidFill>
                  <a:srgbClr val="C5A869"/>
                </a:solidFill>
                <a:latin typeface="Consolas"/>
              </a:rPr>
              <a:t>REAL ANALYST QUERY:  </a:t>
            </a:r>
            <a:r>
              <a:rPr sz="850" b="1">
                <a:solidFill>
                  <a:srgbClr val="F5F3ED"/>
                </a:solidFill>
                <a:latin typeface="Georgia"/>
              </a:rPr>
              <a:t>“Show me areas with newly built structures near a river corridor.”
</a:t>
            </a:r>
          </a:p>
          <a:p>
            <a:pPr>
              <a:spcBef>
                <a:spcPts val="300"/>
              </a:spcBef>
            </a:pPr>
            <a:r>
              <a:rPr sz="800" b="1">
                <a:solidFill>
                  <a:srgbClr val="C5A869"/>
                </a:solidFill>
                <a:latin typeface="Segoe UI"/>
              </a:rPr>
              <a:t>• 1. Semantic Discovery: </a:t>
            </a:r>
            <a:r>
              <a:rPr sz="740">
                <a:solidFill>
                  <a:srgbClr val="94A3B8"/>
                </a:solidFill>
                <a:latin typeface="Segoe UI"/>
              </a:rPr>
              <a:t>Archives lack natural-language retrieval; analysts browse thousands of candidate tiles manually.</a:t>
            </a:r>
          </a:p>
          <a:p>
            <a:pPr>
              <a:spcBef>
                <a:spcPts val="300"/>
              </a:spcBef>
            </a:pPr>
            <a:r>
              <a:rPr sz="800" b="1">
                <a:solidFill>
                  <a:srgbClr val="C5A869"/>
                </a:solidFill>
                <a:latin typeface="Segoe UI"/>
              </a:rPr>
              <a:t>• 2. Multi-Temporal Scale: </a:t>
            </a:r>
            <a:r>
              <a:rPr sz="740">
                <a:solidFill>
                  <a:srgbClr val="94A3B8"/>
                </a:solidFill>
                <a:latin typeface="Segoe UI"/>
              </a:rPr>
              <a:t>Two-date differencing fails to separate seasonal crop phenology from permanent transformation.</a:t>
            </a:r>
          </a:p>
          <a:p>
            <a:pPr>
              <a:spcBef>
                <a:spcPts val="300"/>
              </a:spcBef>
            </a:pPr>
            <a:r>
              <a:rPr sz="800" b="1">
                <a:solidFill>
                  <a:srgbClr val="C5A869"/>
                </a:solidFill>
                <a:latin typeface="Segoe UI"/>
              </a:rPr>
              <a:t>• 3. Spectral Attribution: </a:t>
            </a:r>
            <a:r>
              <a:rPr sz="740">
                <a:solidFill>
                  <a:srgbClr val="94A3B8"/>
                </a:solidFill>
                <a:latin typeface="Segoe UI"/>
              </a:rPr>
              <a:t>Difference intensity indicates THAT a change occurred, but cannot prove WHAT changed.</a:t>
            </a:r>
          </a:p>
          <a:p>
            <a:pPr>
              <a:spcBef>
                <a:spcPts val="300"/>
              </a:spcBef>
            </a:pPr>
            <a:r>
              <a:rPr sz="800" b="1">
                <a:solidFill>
                  <a:srgbClr val="C5A869"/>
                </a:solidFill>
                <a:latin typeface="Segoe UI"/>
              </a:rPr>
              <a:t>• 4. Heterogeneous Sensors: </a:t>
            </a:r>
            <a:r>
              <a:rPr sz="740">
                <a:solidFill>
                  <a:srgbClr val="94A3B8"/>
                </a:solidFill>
                <a:latin typeface="Segoe UI"/>
              </a:rPr>
              <a:t>Varying resolutions, calibrations, and coordinate reference systems (CRS) hinder standardized analysis.</a:t>
            </a:r>
          </a:p>
          <a:p>
            <a:pPr>
              <a:spcBef>
                <a:spcPts val="300"/>
              </a:spcBef>
            </a:pPr>
            <a:r>
              <a:rPr sz="800" b="1">
                <a:solidFill>
                  <a:srgbClr val="C5A869"/>
                </a:solidFill>
                <a:latin typeface="Segoe UI"/>
              </a:rPr>
              <a:t>• 5. Secure Offline Enclave: </a:t>
            </a:r>
            <a:r>
              <a:rPr sz="740">
                <a:solidFill>
                  <a:srgbClr val="94A3B8"/>
                </a:solidFill>
                <a:latin typeface="Segoe UI"/>
              </a:rPr>
              <a:t>Air-gapped defense workstations require zero cloud APIs, remote tracking, or network egress.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1737360"/>
            <a:ext cx="3550615" cy="4114800"/>
          </a:xfrm>
          <a:prstGeom prst="roundRect">
            <a:avLst/>
          </a:prstGeom>
          <a:solidFill>
            <a:srgbClr val="111724"/>
          </a:solidFill>
          <a:ln w="12700">
            <a:solidFill>
              <a:srgbClr val="253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hero_beirut_1920x108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56448" y="1828800"/>
            <a:ext cx="3331159" cy="21945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156448" y="4069080"/>
            <a:ext cx="3331159" cy="1691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 b="1">
                <a:solidFill>
                  <a:srgbClr val="52B788"/>
                </a:solidFill>
                <a:latin typeface="Consolas"/>
              </a:defRPr>
            </a:pPr>
            <a:r>
              <a:t>DEFENSE OPERATIONAL REALITY</a:t>
            </a:r>
          </a:p>
          <a:p>
            <a:pPr>
              <a:spcBef>
                <a:spcPts val="200"/>
              </a:spcBef>
            </a:pPr>
            <a:r>
              <a:rPr sz="740">
                <a:solidFill>
                  <a:srgbClr val="94A3B8"/>
                </a:solidFill>
                <a:latin typeface="Segoe UI"/>
              </a:rPr>
              <a:t>▪ Authentic Sentinel-2 L2A BOA reflectance (10m GSD).</a:t>
            </a:r>
          </a:p>
          <a:p>
            <a:pPr>
              <a:spcBef>
                <a:spcPts val="200"/>
              </a:spcBef>
            </a:pPr>
            <a:r>
              <a:rPr sz="740">
                <a:solidFill>
                  <a:srgbClr val="94A3B8"/>
                </a:solidFill>
                <a:latin typeface="Segoe UI"/>
              </a:rPr>
              <a:t>▪ High-density urban, coastal, and agricultural terrain.</a:t>
            </a:r>
          </a:p>
          <a:p>
            <a:pPr>
              <a:spcBef>
                <a:spcPts val="200"/>
              </a:spcBef>
            </a:pPr>
            <a:r>
              <a:rPr sz="740">
                <a:solidFill>
                  <a:srgbClr val="94A3B8"/>
                </a:solidFill>
                <a:latin typeface="Segoe UI"/>
              </a:rPr>
              <a:t>▪ Change must be physically decomposed across bands (Blue, Green, Red, NIR), not guessed from pixel luminosity.</a:t>
            </a:r>
          </a:p>
          <a:p>
            <a:pPr>
              <a:spcBef>
                <a:spcPts val="200"/>
              </a:spcBef>
            </a:pPr>
            <a:r>
              <a:rPr sz="740">
                <a:solidFill>
                  <a:srgbClr val="94A3B8"/>
                </a:solidFill>
                <a:latin typeface="Segoe UI"/>
              </a:rPr>
              <a:t>▪ MGRS Tile 36SYC · Projected CRS EPSG:32636.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4360" y="5925312"/>
            <a:ext cx="11002975" cy="457200"/>
          </a:xfrm>
          <a:prstGeom prst="roundRect">
            <a:avLst/>
          </a:prstGeom>
          <a:solidFill>
            <a:srgbClr val="0F1726"/>
          </a:solidFill>
          <a:ln w="12700">
            <a:solidFill>
              <a:srgbClr val="253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5980176"/>
            <a:ext cx="10820095" cy="34747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800" b="1">
                <a:solidFill>
                  <a:srgbClr val="C5A869"/>
                </a:solidFill>
                <a:latin typeface="Consolas"/>
              </a:rPr>
              <a:t>PS SIH26227 ALIGNMENT:  </a:t>
            </a:r>
            <a:r>
              <a:rPr sz="780" b="1">
                <a:solidFill>
                  <a:srgbClr val="4EA8DE"/>
                </a:solidFill>
                <a:latin typeface="Consolas"/>
              </a:rPr>
              <a:t>[SEMANTIC RETRIEVAL]   </a:t>
            </a:r>
            <a:r>
              <a:rPr sz="780" b="1">
                <a:solidFill>
                  <a:srgbClr val="52B788"/>
                </a:solidFill>
                <a:latin typeface="Consolas"/>
              </a:rPr>
              <a:t>[MULTI-TEMPORAL ANALYSIS]   </a:t>
            </a:r>
            <a:r>
              <a:rPr sz="780" b="1">
                <a:solidFill>
                  <a:srgbClr val="C5A869"/>
                </a:solidFill>
                <a:latin typeface="Consolas"/>
              </a:rPr>
              <a:t>[MULTI-SPECTRAL EVIDENCE]   </a:t>
            </a:r>
            <a:r>
              <a:rPr sz="780" b="1">
                <a:solidFill>
                  <a:srgbClr val="F5F3ED"/>
                </a:solidFill>
                <a:latin typeface="Consolas"/>
              </a:rPr>
              <a:t>[PROVENANCE / REVIEW]   </a:t>
            </a:r>
            <a:r>
              <a:rPr sz="780" b="1">
                <a:solidFill>
                  <a:srgbClr val="4EA8DE"/>
                </a:solidFill>
                <a:latin typeface="Consolas"/>
              </a:rPr>
              <a:t>[OFFLINE OPERATION]   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" y="256032"/>
            <a:ext cx="11002975" cy="22860"/>
          </a:xfrm>
          <a:prstGeom prst="rect">
            <a:avLst/>
          </a:prstGeom>
          <a:solidFill>
            <a:srgbClr val="C5A8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01752"/>
            <a:ext cx="77724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00" b="1">
                <a:solidFill>
                  <a:srgbClr val="C5A869"/>
                </a:solidFill>
                <a:latin typeface="Consolas"/>
              </a:defRPr>
            </a:pPr>
            <a:r>
              <a:t>SMART INDIA HACKATHON 2026 · PS: SIH26227 · SPACE TECHNOLOGY · SOFTWARE · MINISTRY OF DEFENCE / INDIAN ARMY — DGIS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301752"/>
            <a:ext cx="3182112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00">
                <a:solidFill>
                  <a:srgbClr val="94A3B8"/>
                </a:solidFill>
                <a:latin typeface="Consolas"/>
              </a:rPr>
              <a:t>TEAM: Quantumcrew  |  </a:t>
            </a:r>
            <a:r>
              <a:rPr sz="800" b="1">
                <a:solidFill>
                  <a:srgbClr val="4EA8DE"/>
                </a:solidFill>
                <a:latin typeface="Consolas"/>
              </a:rPr>
              <a:t>SLIDE 02 / 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548640"/>
            <a:ext cx="11002975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50" b="1">
                <a:solidFill>
                  <a:srgbClr val="F5F3ED"/>
                </a:solidFill>
                <a:latin typeface="Georgia"/>
              </a:defRPr>
            </a:pPr>
            <a:r>
              <a:t>02 — SOLUTION</a:t>
            </a:r>
          </a:p>
          <a:p>
            <a:pPr>
              <a:defRPr sz="950">
                <a:solidFill>
                  <a:srgbClr val="94A3B8"/>
                </a:solidFill>
                <a:latin typeface="Segoe UI"/>
              </a:defRPr>
            </a:pPr>
            <a:r>
              <a:t>FROM NATURAL-LANGUAGE QUERY TO EVIDENCE-BACKED INVESTIGATION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565392"/>
            <a:ext cx="110029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80">
                <a:solidFill>
                  <a:srgbClr val="64748B"/>
                </a:solidFill>
                <a:latin typeface="Segoe UI"/>
              </a:rPr>
              <a:t>TERRAE — Earth Intelligence Satellite Investigation Console  |  Ministry of Defence / Indian Army — DGIS  |  SIH 2026 Submission</a:t>
            </a:r>
            <a:r>
              <a:rPr sz="780">
                <a:solidFill>
                  <a:srgbClr val="64748B"/>
                </a:solidFill>
                <a:latin typeface="Segoe UI"/>
              </a:rPr>
              <a:t>                                                         Live Console: </a:t>
            </a:r>
            <a:r>
              <a:rPr sz="780">
                <a:solidFill>
                  <a:srgbClr val="4EA8DE"/>
                </a:solidFill>
                <a:latin typeface="Segoe UI"/>
                <a:hlinkClick r:id="rId2"/>
              </a:rPr>
              <a:t>https://terrae-geospatial-intelligence.vercel.app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188720"/>
            <a:ext cx="11002975" cy="777240"/>
          </a:xfrm>
          <a:prstGeom prst="roundRect">
            <a:avLst/>
          </a:prstGeom>
          <a:solidFill>
            <a:srgbClr val="111724"/>
          </a:solidFill>
          <a:ln w="12700">
            <a:solidFill>
              <a:srgbClr val="C5A8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261872"/>
            <a:ext cx="1833829" cy="6309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1">
                <a:solidFill>
                  <a:srgbClr val="4EA8DE"/>
                </a:solidFill>
                <a:latin typeface="Consolas"/>
              </a:rPr>
              <a:t>01 ASK
</a:t>
            </a:r>
          </a:p>
          <a:p>
            <a:pPr algn="ctr"/>
            <a:r>
              <a:rPr sz="700">
                <a:solidFill>
                  <a:srgbClr val="94A3B8"/>
                </a:solidFill>
                <a:latin typeface="Segoe UI"/>
              </a:rPr>
              <a:t>Natural Intent
Query Formulation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28189" y="1261872"/>
            <a:ext cx="1833829" cy="6309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1">
                <a:solidFill>
                  <a:srgbClr val="4EA8DE"/>
                </a:solidFill>
                <a:latin typeface="Consolas"/>
              </a:rPr>
              <a:t>02 DISCOVER
</a:t>
            </a:r>
          </a:p>
          <a:p>
            <a:pPr algn="ctr"/>
            <a:r>
              <a:rPr sz="700">
                <a:solidFill>
                  <a:srgbClr val="94A3B8"/>
                </a:solidFill>
                <a:latin typeface="Segoe UI"/>
              </a:rPr>
              <a:t>RemoteCLIP + FAISS
Semantic Retrieval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62018" y="1261872"/>
            <a:ext cx="1833829" cy="6309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1">
                <a:solidFill>
                  <a:srgbClr val="F5F3ED"/>
                </a:solidFill>
                <a:latin typeface="Consolas"/>
              </a:rPr>
              <a:t>03 COMPARE
</a:t>
            </a:r>
          </a:p>
          <a:p>
            <a:pPr algn="ctr"/>
            <a:r>
              <a:rPr sz="700">
                <a:solidFill>
                  <a:srgbClr val="94A3B8"/>
                </a:solidFill>
                <a:latin typeface="Segoe UI"/>
              </a:rPr>
              <a:t>Calibrated Multi-Spectral
Differencing (τ = 0.15)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5847" y="1261872"/>
            <a:ext cx="1833829" cy="6309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1">
                <a:solidFill>
                  <a:srgbClr val="F5F3ED"/>
                </a:solidFill>
                <a:latin typeface="Consolas"/>
              </a:rPr>
              <a:t>04 EXPLAIN
</a:t>
            </a:r>
          </a:p>
          <a:p>
            <a:pPr algn="ctr"/>
            <a:r>
              <a:rPr sz="700">
                <a:solidFill>
                  <a:srgbClr val="94A3B8"/>
                </a:solidFill>
                <a:latin typeface="Segoe UI"/>
              </a:rPr>
              <a:t>Multi-Band Decomposition
&amp; Spatial Coherence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9676" y="1261872"/>
            <a:ext cx="1833829" cy="6309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1">
                <a:solidFill>
                  <a:srgbClr val="F5F3ED"/>
                </a:solidFill>
                <a:latin typeface="Consolas"/>
              </a:rPr>
              <a:t>05 CHALLENGE
</a:t>
            </a:r>
          </a:p>
          <a:p>
            <a:pPr algn="ctr"/>
            <a:r>
              <a:rPr sz="700">
                <a:solidFill>
                  <a:srgbClr val="94A3B8"/>
                </a:solidFill>
                <a:latin typeface="Segoe UI"/>
              </a:rPr>
              <a:t>Multi-Date Trajectory
Persistence Check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63505" y="1261872"/>
            <a:ext cx="1833829" cy="6309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1">
                <a:solidFill>
                  <a:srgbClr val="C5A869"/>
                </a:solidFill>
                <a:latin typeface="Consolas"/>
              </a:rPr>
              <a:t>06 DECIDE
</a:t>
            </a:r>
          </a:p>
          <a:p>
            <a:pPr algn="ctr"/>
            <a:r>
              <a:rPr sz="700">
                <a:solidFill>
                  <a:srgbClr val="94A3B8"/>
                </a:solidFill>
                <a:latin typeface="Segoe UI"/>
              </a:rPr>
              <a:t>Conservative Verdict:
SUPPORTED / REVIEW / ABSTAIN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" y="2057400"/>
            <a:ext cx="3977639" cy="3794760"/>
          </a:xfrm>
          <a:prstGeom prst="roundRect">
            <a:avLst/>
          </a:prstGeom>
          <a:solidFill>
            <a:srgbClr val="111724"/>
          </a:solidFill>
          <a:ln w="12700">
            <a:solidFill>
              <a:srgbClr val="253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2148840"/>
            <a:ext cx="3703319" cy="3611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 b="1">
                <a:solidFill>
                  <a:srgbClr val="C5A869"/>
                </a:solidFill>
                <a:latin typeface="Consolas"/>
              </a:defRPr>
            </a:pPr>
            <a:r>
              <a:t>NOT JUST CHANGE DETECTION. INVESTIGATION.</a:t>
            </a:r>
          </a:p>
          <a:p>
            <a:pPr>
              <a:spcBef>
                <a:spcPts val="300"/>
              </a:spcBef>
            </a:pPr>
            <a:r>
              <a:rPr sz="800" b="1">
                <a:solidFill>
                  <a:srgbClr val="F5F3ED"/>
                </a:solidFill>
                <a:latin typeface="Segoe UI"/>
              </a:rPr>
              <a:t>ANALYST INTENT: “Show me areas with newly built structures.”
</a:t>
            </a:r>
          </a:p>
          <a:p>
            <a:r>
              <a:rPr sz="750">
                <a:solidFill>
                  <a:srgbClr val="94A3B8"/>
                </a:solidFill>
                <a:latin typeface="Segoe UI"/>
              </a:rPr>
              <a:t>The console replaces blind differencing with structured evidence:</a:t>
            </a:r>
          </a:p>
          <a:p>
            <a:pPr>
              <a:spcBef>
                <a:spcPts val="200"/>
              </a:spcBef>
            </a:pPr>
            <a:r>
              <a:rPr sz="760" b="1">
                <a:solidFill>
                  <a:srgbClr val="4EA8DE"/>
                </a:solidFill>
                <a:latin typeface="Segoe UI"/>
              </a:rPr>
              <a:t>▪ WHAT changed? </a:t>
            </a:r>
            <a:r>
              <a:rPr sz="730">
                <a:solidFill>
                  <a:srgbClr val="F5F3ED"/>
                </a:solidFill>
                <a:latin typeface="Segoe UI"/>
              </a:rPr>
              <a:t>Exact surface reflectance shifts across Blue, Green, Red, NIR.</a:t>
            </a:r>
          </a:p>
          <a:p>
            <a:pPr>
              <a:spcBef>
                <a:spcPts val="200"/>
              </a:spcBef>
            </a:pPr>
            <a:r>
              <a:rPr sz="760" b="1">
                <a:solidFill>
                  <a:srgbClr val="4EA8DE"/>
                </a:solidFill>
                <a:latin typeface="Segoe UI"/>
              </a:rPr>
              <a:t>▪ WHERE is it located? </a:t>
            </a:r>
            <a:r>
              <a:rPr sz="730">
                <a:solidFill>
                  <a:srgbClr val="F5F3ED"/>
                </a:solidFill>
                <a:latin typeface="Segoe UI"/>
              </a:rPr>
              <a:t>Canonical MGRS tile EPSG:32643 coordinate frame.</a:t>
            </a:r>
          </a:p>
          <a:p>
            <a:pPr>
              <a:spcBef>
                <a:spcPts val="200"/>
              </a:spcBef>
            </a:pPr>
            <a:r>
              <a:rPr sz="760" b="1">
                <a:solidFill>
                  <a:srgbClr val="4EA8DE"/>
                </a:solidFill>
                <a:latin typeface="Segoe UI"/>
              </a:rPr>
              <a:t>▪ WHAT supports it? </a:t>
            </a:r>
            <a:r>
              <a:rPr sz="730">
                <a:solidFill>
                  <a:srgbClr val="F5F3ED"/>
                </a:solidFill>
                <a:latin typeface="Segoe UI"/>
              </a:rPr>
              <a:t>ΔNIR, ΔRed, NDVI shifts + connected-component clustering.</a:t>
            </a:r>
          </a:p>
          <a:p>
            <a:pPr>
              <a:spcBef>
                <a:spcPts val="200"/>
              </a:spcBef>
            </a:pPr>
            <a:r>
              <a:rPr sz="760" b="1">
                <a:solidFill>
                  <a:srgbClr val="4EA8DE"/>
                </a:solidFill>
                <a:latin typeface="Segoe UI"/>
              </a:rPr>
              <a:t>▪ WHAT alternatives exist? </a:t>
            </a:r>
            <a:r>
              <a:rPr sz="730">
                <a:solidFill>
                  <a:srgbClr val="F5F3ED"/>
                </a:solidFill>
                <a:latin typeface="Segoe UI"/>
              </a:rPr>
              <a:t>Competes against crop senescence, water &amp; cloud shadows.</a:t>
            </a:r>
          </a:p>
          <a:p>
            <a:pPr>
              <a:spcBef>
                <a:spcPts val="200"/>
              </a:spcBef>
            </a:pPr>
            <a:r>
              <a:rPr sz="760" b="1">
                <a:solidFill>
                  <a:srgbClr val="4EA8DE"/>
                </a:solidFill>
                <a:latin typeface="Segoe UI"/>
              </a:rPr>
              <a:t>▪ DOES it persist? </a:t>
            </a:r>
            <a:r>
              <a:rPr sz="730">
                <a:solidFill>
                  <a:srgbClr val="F5F3ED"/>
                </a:solidFill>
                <a:latin typeface="Segoe UI"/>
              </a:rPr>
              <a:t>3-date trajectory check (T0 → Tmid → T1) for permanence.</a:t>
            </a:r>
          </a:p>
          <a:p>
            <a:pPr>
              <a:spcBef>
                <a:spcPts val="200"/>
              </a:spcBef>
            </a:pPr>
            <a:r>
              <a:rPr sz="760" b="1">
                <a:solidFill>
                  <a:srgbClr val="4EA8DE"/>
                </a:solidFill>
                <a:latin typeface="Segoe UI"/>
              </a:rPr>
              <a:t>▪ WHEN to abstain? </a:t>
            </a:r>
            <a:r>
              <a:rPr sz="730">
                <a:solidFill>
                  <a:srgbClr val="F5F3ED"/>
                </a:solidFill>
                <a:latin typeface="Segoe UI"/>
              </a:rPr>
              <a:t>SCL cloud/snow occlusion, defective pixels, or sub-threshold SNR.</a:t>
            </a:r>
          </a:p>
          <a:p>
            <a:pPr>
              <a:spcBef>
                <a:spcPts val="500"/>
              </a:spcBef>
            </a:pPr>
            <a:r>
              <a:rPr sz="800" b="1">
                <a:solidFill>
                  <a:srgbClr val="F5F3ED"/>
                </a:solidFill>
                <a:latin typeface="Consolas"/>
              </a:rPr>
              <a:t>THREE CONSERVATIVE VERDICTS:
</a:t>
            </a:r>
          </a:p>
          <a:p>
            <a:pPr>
              <a:spcBef>
                <a:spcPts val="100"/>
              </a:spcBef>
            </a:pPr>
            <a:r>
              <a:rPr sz="760" b="1">
                <a:solidFill>
                  <a:srgbClr val="52B788"/>
                </a:solidFill>
                <a:latin typeface="Consolas"/>
              </a:rPr>
              <a:t>[SUPPORTED] </a:t>
            </a:r>
            <a:r>
              <a:rPr sz="720">
                <a:solidFill>
                  <a:srgbClr val="94A3B8"/>
                </a:solidFill>
                <a:latin typeface="Segoe UI"/>
              </a:rPr>
              <a:t>Spatial coherence (&gt;0.5) + dominant signature + persistent trajectory.</a:t>
            </a:r>
          </a:p>
          <a:p>
            <a:pPr>
              <a:spcBef>
                <a:spcPts val="100"/>
              </a:spcBef>
            </a:pPr>
            <a:r>
              <a:rPr sz="760" b="1">
                <a:solidFill>
                  <a:srgbClr val="E09F3E"/>
                </a:solidFill>
                <a:latin typeface="Consolas"/>
              </a:rPr>
              <a:t>[REVIEW] </a:t>
            </a:r>
            <a:r>
              <a:rPr sz="720">
                <a:solidFill>
                  <a:srgbClr val="94A3B8"/>
                </a:solidFill>
                <a:latin typeface="Segoe UI"/>
              </a:rPr>
              <a:t>Sub-threshold change (f ≤ 5%), ambiguous attribution, or reversible cycle.</a:t>
            </a:r>
          </a:p>
          <a:p>
            <a:pPr>
              <a:spcBef>
                <a:spcPts val="100"/>
              </a:spcBef>
            </a:pPr>
            <a:r>
              <a:rPr sz="760" b="1">
                <a:solidFill>
                  <a:srgbClr val="EF4444"/>
                </a:solidFill>
                <a:latin typeface="Consolas"/>
              </a:rPr>
              <a:t>[ABSTAIN] </a:t>
            </a:r>
            <a:r>
              <a:rPr sz="720">
                <a:solidFill>
                  <a:srgbClr val="94A3B8"/>
                </a:solidFill>
                <a:latin typeface="Segoe UI"/>
              </a:rPr>
              <a:t>Cloud/shadow corruption, registration failure, or &lt;2 observations.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690872" y="2057400"/>
            <a:ext cx="6903720" cy="3794760"/>
          </a:xfrm>
          <a:prstGeom prst="roundRect">
            <a:avLst/>
          </a:prstGeom>
          <a:solidFill>
            <a:srgbClr val="111724"/>
          </a:solidFill>
          <a:ln w="12700">
            <a:solidFill>
              <a:srgbClr val="253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28032" y="2148840"/>
            <a:ext cx="66294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 b="1">
                <a:solidFill>
                  <a:srgbClr val="4EA8DE"/>
                </a:solidFill>
                <a:latin typeface="Consolas"/>
              </a:defRPr>
            </a:pPr>
            <a:r>
              <a:t>COMPARISON: STATUS QUO VS. TERRAE INVESTIGATION CONSOLE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4828032" y="2487168"/>
          <a:ext cx="6629400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2423160"/>
                <a:gridCol w="2606040"/>
              </a:tblGrid>
              <a:tr h="267788">
                <a:tc>
                  <a:txBody>
                    <a:bodyPr/>
                    <a:lstStyle/>
                    <a:p>
                      <a:pPr>
                        <a:defRPr sz="740" b="1">
                          <a:solidFill>
                            <a:srgbClr val="C5A869"/>
                          </a:solidFill>
                          <a:latin typeface="Segoe UI"/>
                        </a:defRPr>
                      </a:pPr>
                      <a:r>
                        <a:t>Dimension</a:t>
                      </a:r>
                    </a:p>
                  </a:txBody>
                  <a:tcPr marL="27432" marR="27432" marT="27432" marB="27432">
                    <a:solidFill>
                      <a:srgbClr val="171F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1">
                          <a:solidFill>
                            <a:srgbClr val="C5A869"/>
                          </a:solidFill>
                          <a:latin typeface="Segoe UI"/>
                        </a:defRPr>
                      </a:pPr>
                      <a:r>
                        <a:t>Status Quo Change Detector</a:t>
                      </a:r>
                    </a:p>
                  </a:txBody>
                  <a:tcPr marL="27432" marR="27432" marT="27432" marB="27432">
                    <a:solidFill>
                      <a:srgbClr val="171F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1">
                          <a:solidFill>
                            <a:srgbClr val="C5A869"/>
                          </a:solidFill>
                          <a:latin typeface="Segoe UI"/>
                        </a:defRPr>
                      </a:pPr>
                      <a:r>
                        <a:t>TERRAE Investigation Console</a:t>
                      </a:r>
                    </a:p>
                  </a:txBody>
                  <a:tcPr marL="27432" marR="27432" marT="27432" marB="27432">
                    <a:solidFill>
                      <a:srgbClr val="171F30"/>
                    </a:solidFill>
                  </a:tcPr>
                </a:tc>
              </a:tr>
              <a:tr h="267788">
                <a:tc>
                  <a:txBody>
                    <a:bodyPr/>
                    <a:lstStyle/>
                    <a:p>
                      <a:pPr>
                        <a:defRPr sz="680" b="1">
                          <a:solidFill>
                            <a:srgbClr val="F5F3ED"/>
                          </a:solidFill>
                          <a:latin typeface="Segoe UI"/>
                        </a:defRPr>
                      </a:pPr>
                      <a:r>
                        <a:t>Search &amp; Discovery</a:t>
                      </a:r>
                    </a:p>
                  </a:txBody>
                  <a:tcPr marL="27432" marR="27432" marT="27432" marB="27432">
                    <a:solidFill>
                      <a:srgbClr val="1117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Manual coordinate bounding &amp; catalog spreadsheets</a:t>
                      </a:r>
                    </a:p>
                  </a:txBody>
                  <a:tcPr marL="27432" marR="27432" marT="27432" marB="27432">
                    <a:solidFill>
                      <a:srgbClr val="1117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4EA8DE"/>
                          </a:solidFill>
                          <a:latin typeface="Segoe UI"/>
                        </a:defRPr>
                      </a:pPr>
                      <a:r>
                        <a:t>RemoteCLIP natural-language cross-modal search</a:t>
                      </a:r>
                    </a:p>
                  </a:txBody>
                  <a:tcPr marL="27432" marR="27432" marT="27432" marB="27432">
                    <a:solidFill>
                      <a:srgbClr val="111724"/>
                    </a:solidFill>
                  </a:tcPr>
                </a:tc>
              </a:tr>
              <a:tr h="267788">
                <a:tc>
                  <a:txBody>
                    <a:bodyPr/>
                    <a:lstStyle/>
                    <a:p>
                      <a:pPr>
                        <a:defRPr sz="680" b="1">
                          <a:solidFill>
                            <a:srgbClr val="F5F3ED"/>
                          </a:solidFill>
                          <a:latin typeface="Segoe UI"/>
                        </a:defRPr>
                      </a:pPr>
                      <a:r>
                        <a:t>Change Analysis</a:t>
                      </a:r>
                    </a:p>
                  </a:txBody>
                  <a:tcPr marL="27432" marR="27432" marT="27432" marB="27432">
                    <a:solidFill>
                      <a:srgbClr val="171F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Naive 2-date pixel subtraction (T0 - T1)</a:t>
                      </a:r>
                    </a:p>
                  </a:txBody>
                  <a:tcPr marL="27432" marR="27432" marT="27432" marB="27432">
                    <a:solidFill>
                      <a:srgbClr val="171F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4EA8DE"/>
                          </a:solidFill>
                          <a:latin typeface="Segoe UI"/>
                        </a:defRPr>
                      </a:pPr>
                      <a:r>
                        <a:t>Calibrated multi-band differencing (τ = 0.15)</a:t>
                      </a:r>
                    </a:p>
                  </a:txBody>
                  <a:tcPr marL="27432" marR="27432" marT="27432" marB="27432">
                    <a:solidFill>
                      <a:srgbClr val="171F30"/>
                    </a:solidFill>
                  </a:tcPr>
                </a:tc>
              </a:tr>
              <a:tr h="267788">
                <a:tc>
                  <a:txBody>
                    <a:bodyPr/>
                    <a:lstStyle/>
                    <a:p>
                      <a:pPr>
                        <a:defRPr sz="680" b="1">
                          <a:solidFill>
                            <a:srgbClr val="F5F3ED"/>
                          </a:solidFill>
                          <a:latin typeface="Segoe UI"/>
                        </a:defRPr>
                      </a:pPr>
                      <a:r>
                        <a:t>Attribution Support</a:t>
                      </a:r>
                    </a:p>
                  </a:txBody>
                  <a:tcPr marL="27432" marR="27432" marT="27432" marB="27432">
                    <a:solidFill>
                      <a:srgbClr val="1117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Uncalibrated binary changed pixel mask</a:t>
                      </a:r>
                    </a:p>
                  </a:txBody>
                  <a:tcPr marL="27432" marR="27432" marT="27432" marB="27432">
                    <a:solidFill>
                      <a:srgbClr val="1117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4EA8DE"/>
                          </a:solidFill>
                          <a:latin typeface="Segoe UI"/>
                        </a:defRPr>
                      </a:pPr>
                      <a:r>
                        <a:t>Decomposed physical support across 6 signatures</a:t>
                      </a:r>
                    </a:p>
                  </a:txBody>
                  <a:tcPr marL="27432" marR="27432" marT="27432" marB="27432">
                    <a:solidFill>
                      <a:srgbClr val="111724"/>
                    </a:solidFill>
                  </a:tcPr>
                </a:tc>
              </a:tr>
              <a:tr h="267788">
                <a:tc>
                  <a:txBody>
                    <a:bodyPr/>
                    <a:lstStyle/>
                    <a:p>
                      <a:pPr>
                        <a:defRPr sz="680" b="1">
                          <a:solidFill>
                            <a:srgbClr val="F5F3ED"/>
                          </a:solidFill>
                          <a:latin typeface="Segoe UI"/>
                        </a:defRPr>
                      </a:pPr>
                      <a:r>
                        <a:t>Temporal Verification</a:t>
                      </a:r>
                    </a:p>
                  </a:txBody>
                  <a:tcPr marL="27432" marR="27432" marT="27432" marB="27432">
                    <a:solidFill>
                      <a:srgbClr val="171F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Single interval; high seasonal false alarms</a:t>
                      </a:r>
                    </a:p>
                  </a:txBody>
                  <a:tcPr marL="27432" marR="27432" marT="27432" marB="27432">
                    <a:solidFill>
                      <a:srgbClr val="171F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4EA8DE"/>
                          </a:solidFill>
                          <a:latin typeface="Segoe UI"/>
                        </a:defRPr>
                      </a:pPr>
                      <a:r>
                        <a:t>3-date MECE trajectory persistence test</a:t>
                      </a:r>
                    </a:p>
                  </a:txBody>
                  <a:tcPr marL="27432" marR="27432" marT="27432" marB="27432">
                    <a:solidFill>
                      <a:srgbClr val="171F30"/>
                    </a:solidFill>
                  </a:tcPr>
                </a:tc>
              </a:tr>
              <a:tr h="267788">
                <a:tc>
                  <a:txBody>
                    <a:bodyPr/>
                    <a:lstStyle/>
                    <a:p>
                      <a:pPr>
                        <a:defRPr sz="680" b="1">
                          <a:solidFill>
                            <a:srgbClr val="F5F3ED"/>
                          </a:solidFill>
                          <a:latin typeface="Segoe UI"/>
                        </a:defRPr>
                      </a:pPr>
                      <a:r>
                        <a:t>Decision Integrity</a:t>
                      </a:r>
                    </a:p>
                  </a:txBody>
                  <a:tcPr marL="27432" marR="27432" marT="27432" marB="27432">
                    <a:solidFill>
                      <a:srgbClr val="1117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Forced binary classification (Change / No Change)</a:t>
                      </a:r>
                    </a:p>
                  </a:txBody>
                  <a:tcPr marL="27432" marR="27432" marT="27432" marB="27432">
                    <a:solidFill>
                      <a:srgbClr val="1117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4EA8DE"/>
                          </a:solidFill>
                          <a:latin typeface="Segoe UI"/>
                        </a:defRPr>
                      </a:pPr>
                      <a:r>
                        <a:t>Conservative verdicts: SUPPORTED / REVIEW / ABSTAIN</a:t>
                      </a:r>
                    </a:p>
                  </a:txBody>
                  <a:tcPr marL="27432" marR="27432" marT="27432" marB="27432">
                    <a:solidFill>
                      <a:srgbClr val="111724"/>
                    </a:solidFill>
                  </a:tcPr>
                </a:tc>
              </a:tr>
              <a:tr h="267791">
                <a:tc>
                  <a:txBody>
                    <a:bodyPr/>
                    <a:lstStyle/>
                    <a:p>
                      <a:pPr>
                        <a:defRPr sz="680" b="1">
                          <a:solidFill>
                            <a:srgbClr val="F5F3ED"/>
                          </a:solidFill>
                          <a:latin typeface="Segoe UI"/>
                        </a:defRPr>
                      </a:pPr>
                      <a:r>
                        <a:t>Enclave Security</a:t>
                      </a:r>
                    </a:p>
                  </a:txBody>
                  <a:tcPr marL="27432" marR="27432" marT="27432" marB="27432">
                    <a:solidFill>
                      <a:srgbClr val="171F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Cloud API dependence &amp; telemetry leakage</a:t>
                      </a:r>
                    </a:p>
                  </a:txBody>
                  <a:tcPr marL="27432" marR="27432" marT="27432" marB="27432">
                    <a:solidFill>
                      <a:srgbClr val="171F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4EA8DE"/>
                          </a:solidFill>
                          <a:latin typeface="Segoe UI"/>
                        </a:defRPr>
                      </a:pPr>
                      <a:r>
                        <a:t>100% offline air-gapped on-premises execution</a:t>
                      </a:r>
                    </a:p>
                  </a:txBody>
                  <a:tcPr marL="27432" marR="27432" marT="27432" marB="27432">
                    <a:solidFill>
                      <a:srgbClr val="171F30"/>
                    </a:solidFill>
                  </a:tcPr>
                </a:tc>
              </a:tr>
            </a:tbl>
          </a:graphicData>
        </a:graphic>
      </p:graphicFrame>
      <p:pic>
        <p:nvPicPr>
          <p:cNvPr id="20" name="Picture 19" descr="PROD_09_WORKSTATION_192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8032" y="4462272"/>
            <a:ext cx="2148840" cy="128016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086600" y="4462272"/>
            <a:ext cx="4206240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760" b="1">
                <a:solidFill>
                  <a:srgbClr val="C5A869"/>
                </a:solidFill>
                <a:latin typeface="Consolas"/>
              </a:defRPr>
            </a:pPr>
            <a:r>
              <a:t>AUTHENTIC CONSOLE TELEMETRY (CASE 01):</a:t>
            </a:r>
          </a:p>
          <a:p>
            <a:r>
              <a:rPr sz="700">
                <a:solidFill>
                  <a:srgbClr val="F5F3ED"/>
                </a:solidFill>
                <a:latin typeface="Segoe UI"/>
              </a:rPr>
              <a:t>• Footprint: 256×256 tile | 7,549 px Changed (11.5%)
• Spatial Coherence: 99.7% | Connected Components: 24
• Attribution Support: Built 97.1% | Veg 0.5% | Seasonal 0.5%
• Temporal Trajectory: LATE_ONSET_CHANGE (11.48%)
• Final Verdict: ✔ SUPPORTED · AFFIRMATIVE PROOF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" y="5925312"/>
            <a:ext cx="11002975" cy="457200"/>
          </a:xfrm>
          <a:prstGeom prst="roundRect">
            <a:avLst/>
          </a:prstGeom>
          <a:solidFill>
            <a:srgbClr val="0F1726"/>
          </a:solidFill>
          <a:ln w="12700">
            <a:solidFill>
              <a:srgbClr val="253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980176"/>
            <a:ext cx="10820095" cy="34747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800" b="1">
                <a:solidFill>
                  <a:srgbClr val="C5A869"/>
                </a:solidFill>
                <a:latin typeface="Consolas"/>
              </a:rPr>
              <a:t>LIVE SYSTEM ACCESS:   </a:t>
            </a:r>
            <a:r>
              <a:rPr sz="760">
                <a:solidFill>
                  <a:srgbClr val="4EA8DE"/>
                </a:solidFill>
                <a:latin typeface="Consolas"/>
              </a:rPr>
              <a:t>Console: https://terrae-geospatial-intelligence.vercel.app   |   GitHub: https://github.com/PhantomCipher13/terrae-geospatial-intelligence   |   Report: REPORT.md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" y="256032"/>
            <a:ext cx="11002975" cy="22860"/>
          </a:xfrm>
          <a:prstGeom prst="rect">
            <a:avLst/>
          </a:prstGeom>
          <a:solidFill>
            <a:srgbClr val="C5A8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01752"/>
            <a:ext cx="77724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00" b="1">
                <a:solidFill>
                  <a:srgbClr val="C5A869"/>
                </a:solidFill>
                <a:latin typeface="Consolas"/>
              </a:defRPr>
            </a:pPr>
            <a:r>
              <a:t>SMART INDIA HACKATHON 2026 · PS: SIH26227 · SPACE TECHNOLOGY · SOFTWARE · MINISTRY OF DEFENCE / INDIAN ARMY — DGIS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301752"/>
            <a:ext cx="3182112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00">
                <a:solidFill>
                  <a:srgbClr val="94A3B8"/>
                </a:solidFill>
                <a:latin typeface="Consolas"/>
              </a:rPr>
              <a:t>TEAM: Quantumcrew  |  </a:t>
            </a:r>
            <a:r>
              <a:rPr sz="800" b="1">
                <a:solidFill>
                  <a:srgbClr val="4EA8DE"/>
                </a:solidFill>
                <a:latin typeface="Consolas"/>
              </a:rPr>
              <a:t>SLIDE 03 / 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548640"/>
            <a:ext cx="11002975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50" b="1">
                <a:solidFill>
                  <a:srgbClr val="F5F3ED"/>
                </a:solidFill>
                <a:latin typeface="Georgia"/>
              </a:defRPr>
            </a:pPr>
            <a:r>
              <a:t>03 — TECHNICAL APPROACH / METHODOLOGY &amp; PROCESS OF IMPLEMENTATION</a:t>
            </a:r>
          </a:p>
          <a:p>
            <a:pPr>
              <a:defRPr sz="950">
                <a:solidFill>
                  <a:srgbClr val="94A3B8"/>
                </a:solidFill>
                <a:latin typeface="Segoe UI"/>
              </a:defRPr>
            </a:pPr>
            <a:r>
              <a:t>SYSTEM ARCHITECTURE &amp; MULTI-STREAM EVIDENCE PIPELINE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565392"/>
            <a:ext cx="110029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80">
                <a:solidFill>
                  <a:srgbClr val="64748B"/>
                </a:solidFill>
                <a:latin typeface="Segoe UI"/>
              </a:rPr>
              <a:t>TERRAE — Earth Intelligence Satellite Investigation Console  |  Ministry of Defence / Indian Army — DGIS  |  SIH 2026 Submission</a:t>
            </a:r>
            <a:r>
              <a:rPr sz="780">
                <a:solidFill>
                  <a:srgbClr val="64748B"/>
                </a:solidFill>
                <a:latin typeface="Segoe UI"/>
              </a:rPr>
              <a:t>                                                         Live Console: </a:t>
            </a:r>
            <a:r>
              <a:rPr sz="780">
                <a:solidFill>
                  <a:srgbClr val="4EA8DE"/>
                </a:solidFill>
                <a:latin typeface="Segoe UI"/>
                <a:hlinkClick r:id="rId2"/>
              </a:rPr>
              <a:t>https://terrae-geospatial-intelligence.vercel.app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188720"/>
            <a:ext cx="3291840" cy="5193792"/>
          </a:xfrm>
          <a:prstGeom prst="roundRect">
            <a:avLst/>
          </a:prstGeom>
          <a:solidFill>
            <a:srgbClr val="111724"/>
          </a:solidFill>
          <a:ln w="12700">
            <a:solidFill>
              <a:srgbClr val="C5A8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298448"/>
            <a:ext cx="301752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 b="1">
                <a:solidFill>
                  <a:srgbClr val="C5A869"/>
                </a:solidFill>
                <a:latin typeface="Consolas"/>
              </a:defRPr>
            </a:pPr>
            <a:r>
              <a:t>TERRAE INVESTIGATION LOOP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691640"/>
            <a:ext cx="3017520" cy="658368"/>
          </a:xfrm>
          <a:prstGeom prst="roundRect">
            <a:avLst/>
          </a:prstGeom>
          <a:solidFill>
            <a:srgbClr val="171F30"/>
          </a:solidFill>
          <a:ln w="12700">
            <a:solidFill>
              <a:srgbClr val="253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746504"/>
            <a:ext cx="283464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80" b="1">
                <a:solidFill>
                  <a:srgbClr val="4EA8DE"/>
                </a:solidFill>
                <a:latin typeface="Consolas"/>
              </a:rPr>
              <a:t>01 / ASK: Analyst Natural Intent Formulation
</a:t>
            </a:r>
          </a:p>
          <a:p>
            <a:r>
              <a:rPr sz="700">
                <a:solidFill>
                  <a:srgbClr val="94A3B8"/>
                </a:solidFill>
                <a:latin typeface="Segoe UI"/>
              </a:rPr>
              <a:t>Parses text query without coordinates.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2459736"/>
            <a:ext cx="3017520" cy="658368"/>
          </a:xfrm>
          <a:prstGeom prst="roundRect">
            <a:avLst/>
          </a:prstGeom>
          <a:solidFill>
            <a:srgbClr val="171F30"/>
          </a:solidFill>
          <a:ln w="12700">
            <a:solidFill>
              <a:srgbClr val="253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2514600"/>
            <a:ext cx="283464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80" b="1">
                <a:solidFill>
                  <a:srgbClr val="4EA8DE"/>
                </a:solidFill>
                <a:latin typeface="Consolas"/>
              </a:rPr>
              <a:t>02 / DISCOVER: Cross-Modal Semantic Retrieval
</a:t>
            </a:r>
          </a:p>
          <a:p>
            <a:r>
              <a:rPr sz="700">
                <a:solidFill>
                  <a:srgbClr val="94A3B8"/>
                </a:solidFill>
                <a:latin typeface="Segoe UI"/>
              </a:rPr>
              <a:t>RemoteCLIP ViT-B-32 + FAISS vector cosine.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227832"/>
            <a:ext cx="3017520" cy="658368"/>
          </a:xfrm>
          <a:prstGeom prst="roundRect">
            <a:avLst/>
          </a:prstGeom>
          <a:solidFill>
            <a:srgbClr val="171F30"/>
          </a:solidFill>
          <a:ln w="12700">
            <a:solidFill>
              <a:srgbClr val="253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282696"/>
            <a:ext cx="283464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80" b="1">
                <a:solidFill>
                  <a:srgbClr val="52B788"/>
                </a:solidFill>
                <a:latin typeface="Consolas"/>
              </a:rPr>
              <a:t>03 / COMPARE: Multi-Band Spectral Differencing
</a:t>
            </a:r>
          </a:p>
          <a:p>
            <a:r>
              <a:rPr sz="700">
                <a:solidFill>
                  <a:srgbClr val="94A3B8"/>
                </a:solidFill>
                <a:latin typeface="Segoe UI"/>
              </a:rPr>
              <a:t>B02, B03, B04, B08 calibrated shift (τ = 0.15).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3995928"/>
            <a:ext cx="3017520" cy="658368"/>
          </a:xfrm>
          <a:prstGeom prst="roundRect">
            <a:avLst/>
          </a:prstGeom>
          <a:solidFill>
            <a:srgbClr val="171F30"/>
          </a:solidFill>
          <a:ln w="12700">
            <a:solidFill>
              <a:srgbClr val="253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4050792"/>
            <a:ext cx="283464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80" b="1">
                <a:solidFill>
                  <a:srgbClr val="52B788"/>
                </a:solidFill>
                <a:latin typeface="Consolas"/>
              </a:rPr>
              <a:t>04 / EXPLAIN: Evidence-Based Change Attribution
</a:t>
            </a:r>
          </a:p>
          <a:p>
            <a:r>
              <a:rPr sz="700">
                <a:solidFill>
                  <a:srgbClr val="94A3B8"/>
                </a:solidFill>
                <a:latin typeface="Segoe UI"/>
              </a:rPr>
              <a:t>NDVI, NDWI &amp; spatial coherence topology.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764024"/>
            <a:ext cx="3017520" cy="658368"/>
          </a:xfrm>
          <a:prstGeom prst="roundRect">
            <a:avLst/>
          </a:prstGeom>
          <a:solidFill>
            <a:srgbClr val="171F30"/>
          </a:solidFill>
          <a:ln w="12700">
            <a:solidFill>
              <a:srgbClr val="253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818888"/>
            <a:ext cx="283464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80" b="1">
                <a:solidFill>
                  <a:srgbClr val="C5A869"/>
                </a:solidFill>
                <a:latin typeface="Consolas"/>
              </a:rPr>
              <a:t>05 / CHALLENGE: Multi-Temporal Persistence Check
</a:t>
            </a:r>
          </a:p>
          <a:p>
            <a:r>
              <a:rPr sz="700">
                <a:solidFill>
                  <a:srgbClr val="94A3B8"/>
                </a:solidFill>
                <a:latin typeface="Segoe UI"/>
              </a:rPr>
              <a:t>3-date MECE trajectory classification.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5532120"/>
            <a:ext cx="3017520" cy="658368"/>
          </a:xfrm>
          <a:prstGeom prst="roundRect">
            <a:avLst/>
          </a:prstGeom>
          <a:solidFill>
            <a:srgbClr val="171F30"/>
          </a:solidFill>
          <a:ln w="12700">
            <a:solidFill>
              <a:srgbClr val="253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5586984"/>
            <a:ext cx="283464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80" b="1">
                <a:solidFill>
                  <a:srgbClr val="C5A869"/>
                </a:solidFill>
                <a:latin typeface="Consolas"/>
              </a:rPr>
              <a:t>06 / DECIDE: Conservative Auditable Verdict
</a:t>
            </a:r>
          </a:p>
          <a:p>
            <a:r>
              <a:rPr sz="700">
                <a:solidFill>
                  <a:srgbClr val="94A3B8"/>
                </a:solidFill>
                <a:latin typeface="Segoe UI"/>
              </a:rPr>
              <a:t>SUPPORTED / REVIEW / ABSTAIN decision layer.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977639" y="1188720"/>
            <a:ext cx="4343400" cy="2514600"/>
          </a:xfrm>
          <a:prstGeom prst="roundRect">
            <a:avLst/>
          </a:prstGeom>
          <a:solidFill>
            <a:srgbClr val="111724"/>
          </a:solidFill>
          <a:ln w="12700">
            <a:solidFill>
              <a:srgbClr val="4EA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0" y="1280160"/>
            <a:ext cx="406908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 b="1">
                <a:solidFill>
                  <a:srgbClr val="4EA8DE"/>
                </a:solidFill>
                <a:latin typeface="Consolas"/>
              </a:defRPr>
            </a:pPr>
            <a:r>
              <a:t>PROCESS 1: CROSS-MODAL SEMANTIC RETRIEVAL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0" y="1627632"/>
            <a:ext cx="4069080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80" b="1">
                <a:solidFill>
                  <a:srgbClr val="F5F3ED"/>
                </a:solidFill>
                <a:latin typeface="Segoe UI"/>
              </a:rPr>
              <a:t>Step 1 · Query Formulation: </a:t>
            </a:r>
            <a:r>
              <a:rPr sz="730">
                <a:solidFill>
                  <a:srgbClr val="94A3B8"/>
                </a:solidFill>
                <a:latin typeface="Segoe UI"/>
              </a:rPr>
              <a:t>Analyst enters intent in natural English (e.g., “newly built structures”).</a:t>
            </a:r>
          </a:p>
          <a:p>
            <a:pPr>
              <a:spcBef>
                <a:spcPts val="300"/>
              </a:spcBef>
            </a:pPr>
            <a:r>
              <a:rPr sz="780" b="1">
                <a:solidFill>
                  <a:srgbClr val="F5F3ED"/>
                </a:solidFill>
                <a:latin typeface="Segoe UI"/>
              </a:rPr>
              <a:t>Step 2 · RemoteCLIP ViT-B-32: </a:t>
            </a:r>
            <a:r>
              <a:rPr sz="730">
                <a:solidFill>
                  <a:srgbClr val="94A3B8"/>
                </a:solidFill>
                <a:latin typeface="Segoe UI"/>
              </a:rPr>
              <a:t>Projects text and GeoTIFF tiles into 512-dim joint space (Sun et al. / Chen et al.).</a:t>
            </a:r>
          </a:p>
          <a:p>
            <a:pPr>
              <a:spcBef>
                <a:spcPts val="300"/>
              </a:spcBef>
            </a:pPr>
            <a:r>
              <a:rPr sz="780" b="1">
                <a:solidFill>
                  <a:srgbClr val="F5F3ED"/>
                </a:solidFill>
                <a:latin typeface="Segoe UI"/>
              </a:rPr>
              <a:t>Step 3 · FAISS FlatIP Search: </a:t>
            </a:r>
            <a:r>
              <a:rPr sz="730">
                <a:solidFill>
                  <a:srgbClr val="94A3B8"/>
                </a:solidFill>
                <a:latin typeface="Segoe UI"/>
              </a:rPr>
              <a:t>Exact cosine similarity matching: s(q, v) = q̂ · v̂ = cos(θ). Sub-millisecond scan.</a:t>
            </a:r>
          </a:p>
          <a:p>
            <a:pPr>
              <a:spcBef>
                <a:spcPts val="300"/>
              </a:spcBef>
            </a:pPr>
            <a:r>
              <a:rPr sz="780" b="1">
                <a:solidFill>
                  <a:srgbClr val="F5F3ED"/>
                </a:solidFill>
                <a:latin typeface="Segoe UI"/>
              </a:rPr>
              <a:t>Step 4 · SQLite Metadata Lookup: </a:t>
            </a:r>
            <a:r>
              <a:rPr sz="730">
                <a:solidFill>
                  <a:srgbClr val="94A3B8"/>
                </a:solidFill>
                <a:latin typeface="Segoe UI"/>
              </a:rPr>
              <a:t>Stable UUID primary keys resolve tile_id to bounds_wgs84 &amp; EPSG:32643 MGRS tile.</a:t>
            </a:r>
          </a:p>
          <a:p>
            <a:pPr>
              <a:spcBef>
                <a:spcPts val="400"/>
              </a:spcBef>
            </a:pPr>
            <a:r>
              <a:rPr sz="700" b="1">
                <a:solidFill>
                  <a:srgbClr val="C5A869"/>
                </a:solidFill>
                <a:latin typeface="Consolas"/>
              </a:rPr>
              <a:t>OFFLINE BENCHMARK: Model load 4.94s | Text embed 48.6ms | FAISS scan 2.0ms | Total 66.1ms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977639" y="3794760"/>
            <a:ext cx="4343400" cy="2587752"/>
          </a:xfrm>
          <a:prstGeom prst="roundRect">
            <a:avLst/>
          </a:prstGeom>
          <a:solidFill>
            <a:srgbClr val="111724"/>
          </a:solidFill>
          <a:ln w="12700">
            <a:solidFill>
              <a:srgbClr val="52B7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14800" y="3886200"/>
            <a:ext cx="406908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 b="1">
                <a:solidFill>
                  <a:srgbClr val="52B788"/>
                </a:solidFill>
                <a:latin typeface="Consolas"/>
              </a:defRPr>
            </a:pPr>
            <a:r>
              <a:t>PROCESS 2: MULTI-TEMPORAL EVIDENCE &amp; ATTRIBUTION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0" y="4224528"/>
            <a:ext cx="4069080" cy="208483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80" b="1">
                <a:solidFill>
                  <a:srgbClr val="F5F3ED"/>
                </a:solidFill>
                <a:latin typeface="Segoe UI"/>
              </a:rPr>
              <a:t>Layer 1 · Spectral Differencing (τ = 0.15): </a:t>
            </a:r>
            <a:r>
              <a:rPr sz="730">
                <a:solidFill>
                  <a:srgbClr val="94A3B8"/>
                </a:solidFill>
                <a:latin typeface="Segoe UI"/>
              </a:rPr>
              <a:t>Δmean = (1/B) Σ |I_T1(b) - I_T0(b)| across B02, B03, B04, B08.</a:t>
            </a:r>
          </a:p>
          <a:p>
            <a:pPr>
              <a:spcBef>
                <a:spcPts val="300"/>
              </a:spcBef>
            </a:pPr>
            <a:r>
              <a:rPr sz="780" b="1">
                <a:solidFill>
                  <a:srgbClr val="F5F3ED"/>
                </a:solidFill>
                <a:latin typeface="Segoe UI"/>
              </a:rPr>
              <a:t>Layer 2 · Biophysical Indices: </a:t>
            </a:r>
            <a:r>
              <a:rPr sz="730">
                <a:solidFill>
                  <a:srgbClr val="94A3B8"/>
                </a:solidFill>
                <a:latin typeface="Segoe UI"/>
              </a:rPr>
              <a:t>NDVI = (NIR - Red)/(NIR + Red) and NDWI = (Green - NIR)/(Green + NIR).</a:t>
            </a:r>
          </a:p>
          <a:p>
            <a:pPr>
              <a:spcBef>
                <a:spcPts val="300"/>
              </a:spcBef>
            </a:pPr>
            <a:r>
              <a:rPr sz="780" b="1">
                <a:solidFill>
                  <a:srgbClr val="F5F3ED"/>
                </a:solidFill>
                <a:latin typeface="Segoe UI"/>
              </a:rPr>
              <a:t>Layer 3 · Spatial Coherence Topology: </a:t>
            </a:r>
            <a:r>
              <a:rPr sz="730">
                <a:solidFill>
                  <a:srgbClr val="94A3B8"/>
                </a:solidFill>
                <a:latin typeface="Segoe UI"/>
              </a:rPr>
              <a:t>Connected component labeling: C_spatial = max_component_size / total_changed.</a:t>
            </a:r>
          </a:p>
          <a:p>
            <a:pPr>
              <a:spcBef>
                <a:spcPts val="300"/>
              </a:spcBef>
            </a:pPr>
            <a:r>
              <a:rPr sz="780" b="1">
                <a:solidFill>
                  <a:srgbClr val="F5F3ED"/>
                </a:solidFill>
                <a:latin typeface="Segoe UI"/>
              </a:rPr>
              <a:t>Layer 4 · MECE Trajectory Classification: </a:t>
            </a:r>
            <a:r>
              <a:rPr sz="730">
                <a:solidFill>
                  <a:srgbClr val="94A3B8"/>
                </a:solidFill>
                <a:latin typeface="Segoe UI"/>
              </a:rPr>
              <a:t>3-date stack (T0, Tmid, T1) classified into 5 canonical categories.</a:t>
            </a:r>
          </a:p>
          <a:p>
            <a:pPr>
              <a:spcBef>
                <a:spcPts val="400"/>
              </a:spcBef>
            </a:pPr>
            <a:r>
              <a:rPr sz="700" b="1">
                <a:solidFill>
                  <a:srgbClr val="C5A869"/>
                </a:solidFill>
                <a:latin typeface="Consolas"/>
              </a:rPr>
              <a:t>MECE TRAJECTORIES: STABLE | PERSISTENT_CHANGE | TRANSIENT | LATE_ONSET | REVERSIBLE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412480" y="1188720"/>
            <a:ext cx="3184855" cy="5193792"/>
          </a:xfrm>
          <a:prstGeom prst="roundRect">
            <a:avLst/>
          </a:prstGeom>
          <a:solidFill>
            <a:srgbClr val="111724"/>
          </a:solidFill>
          <a:ln w="12700">
            <a:solidFill>
              <a:srgbClr val="C5A8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49640" y="1298448"/>
            <a:ext cx="291053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 b="1">
                <a:solidFill>
                  <a:srgbClr val="C5A869"/>
                </a:solidFill>
                <a:latin typeface="Consolas"/>
              </a:defRPr>
            </a:pPr>
            <a:r>
              <a:t>TECHNOLOGIES USED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549640" y="1691640"/>
            <a:ext cx="2910535" cy="1097280"/>
          </a:xfrm>
          <a:prstGeom prst="roundRect">
            <a:avLst/>
          </a:prstGeom>
          <a:solidFill>
            <a:srgbClr val="171F30"/>
          </a:solidFill>
          <a:ln w="12700">
            <a:solidFill>
              <a:srgbClr val="253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41080" y="1737360"/>
            <a:ext cx="2727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760" b="1">
                <a:solidFill>
                  <a:srgbClr val="4EA8DE"/>
                </a:solidFill>
                <a:latin typeface="Consolas"/>
              </a:defRPr>
            </a:pPr>
            <a:r>
              <a:t>BAND 1: SEMANTIC RETRIEVAL</a:t>
            </a:r>
          </a:p>
          <a:p>
            <a:r>
              <a:rPr sz="700" b="1">
                <a:solidFill>
                  <a:srgbClr val="F5F3ED"/>
                </a:solidFill>
                <a:latin typeface="Segoe UI"/>
              </a:rPr>
              <a:t>• Model: </a:t>
            </a:r>
            <a:r>
              <a:rPr sz="680">
                <a:solidFill>
                  <a:srgbClr val="94A3B8"/>
                </a:solidFill>
                <a:latin typeface="Segoe UI"/>
              </a:rPr>
              <a:t>RemoteCLIP ViT-B-32 (605 MB local checkpoint)</a:t>
            </a:r>
          </a:p>
          <a:p>
            <a:r>
              <a:rPr sz="700" b="1">
                <a:solidFill>
                  <a:srgbClr val="F5F3ED"/>
                </a:solidFill>
                <a:latin typeface="Segoe UI"/>
              </a:rPr>
              <a:t>• Vector Index: </a:t>
            </a:r>
            <a:r>
              <a:rPr sz="680">
                <a:solidFill>
                  <a:srgbClr val="94A3B8"/>
                </a:solidFill>
                <a:latin typeface="Segoe UI"/>
              </a:rPr>
              <a:t>FAISS CPU IndexIDMap(IndexFlatIP)</a:t>
            </a:r>
          </a:p>
          <a:p>
            <a:r>
              <a:rPr sz="700" b="1">
                <a:solidFill>
                  <a:srgbClr val="F5F3ED"/>
                </a:solidFill>
                <a:latin typeface="Segoe UI"/>
              </a:rPr>
              <a:t>• Embedding: </a:t>
            </a:r>
            <a:r>
              <a:rPr sz="680">
                <a:solidFill>
                  <a:srgbClr val="94A3B8"/>
                </a:solidFill>
                <a:latin typeface="Segoe UI"/>
              </a:rPr>
              <a:t>512-dim L2-normalized unit vectors</a:t>
            </a:r>
          </a:p>
          <a:p>
            <a:r>
              <a:rPr sz="700" b="1">
                <a:solidFill>
                  <a:srgbClr val="F5F3ED"/>
                </a:solidFill>
                <a:latin typeface="Segoe UI"/>
              </a:rPr>
              <a:t>• Metadata DB: </a:t>
            </a:r>
            <a:r>
              <a:rPr sz="680">
                <a:solidFill>
                  <a:srgbClr val="94A3B8"/>
                </a:solidFill>
                <a:latin typeface="Segoe UI"/>
              </a:rPr>
              <a:t>SQLite local store (metadata.db)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549640" y="2862072"/>
            <a:ext cx="2910535" cy="1097280"/>
          </a:xfrm>
          <a:prstGeom prst="roundRect">
            <a:avLst/>
          </a:prstGeom>
          <a:solidFill>
            <a:srgbClr val="171F30"/>
          </a:solidFill>
          <a:ln w="12700">
            <a:solidFill>
              <a:srgbClr val="253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41080" y="2907792"/>
            <a:ext cx="2727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760" b="1">
                <a:solidFill>
                  <a:srgbClr val="52B788"/>
                </a:solidFill>
                <a:latin typeface="Consolas"/>
              </a:defRPr>
            </a:pPr>
            <a:r>
              <a:t>BAND 2: GEOSPATIAL ANALYSIS</a:t>
            </a:r>
          </a:p>
          <a:p>
            <a:r>
              <a:rPr sz="700" b="1">
                <a:solidFill>
                  <a:srgbClr val="F5F3ED"/>
                </a:solidFill>
                <a:latin typeface="Segoe UI"/>
              </a:rPr>
              <a:t>• Raster Engine: </a:t>
            </a:r>
            <a:r>
              <a:rPr sz="680">
                <a:solidFill>
                  <a:srgbClr val="94A3B8"/>
                </a:solidFill>
                <a:latin typeface="Segoe UI"/>
              </a:rPr>
              <a:t>Rasterio &amp; GDAL C-bindings</a:t>
            </a:r>
          </a:p>
          <a:p>
            <a:r>
              <a:rPr sz="700" b="1">
                <a:solidFill>
                  <a:srgbClr val="F5F3ED"/>
                </a:solidFill>
                <a:latin typeface="Segoe UI"/>
              </a:rPr>
              <a:t>• Grid Projection: </a:t>
            </a:r>
            <a:r>
              <a:rPr sz="680">
                <a:solidFill>
                  <a:srgbClr val="94A3B8"/>
                </a:solidFill>
                <a:latin typeface="Segoe UI"/>
              </a:rPr>
              <a:t>EPSG:32643 (UTM Zone 43N)</a:t>
            </a:r>
          </a:p>
          <a:p>
            <a:r>
              <a:rPr sz="700" b="1">
                <a:solidFill>
                  <a:srgbClr val="F5F3ED"/>
                </a:solidFill>
                <a:latin typeface="Segoe UI"/>
              </a:rPr>
              <a:t>• Arrays &amp; Math: </a:t>
            </a:r>
            <a:r>
              <a:rPr sz="680">
                <a:solidFill>
                  <a:srgbClr val="94A3B8"/>
                </a:solidFill>
                <a:latin typeface="Segoe UI"/>
              </a:rPr>
              <a:t>NumPy 2.x vectorized arrays</a:t>
            </a:r>
          </a:p>
          <a:p>
            <a:r>
              <a:rPr sz="700" b="1">
                <a:solidFill>
                  <a:srgbClr val="F5F3ED"/>
                </a:solidFill>
                <a:latin typeface="Segoe UI"/>
              </a:rPr>
              <a:t>• Topology: </a:t>
            </a:r>
            <a:r>
              <a:rPr sz="680">
                <a:solidFill>
                  <a:srgbClr val="94A3B8"/>
                </a:solidFill>
                <a:latin typeface="Segoe UI"/>
              </a:rPr>
              <a:t>SciPy 1.14 (ndimage.label 8-conn)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549640" y="4032504"/>
            <a:ext cx="2910535" cy="1097280"/>
          </a:xfrm>
          <a:prstGeom prst="roundRect">
            <a:avLst/>
          </a:prstGeom>
          <a:solidFill>
            <a:srgbClr val="171F30"/>
          </a:solidFill>
          <a:ln w="12700">
            <a:solidFill>
              <a:srgbClr val="253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41080" y="4078224"/>
            <a:ext cx="2727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760" b="1">
                <a:solidFill>
                  <a:srgbClr val="C5A869"/>
                </a:solidFill>
                <a:latin typeface="Consolas"/>
              </a:defRPr>
            </a:pPr>
            <a:r>
              <a:t>BAND 3: TEMPORAL &amp; VALIDATION</a:t>
            </a:r>
          </a:p>
          <a:p>
            <a:r>
              <a:rPr sz="700" b="1">
                <a:solidFill>
                  <a:srgbClr val="F5F3ED"/>
                </a:solidFill>
                <a:latin typeface="Segoe UI"/>
              </a:rPr>
              <a:t>• Constellation: </a:t>
            </a:r>
            <a:r>
              <a:rPr sz="680">
                <a:solidFill>
                  <a:srgbClr val="94A3B8"/>
                </a:solidFill>
                <a:latin typeface="Segoe UI"/>
              </a:rPr>
              <a:t>Copernicus Sentinel-2 MSI (10m BOA)</a:t>
            </a:r>
          </a:p>
          <a:p>
            <a:r>
              <a:rPr sz="700" b="1">
                <a:solidFill>
                  <a:srgbClr val="F5F3ED"/>
                </a:solidFill>
                <a:latin typeface="Segoe UI"/>
              </a:rPr>
              <a:t>• Threshold: </a:t>
            </a:r>
            <a:r>
              <a:rPr sz="680">
                <a:solidFill>
                  <a:srgbClr val="94A3B8"/>
                </a:solidFill>
                <a:latin typeface="Segoe UI"/>
              </a:rPr>
              <a:t>Fixed calibrated τ = 0.15</a:t>
            </a:r>
          </a:p>
          <a:p>
            <a:r>
              <a:rPr sz="700" b="1">
                <a:solidFill>
                  <a:srgbClr val="F5F3ED"/>
                </a:solidFill>
                <a:latin typeface="Segoe UI"/>
              </a:rPr>
              <a:t>• Persistence: </a:t>
            </a:r>
            <a:r>
              <a:rPr sz="680">
                <a:solidFill>
                  <a:srgbClr val="94A3B8"/>
                </a:solidFill>
                <a:latin typeface="Segoe UI"/>
              </a:rPr>
              <a:t>5-State MECE trajectory engine</a:t>
            </a:r>
          </a:p>
          <a:p>
            <a:r>
              <a:rPr sz="700" b="1">
                <a:solidFill>
                  <a:srgbClr val="F5F3ED"/>
                </a:solidFill>
                <a:latin typeface="Segoe UI"/>
              </a:rPr>
              <a:t>• Validation: </a:t>
            </a:r>
            <a:r>
              <a:rPr sz="680">
                <a:solidFill>
                  <a:srgbClr val="94A3B8"/>
                </a:solidFill>
                <a:latin typeface="Segoe UI"/>
              </a:rPr>
              <a:t>OSCD 5-pair subset (3,025,938 px)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549640" y="5202936"/>
            <a:ext cx="2910535" cy="1097280"/>
          </a:xfrm>
          <a:prstGeom prst="roundRect">
            <a:avLst/>
          </a:prstGeom>
          <a:solidFill>
            <a:srgbClr val="171F30"/>
          </a:solidFill>
          <a:ln w="12700">
            <a:solidFill>
              <a:srgbClr val="253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41080" y="5248656"/>
            <a:ext cx="2727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760" b="1">
                <a:solidFill>
                  <a:srgbClr val="F5F3ED"/>
                </a:solidFill>
                <a:latin typeface="Consolas"/>
              </a:defRPr>
            </a:pPr>
            <a:r>
              <a:t>BAND 4: OFFLINE-FIRST CORE</a:t>
            </a:r>
          </a:p>
          <a:p>
            <a:r>
              <a:rPr sz="700" b="1">
                <a:solidFill>
                  <a:srgbClr val="F5F3ED"/>
                </a:solidFill>
                <a:latin typeface="Segoe UI"/>
              </a:rPr>
              <a:t>• Runtime: </a:t>
            </a:r>
            <a:r>
              <a:rPr sz="680">
                <a:solidFill>
                  <a:srgbClr val="94A3B8"/>
                </a:solidFill>
                <a:latin typeface="Segoe UI"/>
              </a:rPr>
              <a:t>Python 3.11 core analytical engine</a:t>
            </a:r>
          </a:p>
          <a:p>
            <a:r>
              <a:rPr sz="700" b="1">
                <a:solidFill>
                  <a:srgbClr val="F5F3ED"/>
                </a:solidFill>
                <a:latin typeface="Segoe UI"/>
              </a:rPr>
              <a:t>• Interface: </a:t>
            </a:r>
            <a:r>
              <a:rPr sz="680">
                <a:solidFill>
                  <a:srgbClr val="94A3B8"/>
                </a:solidFill>
                <a:latin typeface="Segoe UI"/>
              </a:rPr>
              <a:t>Next.js 14 console &amp; Streamlit UI</a:t>
            </a:r>
          </a:p>
          <a:p>
            <a:r>
              <a:rPr sz="700" b="1">
                <a:solidFill>
                  <a:srgbClr val="F5F3ED"/>
                </a:solidFill>
                <a:latin typeface="Segoe UI"/>
              </a:rPr>
              <a:t>• API Service: </a:t>
            </a:r>
            <a:r>
              <a:rPr sz="680">
                <a:solidFill>
                  <a:srgbClr val="94A3B8"/>
                </a:solidFill>
                <a:latin typeface="Segoe UI"/>
              </a:rPr>
              <a:t>FastAPI local REST microservice</a:t>
            </a:r>
          </a:p>
          <a:p>
            <a:r>
              <a:rPr sz="700" b="1">
                <a:solidFill>
                  <a:srgbClr val="F5F3ED"/>
                </a:solidFill>
                <a:latin typeface="Segoe UI"/>
              </a:rPr>
              <a:t>• Air-Gap Mandate: </a:t>
            </a:r>
            <a:r>
              <a:rPr sz="680">
                <a:solidFill>
                  <a:srgbClr val="94A3B8"/>
                </a:solidFill>
                <a:latin typeface="Segoe UI"/>
              </a:rPr>
              <a:t>Zero runtime network egress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" y="256032"/>
            <a:ext cx="11002975" cy="22860"/>
          </a:xfrm>
          <a:prstGeom prst="rect">
            <a:avLst/>
          </a:prstGeom>
          <a:solidFill>
            <a:srgbClr val="C5A8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01752"/>
            <a:ext cx="77724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00" b="1">
                <a:solidFill>
                  <a:srgbClr val="C5A869"/>
                </a:solidFill>
                <a:latin typeface="Consolas"/>
              </a:defRPr>
            </a:pPr>
            <a:r>
              <a:t>SMART INDIA HACKATHON 2026 · PS: SIH26227 · SPACE TECHNOLOGY · SOFTWARE · MINISTRY OF DEFENCE / INDIAN ARMY — DGIS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301752"/>
            <a:ext cx="3182112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00">
                <a:solidFill>
                  <a:srgbClr val="94A3B8"/>
                </a:solidFill>
                <a:latin typeface="Consolas"/>
              </a:rPr>
              <a:t>TEAM: Quantumcrew  |  </a:t>
            </a:r>
            <a:r>
              <a:rPr sz="800" b="1">
                <a:solidFill>
                  <a:srgbClr val="4EA8DE"/>
                </a:solidFill>
                <a:latin typeface="Consolas"/>
              </a:rPr>
              <a:t>SLIDE 04 / 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548640"/>
            <a:ext cx="11002975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50" b="1">
                <a:solidFill>
                  <a:srgbClr val="F5F3ED"/>
                </a:solidFill>
                <a:latin typeface="Georgia"/>
              </a:defRPr>
            </a:pPr>
            <a:r>
              <a:t>04 — FEASIBILITY &amp; VIABILITY</a:t>
            </a:r>
          </a:p>
          <a:p>
            <a:pPr>
              <a:defRPr sz="950">
                <a:solidFill>
                  <a:srgbClr val="94A3B8"/>
                </a:solidFill>
                <a:latin typeface="Segoe UI"/>
              </a:defRPr>
            </a:pPr>
            <a:r>
              <a:t>BUILT TO RUN LOCALLY. VALIDATED ON REAL SENTINEL-2.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565392"/>
            <a:ext cx="110029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80">
                <a:solidFill>
                  <a:srgbClr val="64748B"/>
                </a:solidFill>
                <a:latin typeface="Segoe UI"/>
              </a:rPr>
              <a:t>TERRAE — Earth Intelligence Satellite Investigation Console  |  Ministry of Defence / Indian Army — DGIS  |  SIH 2026 Submission</a:t>
            </a:r>
            <a:r>
              <a:rPr sz="780">
                <a:solidFill>
                  <a:srgbClr val="64748B"/>
                </a:solidFill>
                <a:latin typeface="Segoe UI"/>
              </a:rPr>
              <a:t>                                                         Live Console: </a:t>
            </a:r>
            <a:r>
              <a:rPr sz="780">
                <a:solidFill>
                  <a:srgbClr val="4EA8DE"/>
                </a:solidFill>
                <a:latin typeface="Segoe UI"/>
                <a:hlinkClick r:id="rId2"/>
              </a:rPr>
              <a:t>https://terrae-geospatial-intelligence.vercel.app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188720"/>
            <a:ext cx="2926080" cy="4617720"/>
          </a:xfrm>
          <a:prstGeom prst="roundRect">
            <a:avLst/>
          </a:prstGeom>
          <a:solidFill>
            <a:srgbClr val="111724"/>
          </a:solidFill>
          <a:ln w="12700">
            <a:solidFill>
              <a:srgbClr val="C5A8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298448"/>
            <a:ext cx="265176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 b="1">
                <a:solidFill>
                  <a:srgbClr val="C5A869"/>
                </a:solidFill>
                <a:latin typeface="Consolas"/>
              </a:defRPr>
            </a:pPr>
            <a:r>
              <a:t>TECHNICAL FEASIBILITY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691640"/>
            <a:ext cx="2651760" cy="1261872"/>
          </a:xfrm>
          <a:prstGeom prst="roundRect">
            <a:avLst/>
          </a:prstGeom>
          <a:solidFill>
            <a:srgbClr val="171F30"/>
          </a:solidFill>
          <a:ln w="12700">
            <a:solidFill>
              <a:srgbClr val="253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746504"/>
            <a:ext cx="2468880" cy="11521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760" b="1">
                <a:solidFill>
                  <a:srgbClr val="4EA8DE"/>
                </a:solidFill>
                <a:latin typeface="Consolas"/>
              </a:defRPr>
            </a:pPr>
            <a:r>
              <a:t>BLOCK 1: LOCAL AI RUNTIME</a:t>
            </a:r>
          </a:p>
          <a:p>
            <a:r>
              <a:rPr sz="700" b="1">
                <a:solidFill>
                  <a:srgbClr val="F5F3ED"/>
                </a:solidFill>
                <a:latin typeface="Segoe UI"/>
              </a:rPr>
              <a:t>• Model Checkpoint: </a:t>
            </a:r>
            <a:r>
              <a:rPr sz="680">
                <a:solidFill>
                  <a:srgbClr val="94A3B8"/>
                </a:solidFill>
                <a:latin typeface="Segoe UI"/>
              </a:rPr>
              <a:t>RemoteCLIP ViT-B-32 (605 MB)</a:t>
            </a:r>
          </a:p>
          <a:p>
            <a:r>
              <a:rPr sz="700" b="1">
                <a:solidFill>
                  <a:srgbClr val="F5F3ED"/>
                </a:solidFill>
                <a:latin typeface="Segoe UI"/>
              </a:rPr>
              <a:t>• Host Memory: </a:t>
            </a:r>
            <a:r>
              <a:rPr sz="680">
                <a:solidFill>
                  <a:srgbClr val="94A3B8"/>
                </a:solidFill>
                <a:latin typeface="Segoe UI"/>
              </a:rPr>
              <a:t>8–16 GB RAM (CPU sufficient)</a:t>
            </a:r>
          </a:p>
          <a:p>
            <a:r>
              <a:rPr sz="700" b="1">
                <a:solidFill>
                  <a:srgbClr val="F5F3ED"/>
                </a:solidFill>
                <a:latin typeface="Segoe UI"/>
              </a:rPr>
              <a:t>• Vector Index: </a:t>
            </a:r>
            <a:r>
              <a:rPr sz="680">
                <a:solidFill>
                  <a:srgbClr val="94A3B8"/>
                </a:solidFill>
                <a:latin typeface="Segoe UI"/>
              </a:rPr>
              <a:t>FAISS CPU IndexIDMap(FlatIP)</a:t>
            </a:r>
          </a:p>
          <a:p>
            <a:r>
              <a:rPr sz="700" b="1">
                <a:solidFill>
                  <a:srgbClr val="F5F3ED"/>
                </a:solidFill>
                <a:latin typeface="Segoe UI"/>
              </a:rPr>
              <a:t>• Index Latency: </a:t>
            </a:r>
            <a:r>
              <a:rPr sz="680">
                <a:solidFill>
                  <a:srgbClr val="94A3B8"/>
                </a:solidFill>
                <a:latin typeface="Segoe UI"/>
              </a:rPr>
              <a:t>2.0 ms per 24-tile scan</a:t>
            </a:r>
          </a:p>
          <a:p>
            <a:r>
              <a:rPr sz="700" b="1">
                <a:solidFill>
                  <a:srgbClr val="F5F3ED"/>
                </a:solidFill>
                <a:latin typeface="Segoe UI"/>
              </a:rPr>
              <a:t>• Total Inference: </a:t>
            </a:r>
            <a:r>
              <a:rPr sz="680">
                <a:solidFill>
                  <a:srgbClr val="94A3B8"/>
                </a:solidFill>
                <a:latin typeface="Segoe UI"/>
              </a:rPr>
              <a:t>66.1 ms end-to-end query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063240"/>
            <a:ext cx="2651760" cy="1261872"/>
          </a:xfrm>
          <a:prstGeom prst="roundRect">
            <a:avLst/>
          </a:prstGeom>
          <a:solidFill>
            <a:srgbClr val="171F30"/>
          </a:solidFill>
          <a:ln w="12700">
            <a:solidFill>
              <a:srgbClr val="253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3118104"/>
            <a:ext cx="2468880" cy="11521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760" b="1">
                <a:solidFill>
                  <a:srgbClr val="52B788"/>
                </a:solidFill>
                <a:latin typeface="Consolas"/>
              </a:defRPr>
            </a:pPr>
            <a:r>
              <a:t>BLOCK 2: REAL SATELLITE DATA</a:t>
            </a:r>
          </a:p>
          <a:p>
            <a:r>
              <a:rPr sz="700" b="1">
                <a:solidFill>
                  <a:srgbClr val="F5F3ED"/>
                </a:solidFill>
                <a:latin typeface="Segoe UI"/>
              </a:rPr>
              <a:t>• Sensor: </a:t>
            </a:r>
            <a:r>
              <a:rPr sz="680">
                <a:solidFill>
                  <a:srgbClr val="94A3B8"/>
                </a:solidFill>
                <a:latin typeface="Segoe UI"/>
              </a:rPr>
              <a:t>ESA Copernicus Sentinel-2 MSI</a:t>
            </a:r>
          </a:p>
          <a:p>
            <a:r>
              <a:rPr sz="700" b="1">
                <a:solidFill>
                  <a:srgbClr val="F5F3ED"/>
                </a:solidFill>
                <a:latin typeface="Segoe UI"/>
              </a:rPr>
              <a:t>• Level &amp; Bands: </a:t>
            </a:r>
            <a:r>
              <a:rPr sz="680">
                <a:solidFill>
                  <a:srgbClr val="94A3B8"/>
                </a:solidFill>
                <a:latin typeface="Segoe UI"/>
              </a:rPr>
              <a:t>Level-2A BOA (B02, B03, B04, B08)</a:t>
            </a:r>
          </a:p>
          <a:p>
            <a:r>
              <a:rPr sz="700" b="1">
                <a:solidFill>
                  <a:srgbClr val="F5F3ED"/>
                </a:solidFill>
                <a:latin typeface="Segoe UI"/>
              </a:rPr>
              <a:t>• Grid Standard: </a:t>
            </a:r>
            <a:r>
              <a:rPr sz="680">
                <a:solidFill>
                  <a:srgbClr val="94A3B8"/>
                </a:solidFill>
                <a:latin typeface="Segoe UI"/>
              </a:rPr>
              <a:t>MGRS 43RGM / EPSG:32643 UTM</a:t>
            </a:r>
          </a:p>
          <a:p>
            <a:r>
              <a:rPr sz="700" b="1">
                <a:solidFill>
                  <a:srgbClr val="F5F3ED"/>
                </a:solidFill>
                <a:latin typeface="Segoe UI"/>
              </a:rPr>
              <a:t>• Spatial Resolution: </a:t>
            </a:r>
            <a:r>
              <a:rPr sz="680">
                <a:solidFill>
                  <a:srgbClr val="94A3B8"/>
                </a:solidFill>
                <a:latin typeface="Segoe UI"/>
              </a:rPr>
              <a:t>10m Ground Sample Distance</a:t>
            </a:r>
          </a:p>
          <a:p>
            <a:r>
              <a:rPr sz="700" b="1">
                <a:solidFill>
                  <a:srgbClr val="F5F3ED"/>
                </a:solidFill>
                <a:latin typeface="Segoe UI"/>
              </a:rPr>
              <a:t>• Cloud Handling: </a:t>
            </a:r>
            <a:r>
              <a:rPr sz="680">
                <a:solidFill>
                  <a:srgbClr val="94A3B8"/>
                </a:solidFill>
                <a:latin typeface="Segoe UI"/>
              </a:rPr>
              <a:t>Scene Classification Layer (SCL)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434840"/>
            <a:ext cx="2651760" cy="1261872"/>
          </a:xfrm>
          <a:prstGeom prst="roundRect">
            <a:avLst/>
          </a:prstGeom>
          <a:solidFill>
            <a:srgbClr val="171F30"/>
          </a:solidFill>
          <a:ln w="12700">
            <a:solidFill>
              <a:srgbClr val="253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4489704"/>
            <a:ext cx="2468880" cy="11521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760" b="1">
                <a:solidFill>
                  <a:srgbClr val="C5A869"/>
                </a:solidFill>
                <a:latin typeface="Consolas"/>
              </a:defRPr>
            </a:pPr>
            <a:r>
              <a:t>BLOCK 3: DETERMINISTIC ANALYSIS</a:t>
            </a:r>
          </a:p>
          <a:p>
            <a:r>
              <a:rPr sz="700" b="1">
                <a:solidFill>
                  <a:srgbClr val="F5F3ED"/>
                </a:solidFill>
                <a:latin typeface="Segoe UI"/>
              </a:rPr>
              <a:t>• Production Threshold: </a:t>
            </a:r>
            <a:r>
              <a:rPr sz="680">
                <a:solidFill>
                  <a:srgbClr val="94A3B8"/>
                </a:solidFill>
                <a:latin typeface="Segoe UI"/>
              </a:rPr>
              <a:t>Calibrated fixed τ = 0.15</a:t>
            </a:r>
          </a:p>
          <a:p>
            <a:r>
              <a:rPr sz="700" b="1">
                <a:solidFill>
                  <a:srgbClr val="F5F3ED"/>
                </a:solidFill>
                <a:latin typeface="Segoe UI"/>
              </a:rPr>
              <a:t>• Spectral Math: </a:t>
            </a:r>
            <a:r>
              <a:rPr sz="680">
                <a:solidFill>
                  <a:srgbClr val="94A3B8"/>
                </a:solidFill>
                <a:latin typeface="Segoe UI"/>
              </a:rPr>
              <a:t>NDVI &amp; NDWI deterministic shifts</a:t>
            </a:r>
          </a:p>
          <a:p>
            <a:r>
              <a:rPr sz="700" b="1">
                <a:solidFill>
                  <a:srgbClr val="F5F3ED"/>
                </a:solidFill>
                <a:latin typeface="Segoe UI"/>
              </a:rPr>
              <a:t>• Spatial Topology: </a:t>
            </a:r>
            <a:r>
              <a:rPr sz="680">
                <a:solidFill>
                  <a:srgbClr val="94A3B8"/>
                </a:solidFill>
                <a:latin typeface="Segoe UI"/>
              </a:rPr>
              <a:t>scipy.ndimage connected components</a:t>
            </a:r>
          </a:p>
          <a:p>
            <a:r>
              <a:rPr sz="700" b="1">
                <a:solidFill>
                  <a:srgbClr val="F5F3ED"/>
                </a:solidFill>
                <a:latin typeface="Segoe UI"/>
              </a:rPr>
              <a:t>• No Hallucination: </a:t>
            </a:r>
            <a:r>
              <a:rPr sz="680">
                <a:solidFill>
                  <a:srgbClr val="94A3B8"/>
                </a:solidFill>
                <a:latin typeface="Segoe UI"/>
              </a:rPr>
              <a:t>Rule-based attribution support</a:t>
            </a:r>
          </a:p>
          <a:p>
            <a:r>
              <a:rPr sz="700" b="1">
                <a:solidFill>
                  <a:srgbClr val="F5F3ED"/>
                </a:solidFill>
                <a:latin typeface="Segoe UI"/>
              </a:rPr>
              <a:t>• Reproducibility: </a:t>
            </a:r>
            <a:r>
              <a:rPr sz="680">
                <a:solidFill>
                  <a:srgbClr val="94A3B8"/>
                </a:solidFill>
                <a:latin typeface="Segoe UI"/>
              </a:rPr>
              <a:t>Deterministic, repeatable results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1880" y="1188720"/>
            <a:ext cx="5166360" cy="4617720"/>
          </a:xfrm>
          <a:prstGeom prst="roundRect">
            <a:avLst/>
          </a:prstGeom>
          <a:solidFill>
            <a:srgbClr val="111724"/>
          </a:solidFill>
          <a:ln w="12700">
            <a:solidFill>
              <a:srgbClr val="C5A8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49039" y="1298448"/>
            <a:ext cx="489204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80" b="1">
                <a:solidFill>
                  <a:srgbClr val="C5A869"/>
                </a:solidFill>
                <a:latin typeface="Consolas"/>
              </a:defRPr>
            </a:pPr>
            <a:r>
              <a:t>REAL SENTINEL-2 MULTI-DATE VALIDATION (MGRS 43RGM · NCR INDIA)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749039" y="1691640"/>
            <a:ext cx="1508760" cy="2148840"/>
          </a:xfrm>
          <a:prstGeom prst="roundRect">
            <a:avLst/>
          </a:prstGeom>
          <a:solidFill>
            <a:srgbClr val="171F30"/>
          </a:solidFill>
          <a:ln w="12700">
            <a:solidFill>
              <a:srgbClr val="253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sentinel2_t0_rgb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94759" y="1737360"/>
            <a:ext cx="1417320" cy="14173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794759" y="3200400"/>
            <a:ext cx="141732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720" b="1">
                <a:solidFill>
                  <a:srgbClr val="4EA8DE"/>
                </a:solidFill>
                <a:latin typeface="Consolas"/>
              </a:defRPr>
            </a:pPr>
            <a:r>
              <a:t>T0 · 19 MAY 2023</a:t>
            </a:r>
          </a:p>
          <a:p>
            <a:r>
              <a:rPr sz="650">
                <a:solidFill>
                  <a:srgbClr val="94A3B8"/>
                </a:solidFill>
                <a:latin typeface="Segoe UI"/>
              </a:rPr>
              <a:t>Pre-Monsoon Baseline
NIR: 0.480 | NDVI: +0.192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394959" y="1691640"/>
            <a:ext cx="1508760" cy="2148840"/>
          </a:xfrm>
          <a:prstGeom prst="roundRect">
            <a:avLst/>
          </a:prstGeom>
          <a:solidFill>
            <a:srgbClr val="171F30"/>
          </a:solidFill>
          <a:ln w="12700">
            <a:solidFill>
              <a:srgbClr val="253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sentinel2_tmid_rgb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40679" y="1737360"/>
            <a:ext cx="1417320" cy="14173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5440679" y="3200400"/>
            <a:ext cx="141732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720" b="1">
                <a:solidFill>
                  <a:srgbClr val="52B788"/>
                </a:solidFill>
                <a:latin typeface="Consolas"/>
              </a:defRPr>
            </a:pPr>
            <a:r>
              <a:t>TMID · 06 OCT 2023</a:t>
            </a:r>
          </a:p>
          <a:p>
            <a:r>
              <a:rPr sz="650">
                <a:solidFill>
                  <a:srgbClr val="94A3B8"/>
                </a:solidFill>
                <a:latin typeface="Segoe UI"/>
              </a:rPr>
              <a:t>Post-Monsoon Peak
NIR: 0.279 | NDVI: +0.112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040879" y="1691640"/>
            <a:ext cx="1508760" cy="2148840"/>
          </a:xfrm>
          <a:prstGeom prst="roundRect">
            <a:avLst/>
          </a:prstGeom>
          <a:solidFill>
            <a:srgbClr val="171F30"/>
          </a:solidFill>
          <a:ln w="12700">
            <a:solidFill>
              <a:srgbClr val="253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sentinel2_t1_rgb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86599" y="1737360"/>
            <a:ext cx="1417320" cy="141732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7086599" y="3200400"/>
            <a:ext cx="141732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720" b="1">
                <a:solidFill>
                  <a:srgbClr val="C5A869"/>
                </a:solidFill>
                <a:latin typeface="Consolas"/>
              </a:defRPr>
            </a:pPr>
            <a:r>
              <a:t>T1 · 05 DEC 2023</a:t>
            </a:r>
          </a:p>
          <a:p>
            <a:r>
              <a:rPr sz="650">
                <a:solidFill>
                  <a:srgbClr val="94A3B8"/>
                </a:solidFill>
                <a:latin typeface="Segoe UI"/>
              </a:rPr>
              <a:t>Winter Post-Harvest
NIR: 0.254 | NDVI: +0.092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749039" y="3931920"/>
            <a:ext cx="4892040" cy="1737360"/>
          </a:xfrm>
          <a:prstGeom prst="roundRect">
            <a:avLst/>
          </a:prstGeom>
          <a:solidFill>
            <a:srgbClr val="171F30"/>
          </a:solidFill>
          <a:ln w="12700">
            <a:solidFill>
              <a:srgbClr val="253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86200" y="4005072"/>
            <a:ext cx="4617720" cy="1600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00" b="1">
                <a:solidFill>
                  <a:srgbClr val="C5A869"/>
                </a:solidFill>
                <a:latin typeface="Consolas"/>
              </a:defRPr>
            </a:pPr>
            <a:r>
              <a:t>EMPIRICAL OBSERVATION METRICS (262,144 VALID PIXELS · 10M GSD):</a:t>
            </a:r>
          </a:p>
          <a:p>
            <a:pPr>
              <a:spcBef>
                <a:spcPts val="200"/>
              </a:spcBef>
            </a:pPr>
            <a:r>
              <a:rPr sz="700">
                <a:solidFill>
                  <a:srgbClr val="F5F3ED"/>
                </a:solidFill>
                <a:latin typeface="Segoe UI"/>
              </a:rPr>
              <a:t>• Interval Change Fractions (τ = 0.15):
   T0 → TMID: 0.7% (1,820 px)  |  TMID → T1: 0.2% (619 px)  |  T0 → T1: 1.0% (2,542 px)
• 5-State MECE Trajectory Distribution:
   STABLE: 98.75% (258,869 px)  |  PERSISTENT: 0.39%  |  TRANSIENT: 0.24%
   LATE_ONSET: 0.52%  |  REVERSIBLE: 0.10%  |  Total MECE Sum: 100.0%
• Heuristic Attribution Support:
   Built-Surface: 51.1%  |  Vegetation: 24.7%  |  Seasonal: 19.9%  |  Unresolved: 3.1%
• SYSTEM VERDICT: REVIEW  (1.0% change &lt; 5% threshold; routed to human analyst)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869680" y="1188720"/>
            <a:ext cx="2743200" cy="4617720"/>
          </a:xfrm>
          <a:prstGeom prst="roundRect">
            <a:avLst/>
          </a:prstGeom>
          <a:solidFill>
            <a:srgbClr val="111724"/>
          </a:solidFill>
          <a:ln w="12700">
            <a:solidFill>
              <a:srgbClr val="C5A8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006840" y="1298448"/>
            <a:ext cx="246888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 b="1">
                <a:solidFill>
                  <a:srgbClr val="C5A869"/>
                </a:solidFill>
                <a:latin typeface="Consolas"/>
              </a:defRPr>
            </a:pPr>
            <a:r>
              <a:t>OPERATIONAL VIABILITY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006840" y="1691640"/>
            <a:ext cx="2468880" cy="932688"/>
          </a:xfrm>
          <a:prstGeom prst="roundRect">
            <a:avLst/>
          </a:prstGeom>
          <a:solidFill>
            <a:srgbClr val="171F30"/>
          </a:solidFill>
          <a:ln w="12700">
            <a:solidFill>
              <a:srgbClr val="253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98280" y="1746504"/>
            <a:ext cx="228600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760" b="1">
                <a:solidFill>
                  <a:srgbClr val="4EA8DE"/>
                </a:solidFill>
                <a:latin typeface="Consolas"/>
              </a:defRPr>
            </a:pPr>
            <a:r>
              <a:t>OFFLINE-FIRST</a:t>
            </a:r>
          </a:p>
          <a:p>
            <a:r>
              <a:rPr sz="700">
                <a:solidFill>
                  <a:srgbClr val="94A3B8"/>
                </a:solidFill>
                <a:latin typeface="Segoe UI"/>
              </a:rPr>
              <a:t>Air-gapped operation verified via offline_test.py. Zero cloud network egress.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006840" y="2715768"/>
            <a:ext cx="2468880" cy="932688"/>
          </a:xfrm>
          <a:prstGeom prst="roundRect">
            <a:avLst/>
          </a:prstGeom>
          <a:solidFill>
            <a:srgbClr val="171F30"/>
          </a:solidFill>
          <a:ln w="12700">
            <a:solidFill>
              <a:srgbClr val="253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098280" y="2770632"/>
            <a:ext cx="228600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760" b="1">
                <a:solidFill>
                  <a:srgbClr val="52B788"/>
                </a:solidFill>
                <a:latin typeface="Consolas"/>
              </a:defRPr>
            </a:pPr>
            <a:r>
              <a:t>ANALYST-IN-THE-LOOP</a:t>
            </a:r>
          </a:p>
          <a:p>
            <a:r>
              <a:rPr sz="700">
                <a:solidFill>
                  <a:srgbClr val="94A3B8"/>
                </a:solidFill>
                <a:latin typeface="Segoe UI"/>
              </a:rPr>
              <a:t>Augments rather than replaces analysts. Transparent physical evidence dossiers.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006840" y="3739896"/>
            <a:ext cx="2468880" cy="932688"/>
          </a:xfrm>
          <a:prstGeom prst="roundRect">
            <a:avLst/>
          </a:prstGeom>
          <a:solidFill>
            <a:srgbClr val="171F30"/>
          </a:solidFill>
          <a:ln w="12700">
            <a:solidFill>
              <a:srgbClr val="253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098280" y="3794760"/>
            <a:ext cx="228600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760" b="1">
                <a:solidFill>
                  <a:srgbClr val="C5A869"/>
                </a:solidFill>
                <a:latin typeface="Consolas"/>
              </a:defRPr>
            </a:pPr>
            <a:r>
              <a:t>MODULAR ARCHITECTURE</a:t>
            </a:r>
          </a:p>
          <a:p>
            <a:r>
              <a:rPr sz="700">
                <a:solidFill>
                  <a:srgbClr val="94A3B8"/>
                </a:solidFill>
                <a:latin typeface="Segoe UI"/>
              </a:rPr>
              <a:t>Clean decoupled interfaces for index backend, sensor adapters, and persistence engines.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006840" y="4764024"/>
            <a:ext cx="2468880" cy="932688"/>
          </a:xfrm>
          <a:prstGeom prst="roundRect">
            <a:avLst/>
          </a:prstGeom>
          <a:solidFill>
            <a:srgbClr val="171F30"/>
          </a:solidFill>
          <a:ln w="12700">
            <a:solidFill>
              <a:srgbClr val="253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98280" y="4818888"/>
            <a:ext cx="228600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760" b="1">
                <a:solidFill>
                  <a:srgbClr val="F5F3ED"/>
                </a:solidFill>
                <a:latin typeface="Consolas"/>
              </a:defRPr>
            </a:pPr>
            <a:r>
              <a:t>SCALABILITY POTENTIAL</a:t>
            </a:r>
          </a:p>
          <a:p>
            <a:r>
              <a:rPr sz="700">
                <a:solidFill>
                  <a:srgbClr val="94A3B8"/>
                </a:solidFill>
                <a:latin typeface="Segoe UI"/>
              </a:rPr>
              <a:t>FAISS IndexIVFFlat/HNSW scalable to millions of tiles without changing pipeline code.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4360" y="5925312"/>
            <a:ext cx="11002975" cy="457200"/>
          </a:xfrm>
          <a:prstGeom prst="roundRect">
            <a:avLst/>
          </a:prstGeom>
          <a:solidFill>
            <a:srgbClr val="0F1726"/>
          </a:solidFill>
          <a:ln w="12700">
            <a:solidFill>
              <a:srgbClr val="253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5800" y="5980176"/>
            <a:ext cx="10820095" cy="34747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780" b="1">
                <a:solidFill>
                  <a:srgbClr val="52B788"/>
                </a:solidFill>
                <a:latin typeface="Consolas"/>
              </a:rPr>
              <a:t>[135 / 135 TESTS PASSING (100%)]   </a:t>
            </a:r>
            <a:r>
              <a:rPr sz="780" b="1">
                <a:solidFill>
                  <a:srgbClr val="4EA8DE"/>
                </a:solidFill>
                <a:latin typeface="Consolas"/>
              </a:rPr>
              <a:t>[ZERO RUNTIME EXTERNAL CALLS]   </a:t>
            </a:r>
            <a:r>
              <a:rPr sz="780" b="1">
                <a:solidFill>
                  <a:srgbClr val="C5A869"/>
                </a:solidFill>
                <a:latin typeface="Consolas"/>
              </a:rPr>
              <a:t>[262,144 VALID SENTINEL-2 PIXELS]   </a:t>
            </a:r>
            <a:r>
              <a:rPr sz="780" b="1">
                <a:solidFill>
                  <a:srgbClr val="F5F3ED"/>
                </a:solidFill>
                <a:latin typeface="Consolas"/>
              </a:rPr>
              <a:t>[DETERMINISTIC τ = 0.15]   </a:t>
            </a:r>
            <a:r>
              <a:rPr sz="780" b="1">
                <a:solidFill>
                  <a:srgbClr val="52B788"/>
                </a:solidFill>
                <a:latin typeface="Consolas"/>
              </a:rPr>
              <a:t>[AIR-GAPPED READY]   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" y="256032"/>
            <a:ext cx="11002975" cy="22860"/>
          </a:xfrm>
          <a:prstGeom prst="rect">
            <a:avLst/>
          </a:prstGeom>
          <a:solidFill>
            <a:srgbClr val="C5A8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01752"/>
            <a:ext cx="77724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00" b="1">
                <a:solidFill>
                  <a:srgbClr val="C5A869"/>
                </a:solidFill>
                <a:latin typeface="Consolas"/>
              </a:defRPr>
            </a:pPr>
            <a:r>
              <a:t>SMART INDIA HACKATHON 2026 · PS: SIH26227 · SPACE TECHNOLOGY · SOFTWARE · MINISTRY OF DEFENCE / INDIAN ARMY — DGIS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301752"/>
            <a:ext cx="3182112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00">
                <a:solidFill>
                  <a:srgbClr val="94A3B8"/>
                </a:solidFill>
                <a:latin typeface="Consolas"/>
              </a:rPr>
              <a:t>TEAM: Quantumcrew  |  </a:t>
            </a:r>
            <a:r>
              <a:rPr sz="800" b="1">
                <a:solidFill>
                  <a:srgbClr val="4EA8DE"/>
                </a:solidFill>
                <a:latin typeface="Consolas"/>
              </a:rPr>
              <a:t>SLIDE 05 / 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548640"/>
            <a:ext cx="11002975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50" b="1">
                <a:solidFill>
                  <a:srgbClr val="F5F3ED"/>
                </a:solidFill>
                <a:latin typeface="Georgia"/>
              </a:defRPr>
            </a:pPr>
            <a:r>
              <a:t>05 — IMPACT &amp; BENEFITS</a:t>
            </a:r>
          </a:p>
          <a:p>
            <a:pPr>
              <a:defRPr sz="950">
                <a:solidFill>
                  <a:srgbClr val="94A3B8"/>
                </a:solidFill>
                <a:latin typeface="Segoe UI"/>
              </a:defRPr>
            </a:pPr>
            <a:r>
              <a:t>TURNING SATELLITE ARCHIVES INTO AN INVESTIGATION WORKBENCH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565392"/>
            <a:ext cx="110029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80">
                <a:solidFill>
                  <a:srgbClr val="64748B"/>
                </a:solidFill>
                <a:latin typeface="Segoe UI"/>
              </a:rPr>
              <a:t>TERRAE — Earth Intelligence Satellite Investigation Console  |  Ministry of Defence / Indian Army — DGIS  |  SIH 2026 Submission</a:t>
            </a:r>
            <a:r>
              <a:rPr sz="780">
                <a:solidFill>
                  <a:srgbClr val="64748B"/>
                </a:solidFill>
                <a:latin typeface="Segoe UI"/>
              </a:rPr>
              <a:t>                                                         Live Console: </a:t>
            </a:r>
            <a:r>
              <a:rPr sz="780">
                <a:solidFill>
                  <a:srgbClr val="4EA8DE"/>
                </a:solidFill>
                <a:latin typeface="Segoe UI"/>
                <a:hlinkClick r:id="rId2"/>
              </a:rPr>
              <a:t>https://terrae-geospatial-intelligence.vercel.app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188720"/>
            <a:ext cx="11002975" cy="594360"/>
          </a:xfrm>
          <a:prstGeom prst="roundRect">
            <a:avLst/>
          </a:prstGeom>
          <a:solidFill>
            <a:srgbClr val="111724"/>
          </a:solidFill>
          <a:ln w="12700">
            <a:solidFill>
              <a:srgbClr val="C5A8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261872"/>
            <a:ext cx="1072865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19" b="1">
                <a:solidFill>
                  <a:srgbClr val="94A3B8"/>
                </a:solidFill>
                <a:latin typeface="Consolas"/>
              </a:rPr>
              <a:t>SATELLITE ARCHIVE</a:t>
            </a:r>
            <a:r>
              <a:rPr sz="819" b="1">
                <a:solidFill>
                  <a:srgbClr val="C5A869"/>
                </a:solidFill>
                <a:latin typeface="Consolas"/>
              </a:rPr>
              <a:t> → </a:t>
            </a:r>
            <a:r>
              <a:rPr sz="819" b="1">
                <a:solidFill>
                  <a:srgbClr val="4EA8DE"/>
                </a:solidFill>
                <a:latin typeface="Consolas"/>
              </a:rPr>
              <a:t>NATURAL-LANGUAGE DISCOVERY</a:t>
            </a:r>
            <a:r>
              <a:rPr sz="819" b="1">
                <a:solidFill>
                  <a:srgbClr val="C5A869"/>
                </a:solidFill>
                <a:latin typeface="Consolas"/>
              </a:rPr>
              <a:t> → </a:t>
            </a:r>
            <a:r>
              <a:rPr sz="819" b="1">
                <a:solidFill>
                  <a:srgbClr val="52B788"/>
                </a:solidFill>
                <a:latin typeface="Consolas"/>
              </a:rPr>
              <a:t>RELEVANT SCENE</a:t>
            </a:r>
            <a:r>
              <a:rPr sz="819" b="1">
                <a:solidFill>
                  <a:srgbClr val="C5A869"/>
                </a:solidFill>
                <a:latin typeface="Consolas"/>
              </a:rPr>
              <a:t> → </a:t>
            </a:r>
            <a:r>
              <a:rPr sz="819" b="1">
                <a:solidFill>
                  <a:srgbClr val="E09F3E"/>
                </a:solidFill>
                <a:latin typeface="Consolas"/>
              </a:rPr>
              <a:t>TEMPORAL COMPARISON</a:t>
            </a:r>
            <a:r>
              <a:rPr sz="819" b="1">
                <a:solidFill>
                  <a:srgbClr val="C5A869"/>
                </a:solidFill>
                <a:latin typeface="Consolas"/>
              </a:rPr>
              <a:t> → </a:t>
            </a:r>
            <a:r>
              <a:rPr sz="819" b="1">
                <a:solidFill>
                  <a:srgbClr val="4EA8DE"/>
                </a:solidFill>
                <a:latin typeface="Consolas"/>
              </a:rPr>
              <a:t>EVIDENCE REVIEW</a:t>
            </a:r>
            <a:r>
              <a:rPr sz="819" b="1">
                <a:solidFill>
                  <a:srgbClr val="C5A869"/>
                </a:solidFill>
                <a:latin typeface="Consolas"/>
              </a:rPr>
              <a:t> → </a:t>
            </a:r>
            <a:r>
              <a:rPr sz="819" b="1">
                <a:solidFill>
                  <a:srgbClr val="C5A869"/>
                </a:solidFill>
                <a:latin typeface="Consolas"/>
              </a:rPr>
              <a:t>ANALYST DECISION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920240"/>
            <a:ext cx="5349240" cy="1783080"/>
          </a:xfrm>
          <a:prstGeom prst="roundRect">
            <a:avLst/>
          </a:prstGeom>
          <a:solidFill>
            <a:srgbClr val="111724"/>
          </a:solidFill>
          <a:ln w="12700">
            <a:solidFill>
              <a:srgbClr val="4EA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029968"/>
            <a:ext cx="4983480" cy="1563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 b="1">
                <a:solidFill>
                  <a:srgbClr val="4EA8DE"/>
                </a:solidFill>
                <a:latin typeface="Consolas"/>
              </a:defRPr>
            </a:pPr>
            <a:r>
              <a:t>01 / INFRASTRUCTURE MONITORING</a:t>
            </a:r>
          </a:p>
          <a:p>
            <a:pPr>
              <a:spcBef>
                <a:spcPts val="200"/>
              </a:spcBef>
            </a:pPr>
            <a:r>
              <a:rPr sz="800" b="1">
                <a:solidFill>
                  <a:srgbClr val="F5F3ED"/>
                </a:solidFill>
                <a:latin typeface="Segoe UI"/>
              </a:rPr>
              <a:t>Forward Outpost, Tarmac &amp; Fortified Perimeter Detection</a:t>
            </a:r>
          </a:p>
          <a:p>
            <a:pPr>
              <a:spcBef>
                <a:spcPts val="200"/>
              </a:spcBef>
            </a:pPr>
            <a:r>
              <a:rPr sz="740">
                <a:solidFill>
                  <a:srgbClr val="94A3B8"/>
                </a:solidFill>
                <a:latin typeface="Segoe UI"/>
              </a:rPr>
              <a:t>Quickly discover clandestine military construction, border tarmac paving, or forward fortified compounds. Natural-language intent isolates candidate tiles across thousands of square kilometers in seconds without coordinate guessing, decomposing spectral shifts to verify concrete/built signatures.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5352" y="1920240"/>
            <a:ext cx="5349240" cy="1783080"/>
          </a:xfrm>
          <a:prstGeom prst="roundRect">
            <a:avLst/>
          </a:prstGeom>
          <a:solidFill>
            <a:srgbClr val="111724"/>
          </a:solidFill>
          <a:ln w="12700">
            <a:solidFill>
              <a:srgbClr val="52B7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28232" y="2029968"/>
            <a:ext cx="4983480" cy="1563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 b="1">
                <a:solidFill>
                  <a:srgbClr val="52B788"/>
                </a:solidFill>
                <a:latin typeface="Consolas"/>
              </a:defRPr>
            </a:pPr>
            <a:r>
              <a:t>02 / STRATEGIC SITE DISCOVERY</a:t>
            </a:r>
          </a:p>
          <a:p>
            <a:pPr>
              <a:spcBef>
                <a:spcPts val="200"/>
              </a:spcBef>
            </a:pPr>
            <a:r>
              <a:rPr sz="800" b="1">
                <a:solidFill>
                  <a:srgbClr val="F5F3ED"/>
                </a:solidFill>
                <a:latin typeface="Segoe UI"/>
              </a:rPr>
              <a:t>Cross-Theater Facility Pattern Matching</a:t>
            </a:r>
          </a:p>
          <a:p>
            <a:pPr>
              <a:spcBef>
                <a:spcPts val="200"/>
              </a:spcBef>
            </a:pPr>
            <a:r>
              <a:rPr sz="740">
                <a:solidFill>
                  <a:srgbClr val="94A3B8"/>
                </a:solidFill>
                <a:latin typeface="Segoe UI"/>
              </a:rPr>
              <a:t>Given an operational requirement or known facility archetype, query the RemoteCLIP FAISS index to discover geographically separated candidate sites with similar visual-semantic features across the operational theater, cutting manual catalog triage by hours.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3867912"/>
            <a:ext cx="5349240" cy="1783080"/>
          </a:xfrm>
          <a:prstGeom prst="roundRect">
            <a:avLst/>
          </a:prstGeom>
          <a:solidFill>
            <a:srgbClr val="111724"/>
          </a:solidFill>
          <a:ln w="12700">
            <a:solidFill>
              <a:srgbClr val="C5A8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977640"/>
            <a:ext cx="4983480" cy="1563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 b="1">
                <a:solidFill>
                  <a:srgbClr val="C5A869"/>
                </a:solidFill>
                <a:latin typeface="Consolas"/>
              </a:defRPr>
            </a:pPr>
            <a:r>
              <a:t>03 / ROAD / TERRAIN CORRIDOR CHANGE</a:t>
            </a:r>
          </a:p>
          <a:p>
            <a:pPr>
              <a:spcBef>
                <a:spcPts val="200"/>
              </a:spcBef>
            </a:pPr>
            <a:r>
              <a:rPr sz="800" b="1">
                <a:solidFill>
                  <a:srgbClr val="F5F3ED"/>
                </a:solidFill>
                <a:latin typeface="Segoe UI"/>
              </a:rPr>
              <a:t>Frontier Logistics Tracks, Earth Clearings &amp; Bridgeheads</a:t>
            </a:r>
          </a:p>
          <a:p>
            <a:pPr>
              <a:spcBef>
                <a:spcPts val="200"/>
              </a:spcBef>
            </a:pPr>
            <a:r>
              <a:rPr sz="740">
                <a:solidFill>
                  <a:srgbClr val="94A3B8"/>
                </a:solidFill>
                <a:latin typeface="Segoe UI"/>
              </a:rPr>
              <a:t>Track emerging logistics road corridors and supply clearings across rugged frontier terrain. Spatial coherence analysis confirms contiguous linear infrastructure features while suppressing isolated single-pixel seasonal slope washouts and speckle.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45352" y="3867912"/>
            <a:ext cx="5349240" cy="1783080"/>
          </a:xfrm>
          <a:prstGeom prst="roundRect">
            <a:avLst/>
          </a:prstGeom>
          <a:solidFill>
            <a:srgbClr val="111724"/>
          </a:solidFill>
          <a:ln w="12700">
            <a:solidFill>
              <a:srgbClr val="E09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28232" y="3977640"/>
            <a:ext cx="4983480" cy="1563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 b="1">
                <a:solidFill>
                  <a:srgbClr val="E09F3E"/>
                </a:solidFill>
                <a:latin typeface="Consolas"/>
              </a:defRPr>
            </a:pPr>
            <a:r>
              <a:t>04 / VEGETATION / WATER INTERPRETATION</a:t>
            </a:r>
          </a:p>
          <a:p>
            <a:pPr>
              <a:spcBef>
                <a:spcPts val="200"/>
              </a:spcBef>
            </a:pPr>
            <a:r>
              <a:rPr sz="800" b="1">
                <a:solidFill>
                  <a:srgbClr val="F5F3ED"/>
                </a:solidFill>
                <a:latin typeface="Segoe UI"/>
              </a:rPr>
              <a:t>Defending Against False-Alarm Alert Fatigue</a:t>
            </a:r>
          </a:p>
          <a:p>
            <a:pPr>
              <a:spcBef>
                <a:spcPts val="200"/>
              </a:spcBef>
            </a:pPr>
            <a:r>
              <a:rPr sz="740">
                <a:solidFill>
                  <a:srgbClr val="94A3B8"/>
                </a:solidFill>
                <a:latin typeface="Segoe UI"/>
              </a:rPr>
              <a:t>Enforces 3-date MECE persistence trajectories to distinguish agricultural crop cycles (monsoon greening to harvest senescence) from permanent ground-cover conversion, protecting command staff from false alarms while monitoring water reservoir expansion.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" y="5833872"/>
            <a:ext cx="11002975" cy="566928"/>
          </a:xfrm>
          <a:prstGeom prst="roundRect">
            <a:avLst/>
          </a:prstGeom>
          <a:solidFill>
            <a:srgbClr val="111724"/>
          </a:solidFill>
          <a:ln w="12700">
            <a:solidFill>
              <a:srgbClr val="C5A8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5888736"/>
            <a:ext cx="1072865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00" b="1">
                <a:solidFill>
                  <a:srgbClr val="C5A869"/>
                </a:solidFill>
                <a:latin typeface="Consolas"/>
              </a:rPr>
              <a:t>CORE DEFENSE PRINCIPLES:   </a:t>
            </a:r>
            <a:r>
              <a:rPr sz="760">
                <a:solidFill>
                  <a:srgbClr val="F5F3ED"/>
                </a:solidFill>
                <a:latin typeface="Segoe UI"/>
              </a:rPr>
              <a:t>[OFFLINE: Air-gapped on-premises execution]   </a:t>
            </a:r>
            <a:r>
              <a:rPr sz="760">
                <a:solidFill>
                  <a:srgbClr val="F5F3ED"/>
                </a:solidFill>
                <a:latin typeface="Segoe UI"/>
              </a:rPr>
              <a:t>[AUDITABLE: Deterministic physical optics &amp; spectral indices]   </a:t>
            </a:r>
            <a:r>
              <a:rPr sz="760">
                <a:solidFill>
                  <a:srgbClr val="F5F3ED"/>
                </a:solidFill>
                <a:latin typeface="Segoe UI"/>
              </a:rPr>
              <a:t>[CONSERVATIVE: Ambiguous cases routed to REVIEW]   </a:t>
            </a:r>
          </a:p>
          <a:p>
            <a:pPr algn="ctr">
              <a:spcBef>
                <a:spcPts val="200"/>
              </a:spcBef>
            </a:pPr>
            <a:r>
              <a:rPr sz="950" b="1">
                <a:solidFill>
                  <a:srgbClr val="C5A869"/>
                </a:solidFill>
                <a:latin typeface="Georgia"/>
              </a:rPr>
              <a:t>“The goal is not to make every result positive. The goal is to make the result explainable.”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" y="256032"/>
            <a:ext cx="11002975" cy="22860"/>
          </a:xfrm>
          <a:prstGeom prst="rect">
            <a:avLst/>
          </a:prstGeom>
          <a:solidFill>
            <a:srgbClr val="C5A8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01752"/>
            <a:ext cx="77724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00" b="1">
                <a:solidFill>
                  <a:srgbClr val="C5A869"/>
                </a:solidFill>
                <a:latin typeface="Consolas"/>
              </a:defRPr>
            </a:pPr>
            <a:r>
              <a:t>SMART INDIA HACKATHON 2026 · PS: SIH26227 · SPACE TECHNOLOGY · SOFTWARE · MINISTRY OF DEFENCE / INDIAN ARMY — DGIS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301752"/>
            <a:ext cx="3182112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00">
                <a:solidFill>
                  <a:srgbClr val="94A3B8"/>
                </a:solidFill>
                <a:latin typeface="Consolas"/>
              </a:rPr>
              <a:t>TEAM: Quantumcrew  |  </a:t>
            </a:r>
            <a:r>
              <a:rPr sz="800" b="1">
                <a:solidFill>
                  <a:srgbClr val="4EA8DE"/>
                </a:solidFill>
                <a:latin typeface="Consolas"/>
              </a:rPr>
              <a:t>SLIDE 06 / 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548640"/>
            <a:ext cx="11002975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50" b="1">
                <a:solidFill>
                  <a:srgbClr val="F5F3ED"/>
                </a:solidFill>
                <a:latin typeface="Georgia"/>
              </a:defRPr>
            </a:pPr>
            <a:r>
              <a:t>06 — RESEARCH &amp; REFERENCES</a:t>
            </a:r>
          </a:p>
          <a:p>
            <a:pPr>
              <a:defRPr sz="950">
                <a:solidFill>
                  <a:srgbClr val="94A3B8"/>
                </a:solidFill>
                <a:latin typeface="Segoe UI"/>
              </a:defRPr>
            </a:pPr>
            <a:r>
              <a:t>EMPIRICAL BENCHMARKS, RESEARCH FOUNDATIONS &amp; PROJECT ACCESS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565392"/>
            <a:ext cx="110029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80">
                <a:solidFill>
                  <a:srgbClr val="64748B"/>
                </a:solidFill>
                <a:latin typeface="Segoe UI"/>
              </a:rPr>
              <a:t>TERRAE — Earth Intelligence Satellite Investigation Console  |  Ministry of Defence / Indian Army — DGIS  |  SIH 2026 Submission</a:t>
            </a:r>
            <a:r>
              <a:rPr sz="780">
                <a:solidFill>
                  <a:srgbClr val="64748B"/>
                </a:solidFill>
                <a:latin typeface="Segoe UI"/>
              </a:rPr>
              <a:t>                                                         Live Console: </a:t>
            </a:r>
            <a:r>
              <a:rPr sz="780">
                <a:solidFill>
                  <a:srgbClr val="4EA8DE"/>
                </a:solidFill>
                <a:latin typeface="Segoe UI"/>
                <a:hlinkClick r:id="rId2"/>
              </a:rPr>
              <a:t>https://terrae-geospatial-intelligence.vercel.app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188720"/>
            <a:ext cx="3291840" cy="3840480"/>
          </a:xfrm>
          <a:prstGeom prst="roundRect">
            <a:avLst/>
          </a:prstGeom>
          <a:solidFill>
            <a:srgbClr val="111724"/>
          </a:solidFill>
          <a:ln w="12700">
            <a:solidFill>
              <a:srgbClr val="C5A8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298448"/>
            <a:ext cx="301752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 b="1">
                <a:solidFill>
                  <a:srgbClr val="C5A869"/>
                </a:solidFill>
                <a:latin typeface="Consolas"/>
              </a:defRPr>
            </a:pPr>
            <a:r>
              <a:t>RESEARCH FOUNDATION FLOW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627632"/>
            <a:ext cx="3017520" cy="621792"/>
          </a:xfrm>
          <a:prstGeom prst="roundRect">
            <a:avLst/>
          </a:prstGeom>
          <a:solidFill>
            <a:srgbClr val="171F30"/>
          </a:solidFill>
          <a:ln w="12700">
            <a:solidFill>
              <a:srgbClr val="253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664208"/>
            <a:ext cx="283464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60" b="1">
                <a:solidFill>
                  <a:srgbClr val="4EA8DE"/>
                </a:solidFill>
                <a:latin typeface="Segoe UI"/>
              </a:rPr>
              <a:t>1. RemoteCLIP </a:t>
            </a:r>
            <a:r>
              <a:rPr sz="680">
                <a:solidFill>
                  <a:srgbClr val="94A3B8"/>
                </a:solidFill>
                <a:latin typeface="Segoe UI"/>
              </a:rPr>
              <a:t>(Chen et al., IEEE TGRS 2024)
</a:t>
            </a:r>
          </a:p>
          <a:p>
            <a:r>
              <a:rPr sz="660">
                <a:solidFill>
                  <a:srgbClr val="F5F3ED"/>
                </a:solidFill>
                <a:latin typeface="Segoe UI"/>
              </a:rPr>
              <a:t>Vision-language foundation model tailored for remote sensing semantic search.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2304288"/>
            <a:ext cx="3017520" cy="621792"/>
          </a:xfrm>
          <a:prstGeom prst="roundRect">
            <a:avLst/>
          </a:prstGeom>
          <a:solidFill>
            <a:srgbClr val="171F30"/>
          </a:solidFill>
          <a:ln w="12700">
            <a:solidFill>
              <a:srgbClr val="253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2340864"/>
            <a:ext cx="283464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60" b="1">
                <a:solidFill>
                  <a:srgbClr val="52B788"/>
                </a:solidFill>
                <a:latin typeface="Segoe UI"/>
              </a:rPr>
              <a:t>2. Copernicus Sentinel-2 </a:t>
            </a:r>
            <a:r>
              <a:rPr sz="680">
                <a:solidFill>
                  <a:srgbClr val="94A3B8"/>
                </a:solidFill>
                <a:latin typeface="Segoe UI"/>
              </a:rPr>
              <a:t>(ESA / European Commission)
</a:t>
            </a:r>
          </a:p>
          <a:p>
            <a:r>
              <a:rPr sz="660">
                <a:solidFill>
                  <a:srgbClr val="F5F3ED"/>
                </a:solidFill>
                <a:latin typeface="Segoe UI"/>
              </a:rPr>
              <a:t>Level-2A multispectral surface reflectance products (10m GSD BOA).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2980944"/>
            <a:ext cx="3017520" cy="621792"/>
          </a:xfrm>
          <a:prstGeom prst="roundRect">
            <a:avLst/>
          </a:prstGeom>
          <a:solidFill>
            <a:srgbClr val="171F30"/>
          </a:solidFill>
          <a:ln w="12700">
            <a:solidFill>
              <a:srgbClr val="253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017520"/>
            <a:ext cx="283464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60" b="1">
                <a:solidFill>
                  <a:srgbClr val="C5A869"/>
                </a:solidFill>
                <a:latin typeface="Segoe UI"/>
              </a:rPr>
              <a:t>3. OSCD Benchmark </a:t>
            </a:r>
            <a:r>
              <a:rPr sz="680">
                <a:solidFill>
                  <a:srgbClr val="94A3B8"/>
                </a:solidFill>
                <a:latin typeface="Segoe UI"/>
              </a:rPr>
              <a:t>(Daudt et al., IEEE IGARSS 2018)
</a:t>
            </a:r>
          </a:p>
          <a:p>
            <a:r>
              <a:rPr sz="660">
                <a:solidFill>
                  <a:srgbClr val="F5F3ED"/>
                </a:solidFill>
                <a:latin typeface="Segoe UI"/>
              </a:rPr>
              <a:t>Onera Satellite Change Detection benchmark ground truth.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3657600"/>
            <a:ext cx="3017520" cy="621792"/>
          </a:xfrm>
          <a:prstGeom prst="roundRect">
            <a:avLst/>
          </a:prstGeom>
          <a:solidFill>
            <a:srgbClr val="171F30"/>
          </a:solidFill>
          <a:ln w="12700">
            <a:solidFill>
              <a:srgbClr val="253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3694176"/>
            <a:ext cx="283464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60" b="1">
                <a:solidFill>
                  <a:srgbClr val="C5A869"/>
                </a:solidFill>
                <a:latin typeface="Segoe UI"/>
              </a:rPr>
              <a:t>4. Physical Index Math </a:t>
            </a:r>
            <a:r>
              <a:rPr sz="680">
                <a:solidFill>
                  <a:srgbClr val="94A3B8"/>
                </a:solidFill>
                <a:latin typeface="Segoe UI"/>
              </a:rPr>
              <a:t>(Rouse et al. / McFeeters)
</a:t>
            </a:r>
          </a:p>
          <a:p>
            <a:r>
              <a:rPr sz="660">
                <a:solidFill>
                  <a:srgbClr val="F5F3ED"/>
                </a:solidFill>
                <a:latin typeface="Segoe UI"/>
              </a:rPr>
              <a:t>NDVI &amp; NDWI normalized band ratios for vegetation &amp; water dynamics.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334256"/>
            <a:ext cx="3017520" cy="621792"/>
          </a:xfrm>
          <a:prstGeom prst="roundRect">
            <a:avLst/>
          </a:prstGeom>
          <a:solidFill>
            <a:srgbClr val="171F30"/>
          </a:solidFill>
          <a:ln w="12700">
            <a:solidFill>
              <a:srgbClr val="253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370832"/>
            <a:ext cx="283464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60" b="1">
                <a:solidFill>
                  <a:srgbClr val="C5A869"/>
                </a:solidFill>
                <a:latin typeface="Segoe UI"/>
              </a:rPr>
              <a:t>5. TERRAE Console </a:t>
            </a:r>
            <a:r>
              <a:rPr sz="680">
                <a:solidFill>
                  <a:srgbClr val="94A3B8"/>
                </a:solidFill>
                <a:latin typeface="Segoe UI"/>
              </a:rPr>
              <a:t>(Quantumcrew SIH26227)
</a:t>
            </a:r>
          </a:p>
          <a:p>
            <a:r>
              <a:rPr sz="660">
                <a:solidFill>
                  <a:srgbClr val="F5F3ED"/>
                </a:solidFill>
                <a:latin typeface="Segoe UI"/>
              </a:rPr>
              <a:t>Unified, evidence-based satellite investigation workstation.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977639" y="1188720"/>
            <a:ext cx="4160520" cy="3840480"/>
          </a:xfrm>
          <a:prstGeom prst="roundRect">
            <a:avLst/>
          </a:prstGeom>
          <a:solidFill>
            <a:srgbClr val="111724"/>
          </a:solidFill>
          <a:ln w="12700">
            <a:solidFill>
              <a:srgbClr val="52B7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0" y="1298448"/>
            <a:ext cx="38862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 b="1">
                <a:solidFill>
                  <a:srgbClr val="52B788"/>
                </a:solidFill>
                <a:latin typeface="Consolas"/>
              </a:defRPr>
            </a:pPr>
            <a:r>
              <a:t>VALIDATED EMPIRICAL EVIDENCE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0" y="1645920"/>
            <a:ext cx="3886200" cy="3291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00" b="1">
                <a:solidFill>
                  <a:srgbClr val="C5A869"/>
                </a:solidFill>
                <a:latin typeface="Consolas"/>
              </a:defRPr>
            </a:pPr>
            <a:r>
              <a:t>1. REAL SENTINEL-2 VALIDATION (MGRS 43RGM · NCR INDIA)</a:t>
            </a:r>
          </a:p>
          <a:p>
            <a:r>
              <a:rPr sz="720">
                <a:solidFill>
                  <a:srgbClr val="F5F3ED"/>
                </a:solidFill>
                <a:latin typeface="Segoe UI"/>
              </a:rPr>
              <a:t>• Analysis Tile: 512×512 (262,144 valid pixels, 10m GSD)
• Observations: T0 (19 May 2023), TMID (06 Oct 2023), T1 (05 Dec 2023)
• Change Fractions: T0→TMID: 0.7% | TMID→T1: 0.2% | T0→T1: 1.0%
• Trajectory Distribution: STABLE = 98.75% (258,869 px)
• Attribution: Built 51.1% | Veg 24.7% | Seasonal 19.9% | Unresolved 3.1%
• System Verdict: REVIEW (Conservative routing on 1.0% change)</a:t>
            </a:r>
          </a:p>
          <a:p>
            <a:pPr>
              <a:spcBef>
                <a:spcPts val="500"/>
              </a:spcBef>
              <a:defRPr sz="800" b="1">
                <a:solidFill>
                  <a:srgbClr val="4EA8DE"/>
                </a:solidFill>
                <a:latin typeface="Consolas"/>
              </a:defRPr>
            </a:pPr>
            <a:r>
              <a:t>2. OSCD BENCHMARK — 5-PAIR VALIDATION SUBSET</a:t>
            </a:r>
          </a:p>
          <a:p>
            <a:r>
              <a:rPr sz="700">
                <a:solidFill>
                  <a:srgbClr val="94A3B8"/>
                </a:solidFill>
                <a:latin typeface="Segoe UI"/>
              </a:rPr>
              <a:t>• Pairs: Aguas Claras, Beirut, Bordeaux, Cupertino, Mumbai
• Valid Pixels Evaluated: 3,025,938 valid pixels | Fixed τ = 0.15
• Micro Aggregate: Precision 57.55% | Recall 9.72% | F1 0.1663 | IoU 0.0907
• Macro Average: Precision 52.22% | Recall 7.84% | F1 0.1267 | IoU 0.0692
• Class Imbalance Note: Accuracy (97.90%) is dominated by 97.64% unchanged ground truth. Low recall reflects conservative noise suppression.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0" y="1188720"/>
            <a:ext cx="3459175" cy="3840480"/>
          </a:xfrm>
          <a:prstGeom prst="roundRect">
            <a:avLst/>
          </a:prstGeom>
          <a:solidFill>
            <a:srgbClr val="111724"/>
          </a:solidFill>
          <a:ln w="12700">
            <a:solidFill>
              <a:srgbClr val="4EA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66760" y="1298448"/>
            <a:ext cx="31848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 b="1">
                <a:solidFill>
                  <a:srgbClr val="4EA8DE"/>
                </a:solidFill>
                <a:latin typeface="Consolas"/>
              </a:defRPr>
            </a:pPr>
            <a:r>
              <a:t>PROJECT ACCESS &amp; TEAM DETAILS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66760" y="1645920"/>
            <a:ext cx="3184855" cy="3291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30" b="1">
                <a:solidFill>
                  <a:srgbClr val="F5F3ED"/>
                </a:solidFill>
                <a:latin typeface="Segoe UI"/>
              </a:rPr>
              <a:t>• Team Name: </a:t>
            </a:r>
            <a:r>
              <a:rPr sz="700">
                <a:solidFill>
                  <a:srgbClr val="94A3B8"/>
                </a:solidFill>
                <a:latin typeface="Segoe UI"/>
              </a:rPr>
              <a:t>Quantumcrew</a:t>
            </a:r>
          </a:p>
          <a:p>
            <a:pPr>
              <a:spcBef>
                <a:spcPts val="200"/>
              </a:spcBef>
            </a:pPr>
            <a:r>
              <a:rPr sz="730" b="1">
                <a:solidFill>
                  <a:srgbClr val="F5F3ED"/>
                </a:solidFill>
                <a:latin typeface="Segoe UI"/>
              </a:rPr>
              <a:t>• Team ID: </a:t>
            </a:r>
            <a:r>
              <a:rPr sz="700">
                <a:solidFill>
                  <a:srgbClr val="94A3B8"/>
                </a:solidFill>
                <a:latin typeface="Segoe UI"/>
              </a:rPr>
              <a:t>[Registered Team ID / SIH2026]</a:t>
            </a:r>
          </a:p>
          <a:p>
            <a:pPr>
              <a:spcBef>
                <a:spcPts val="200"/>
              </a:spcBef>
            </a:pPr>
            <a:r>
              <a:rPr sz="730" b="1">
                <a:solidFill>
                  <a:srgbClr val="F5F3ED"/>
                </a:solidFill>
                <a:latin typeface="Segoe UI"/>
              </a:rPr>
              <a:t>• Problem Statement: </a:t>
            </a:r>
            <a:r>
              <a:rPr sz="700">
                <a:solidFill>
                  <a:srgbClr val="94A3B8"/>
                </a:solidFill>
                <a:latin typeface="Segoe UI"/>
              </a:rPr>
              <a:t>SIH26227 (Space Technology)</a:t>
            </a:r>
          </a:p>
          <a:p>
            <a:pPr>
              <a:spcBef>
                <a:spcPts val="200"/>
              </a:spcBef>
            </a:pPr>
            <a:r>
              <a:rPr sz="730" b="1">
                <a:solidFill>
                  <a:srgbClr val="F5F3ED"/>
                </a:solidFill>
                <a:latin typeface="Segoe UI"/>
              </a:rPr>
              <a:t>• Client Mandate: </a:t>
            </a:r>
            <a:r>
              <a:rPr sz="700">
                <a:solidFill>
                  <a:srgbClr val="94A3B8"/>
                </a:solidFill>
                <a:latin typeface="Segoe UI"/>
              </a:rPr>
              <a:t>Ministry of Defence / Indian Army — DGIS</a:t>
            </a:r>
          </a:p>
          <a:p>
            <a:pPr>
              <a:spcBef>
                <a:spcPts val="200"/>
              </a:spcBef>
            </a:pPr>
            <a:r>
              <a:rPr sz="730" b="1">
                <a:solidFill>
                  <a:srgbClr val="F5F3ED"/>
                </a:solidFill>
                <a:latin typeface="Segoe UI"/>
              </a:rPr>
              <a:t>• Category: </a:t>
            </a:r>
            <a:r>
              <a:rPr sz="700">
                <a:solidFill>
                  <a:srgbClr val="94A3B8"/>
                </a:solidFill>
                <a:latin typeface="Segoe UI"/>
              </a:rPr>
              <a:t>Software</a:t>
            </a:r>
          </a:p>
          <a:p>
            <a:pPr>
              <a:spcBef>
                <a:spcPts val="200"/>
              </a:spcBef>
            </a:pPr>
            <a:r>
              <a:rPr sz="730" b="1">
                <a:solidFill>
                  <a:srgbClr val="F5F3ED"/>
                </a:solidFill>
                <a:latin typeface="Segoe UI"/>
              </a:rPr>
              <a:t>• Live Web Console: </a:t>
            </a:r>
            <a:r>
              <a:rPr sz="700">
                <a:solidFill>
                  <a:srgbClr val="4EA8DE"/>
                </a:solidFill>
                <a:latin typeface="Consolas"/>
              </a:rPr>
              <a:t>terrae-geospatial-intelligence.vercel.app</a:t>
            </a:r>
          </a:p>
          <a:p>
            <a:pPr>
              <a:spcBef>
                <a:spcPts val="200"/>
              </a:spcBef>
            </a:pPr>
            <a:r>
              <a:rPr sz="730" b="1">
                <a:solidFill>
                  <a:srgbClr val="F5F3ED"/>
                </a:solidFill>
                <a:latin typeface="Segoe UI"/>
              </a:rPr>
              <a:t>• GitHub Repository: </a:t>
            </a:r>
            <a:r>
              <a:rPr sz="700">
                <a:solidFill>
                  <a:srgbClr val="4EA8DE"/>
                </a:solidFill>
                <a:latin typeface="Consolas"/>
              </a:rPr>
              <a:t>github.com/PhantomCipher13/terrae-geospatial-intelligence</a:t>
            </a:r>
          </a:p>
          <a:p>
            <a:pPr>
              <a:spcBef>
                <a:spcPts val="200"/>
              </a:spcBef>
            </a:pPr>
            <a:r>
              <a:rPr sz="730" b="1">
                <a:solidFill>
                  <a:srgbClr val="F5F3ED"/>
                </a:solidFill>
                <a:latin typeface="Segoe UI"/>
              </a:rPr>
              <a:t>• Technical Report: </a:t>
            </a:r>
            <a:r>
              <a:rPr sz="700">
                <a:solidFill>
                  <a:srgbClr val="94A3B8"/>
                </a:solidFill>
                <a:latin typeface="Consolas"/>
              </a:rPr>
              <a:t>REPORT.md (Full 6-Part Scientific Dossier)</a:t>
            </a:r>
          </a:p>
          <a:p>
            <a:pPr>
              <a:spcBef>
                <a:spcPts val="200"/>
              </a:spcBef>
            </a:pPr>
            <a:r>
              <a:rPr sz="730" b="1">
                <a:solidFill>
                  <a:srgbClr val="F5F3ED"/>
                </a:solidFill>
                <a:latin typeface="Segoe UI"/>
              </a:rPr>
              <a:t>• Automated Tests: </a:t>
            </a:r>
            <a:r>
              <a:rPr sz="700">
                <a:solidFill>
                  <a:srgbClr val="94A3B8"/>
                </a:solidFill>
                <a:latin typeface="Consolas"/>
              </a:rPr>
              <a:t>135 / 135 Tests Passing (pytest)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4360" y="5120640"/>
            <a:ext cx="11002975" cy="777240"/>
          </a:xfrm>
          <a:prstGeom prst="roundRect">
            <a:avLst/>
          </a:prstGeom>
          <a:solidFill>
            <a:srgbClr val="171F30"/>
          </a:solidFill>
          <a:ln w="12700">
            <a:solidFill>
              <a:srgbClr val="253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5175504"/>
            <a:ext cx="10728655" cy="6675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750" b="1">
                <a:solidFill>
                  <a:srgbClr val="C5A869"/>
                </a:solidFill>
                <a:latin typeface="Consolas"/>
              </a:defRPr>
            </a:pPr>
            <a:r>
              <a:t>SCIENTIFIC &amp; BENCHMARK REFERENCES:</a:t>
            </a:r>
          </a:p>
          <a:p>
            <a:r>
              <a:rPr sz="680">
                <a:solidFill>
                  <a:srgbClr val="94A3B8"/>
                </a:solidFill>
                <a:latin typeface="Segoe UI"/>
              </a:rPr>
              <a:t>[1] Chen et al. (2024), RemoteCLIP: A Vision-Language Foundation Model for Remote Sensing, IEEE TGRS.  [2] European Space Agency (ESA), Copernicus Sentinel-2 MSI Level-2A ATBD.  [3] Daudt et al. (2018), Urban Change Detection for Multispectral Earth Observation, IEEE IGARSS (OSCD Benchmark).  [4] Rouse et al. (1974), Monitoring Vegetation Systems with ERTS, NASA SP-351 (NDVI).  [5] McFeeters (1996), Use of NDWI in Delineation of Open Water Features, Int. J. Remote Sens.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4360" y="5961888"/>
            <a:ext cx="11002975" cy="420624"/>
          </a:xfrm>
          <a:prstGeom prst="roundRect">
            <a:avLst/>
          </a:prstGeom>
          <a:solidFill>
            <a:srgbClr val="0F1726"/>
          </a:solidFill>
          <a:ln w="12700">
            <a:solidFill>
              <a:srgbClr val="C5A8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5998464"/>
            <a:ext cx="10728655" cy="34747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150" b="1">
                <a:solidFill>
                  <a:srgbClr val="C5A869"/>
                </a:solidFill>
                <a:latin typeface="Georgia"/>
              </a:rPr>
              <a:t>“Investigate the change. Follow the evidence. Know when to review.”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