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rae-geospatial-intelligence.vercel.app" TargetMode="Externa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92608"/>
            <a:ext cx="11002975" cy="27432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THEME: SPACE TECHNOLOGY · MINISTRY OF DEFENCE (MOD)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47472"/>
            <a:ext cx="3182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Consolas"/>
              </a:rPr>
              <a:t>TEAM: Quantumcrew | </a:t>
            </a:r>
            <a:r>
              <a:rPr sz="850" b="1">
                <a:solidFill>
                  <a:srgbClr val="4EA8DE"/>
                </a:solidFill>
                <a:latin typeface="Consolas"/>
              </a:rPr>
              <a:t>SLIDE 01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"/>
            <a:ext cx="1100297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5F3ED"/>
                </a:solidFill>
                <a:latin typeface="Georgia"/>
              </a:defRPr>
            </a:pPr>
            <a:r>
              <a:t>SATELLITE ARCHIVES ARE SEARCHABLE. INTELLIGENCE ISN'T.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SIH26227 — Semantic Retrieval and Multi-Temporal Change Analysis of Satellite Imagery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1100297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Segoe UI"/>
              </a:rPr>
              <a:t>GEOAI — Evidence-Based Satellite Investigation Workstation  |  Ministry of Defence (MoD) / Indian Army — DGIS  |  SIH 2026 Submission</a:t>
            </a:r>
            <a:r>
              <a:rPr sz="800">
                <a:solidFill>
                  <a:srgbClr val="64748B"/>
                </a:solidFill>
                <a:latin typeface="Segoe UI"/>
              </a:rPr>
              <a:t>                                                                    Live Console: </a:t>
            </a:r>
            <a:r>
              <a:rPr sz="80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34440"/>
            <a:ext cx="11002975" cy="50292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98448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C5A869"/>
                </a:solidFill>
                <a:latin typeface="Georgia"/>
              </a:rPr>
              <a:t>“Finding a changed pixel is easy. Knowing whether it matters is harder.”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828800"/>
            <a:ext cx="3291840" cy="3977639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3017520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09F3E"/>
                </a:solidFill>
                <a:latin typeface="Consolas"/>
              </a:defRPr>
            </a:pPr>
            <a:r>
              <a:t>TRADITIONAL WORKFLOW (STATUS QUO)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01 / METADATA SEARCH
</a:t>
            </a:r>
            <a:r>
              <a:rPr sz="800">
                <a:solidFill>
                  <a:srgbClr val="94A3B8"/>
                </a:solidFill>
                <a:latin typeface="Segoe UI"/>
              </a:rPr>
              <a:t>  Filter by sensor catalog, timestamps &amp; cloud %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02 / COORDINATE BOUNDING
</a:t>
            </a:r>
            <a:r>
              <a:rPr sz="800">
                <a:solidFill>
                  <a:srgbClr val="94A3B8"/>
                </a:solidFill>
                <a:latin typeface="Segoe UI"/>
              </a:rPr>
              <a:t>  Manual bounding-box geographic guesswork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03 / SCENE TRIAGE
</a:t>
            </a:r>
            <a:r>
              <a:rPr sz="800">
                <a:solidFill>
                  <a:srgbClr val="94A3B8"/>
                </a:solidFill>
                <a:latin typeface="Segoe UI"/>
              </a:rPr>
              <a:t>  Download multi-gigabyte raw GeoTIFF tiles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04 / BLINK INSPECTION
</a:t>
            </a:r>
            <a:r>
              <a:rPr sz="800">
                <a:solidFill>
                  <a:srgbClr val="94A3B8"/>
                </a:solidFill>
                <a:latin typeface="Segoe UI"/>
              </a:rPr>
              <a:t>  Flicker T0 vs T1 images manually on screen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05 / PIXEL DIFFERENCING
</a:t>
            </a:r>
            <a:r>
              <a:rPr sz="800">
                <a:solidFill>
                  <a:srgbClr val="94A3B8"/>
                </a:solidFill>
                <a:latin typeface="Segoe UI"/>
              </a:rPr>
              <a:t>  Crude thresholds flag thousands of false alarms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06 / MANUAL GUESSWORK
</a:t>
            </a:r>
            <a:r>
              <a:rPr sz="800">
                <a:solidFill>
                  <a:srgbClr val="94A3B8"/>
                </a:solidFill>
                <a:latin typeface="Segoe UI"/>
              </a:rPr>
              <a:t>  Analyst forced to interpret cause without proof</a:t>
            </a:r>
          </a:p>
          <a:p>
            <a:pPr>
              <a:spcBef>
                <a:spcPts val="600"/>
              </a:spcBef>
            </a:pPr>
            <a:r>
              <a:rPr sz="780" b="1">
                <a:solidFill>
                  <a:srgbClr val="E09F3E"/>
                </a:solidFill>
                <a:latin typeface="Segoe UI"/>
              </a:rPr>
              <a:t>CRITICAL FLAW: 98%+ of raw pixel alerts represent ephemeral phenology, moisture, or sun angle, creating severe analyst alert fatigue.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1828800"/>
            <a:ext cx="3931920" cy="3977639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965960"/>
            <a:ext cx="3657600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EA8DE"/>
                </a:solidFill>
                <a:latin typeface="Consolas"/>
              </a:defRPr>
            </a:pPr>
            <a:r>
              <a:t>REAL DEFENSE INTELLIGENCE QUESTION</a:t>
            </a:r>
          </a:p>
          <a:p>
            <a:pPr>
              <a:spcBef>
                <a:spcPts val="500"/>
              </a:spcBef>
            </a:pPr>
            <a:r>
              <a:rPr sz="1050" b="1">
                <a:solidFill>
                  <a:srgbClr val="F5F3ED"/>
                </a:solidFill>
                <a:latin typeface="Georgia"/>
              </a:rPr>
              <a:t>“Show me areas with newly built structures near a river corridor.”
</a:t>
            </a:r>
          </a:p>
          <a:p>
            <a:pPr>
              <a:spcBef>
                <a:spcPts val="500"/>
              </a:spcBef>
            </a:pPr>
            <a:r>
              <a:rPr sz="850" b="1">
                <a:solidFill>
                  <a:srgbClr val="C5A869"/>
                </a:solidFill>
                <a:latin typeface="Segoe UI"/>
              </a:rPr>
              <a:t>• Multi-Temporal Scale: </a:t>
            </a:r>
            <a:r>
              <a:rPr sz="800">
                <a:solidFill>
                  <a:srgbClr val="94A3B8"/>
                </a:solidFill>
                <a:latin typeface="Segoe UI"/>
              </a:rPr>
              <a:t>Petabytes of imagery stream daily; pixel matching without semantic discovery is computationally impossible.</a:t>
            </a:r>
          </a:p>
          <a:p>
            <a:pPr>
              <a:spcBef>
                <a:spcPts val="500"/>
              </a:spcBef>
            </a:pPr>
            <a:r>
              <a:rPr sz="850" b="1">
                <a:solidFill>
                  <a:srgbClr val="C5A869"/>
                </a:solidFill>
                <a:latin typeface="Segoe UI"/>
              </a:rPr>
              <a:t>• Phenological Masking: </a:t>
            </a:r>
            <a:r>
              <a:rPr sz="800">
                <a:solidFill>
                  <a:srgbClr val="94A3B8"/>
                </a:solidFill>
                <a:latin typeface="Segoe UI"/>
              </a:rPr>
              <a:t>Seasonal crop flush (monsoon) and harvest senescence look identical to construction in simple differencing.</a:t>
            </a:r>
          </a:p>
          <a:p>
            <a:pPr>
              <a:spcBef>
                <a:spcPts val="500"/>
              </a:spcBef>
            </a:pPr>
            <a:r>
              <a:rPr sz="850" b="1">
                <a:solidFill>
                  <a:srgbClr val="C5A869"/>
                </a:solidFill>
                <a:latin typeface="Segoe UI"/>
              </a:rPr>
              <a:t>• Atmospheric &amp; Sensor Noise: </a:t>
            </a:r>
            <a:r>
              <a:rPr sz="800">
                <a:solidFill>
                  <a:srgbClr val="94A3B8"/>
                </a:solidFill>
                <a:latin typeface="Segoe UI"/>
              </a:rPr>
              <a:t>Sub-pixel misregistration, thin cirrus, and sun glint trigger dense clusters of false change.</a:t>
            </a:r>
          </a:p>
          <a:p>
            <a:pPr>
              <a:spcBef>
                <a:spcPts val="500"/>
              </a:spcBef>
            </a:pPr>
            <a:r>
              <a:rPr sz="850" b="1">
                <a:solidFill>
                  <a:srgbClr val="C5A869"/>
                </a:solidFill>
                <a:latin typeface="Segoe UI"/>
              </a:rPr>
              <a:t>• Provenance &amp; Offline Need: </a:t>
            </a:r>
            <a:r>
              <a:rPr sz="800">
                <a:solidFill>
                  <a:srgbClr val="94A3B8"/>
                </a:solidFill>
                <a:latin typeface="Segoe UI"/>
              </a:rPr>
              <a:t>Defense analysts require strict auditability, repeatable evidence chains, and 100% on-premises operation.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828800"/>
            <a:ext cx="3596335" cy="3977639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ro_beirut_1920x10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920240"/>
            <a:ext cx="3413455" cy="2148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92440" y="4160520"/>
            <a:ext cx="3413455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52B788"/>
                </a:solidFill>
                <a:latin typeface="Consolas"/>
              </a:defRPr>
            </a:pPr>
            <a:r>
              <a:t>DEFENSE OPERATIONAL REALITY</a:t>
            </a:r>
          </a:p>
          <a:p>
            <a:pPr>
              <a:spcBef>
                <a:spcPts val="200"/>
              </a:spcBef>
            </a:pPr>
            <a:r>
              <a:rPr sz="800">
                <a:solidFill>
                  <a:srgbClr val="94A3B8"/>
                </a:solidFill>
                <a:latin typeface="Segoe UI"/>
              </a:rPr>
              <a:t>▪ Authentic Sentinel-2 L2A BOA reflectance (10m GSD).</a:t>
            </a:r>
          </a:p>
          <a:p>
            <a:pPr>
              <a:spcBef>
                <a:spcPts val="200"/>
              </a:spcBef>
            </a:pPr>
            <a:r>
              <a:rPr sz="800">
                <a:solidFill>
                  <a:srgbClr val="94A3B8"/>
                </a:solidFill>
                <a:latin typeface="Segoe UI"/>
              </a:rPr>
              <a:t>▪ High density urban, coastal, and agrarian terrain.</a:t>
            </a:r>
          </a:p>
          <a:p>
            <a:pPr>
              <a:spcBef>
                <a:spcPts val="200"/>
              </a:spcBef>
            </a:pPr>
            <a:r>
              <a:rPr sz="800">
                <a:solidFill>
                  <a:srgbClr val="94A3B8"/>
                </a:solidFill>
                <a:latin typeface="Segoe UI"/>
              </a:rPr>
              <a:t>▪ Change must be physically decomposed across bands, not guessed from pixel luminosity.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897880"/>
            <a:ext cx="11002975" cy="502920"/>
          </a:xfrm>
          <a:prstGeom prst="roundRect">
            <a:avLst/>
          </a:prstGeom>
          <a:solidFill>
            <a:srgbClr val="0F1726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961888"/>
            <a:ext cx="108200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C5A869"/>
                </a:solidFill>
                <a:latin typeface="Consolas"/>
              </a:rPr>
              <a:t>PS SIH26227 CORE ALIGNMENT:  </a:t>
            </a:r>
            <a:r>
              <a:rPr sz="800" b="1">
                <a:solidFill>
                  <a:srgbClr val="4EA8DE"/>
                </a:solidFill>
                <a:latin typeface="Consolas"/>
              </a:rPr>
              <a:t>[1. SEMANTIC RETRIEVAL]   </a:t>
            </a:r>
            <a:r>
              <a:rPr sz="800" b="1">
                <a:solidFill>
                  <a:srgbClr val="52B788"/>
                </a:solidFill>
                <a:latin typeface="Consolas"/>
              </a:rPr>
              <a:t>[2. MULTI-TEMPORAL ANALYSIS]   </a:t>
            </a:r>
            <a:r>
              <a:rPr sz="800" b="1">
                <a:solidFill>
                  <a:srgbClr val="E09F3E"/>
                </a:solidFill>
                <a:latin typeface="Consolas"/>
              </a:rPr>
              <a:t>[3. FALSE-ALARM SUPPRESSION]   </a:t>
            </a:r>
            <a:r>
              <a:rPr sz="800" b="1">
                <a:solidFill>
                  <a:srgbClr val="F5F3ED"/>
                </a:solidFill>
                <a:latin typeface="Consolas"/>
              </a:rPr>
              <a:t>[4. ANALYST PROVENANCE]   </a:t>
            </a:r>
            <a:r>
              <a:rPr sz="800" b="1">
                <a:solidFill>
                  <a:srgbClr val="4EA8DE"/>
                </a:solidFill>
                <a:latin typeface="Consolas"/>
              </a:rPr>
              <a:t>[5. OFFLINE OPERATION] 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92608"/>
            <a:ext cx="11002975" cy="27432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THEME: SPACE TECHNOLOGY · MINISTRY OF DEFENCE (MOD)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47472"/>
            <a:ext cx="3182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Consolas"/>
              </a:rPr>
              <a:t>TEAM: Quantumcrew | </a:t>
            </a:r>
            <a:r>
              <a:rPr sz="850" b="1">
                <a:solidFill>
                  <a:srgbClr val="4EA8DE"/>
                </a:solidFill>
                <a:latin typeface="Consolas"/>
              </a:rPr>
              <a:t>SLIDE 02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"/>
            <a:ext cx="1100297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5F3ED"/>
                </a:solidFill>
                <a:latin typeface="Georgia"/>
              </a:defRPr>
            </a:pPr>
            <a:r>
              <a:t>FROM NATURAL-LANGUAGE QUERY TO EVIDENCE-BACKED INVESTIGATION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An analyst-first workstation transforming natural intent into verified multi-spectral evidence dossiers.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1100297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Segoe UI"/>
              </a:rPr>
              <a:t>GEOAI — Evidence-Based Satellite Investigation Workstation  |  Ministry of Defence (MoD) / Indian Army — DGIS  |  SIH 2026 Submission</a:t>
            </a:r>
            <a:r>
              <a:rPr sz="800">
                <a:solidFill>
                  <a:srgbClr val="64748B"/>
                </a:solidFill>
                <a:latin typeface="Segoe UI"/>
              </a:rPr>
              <a:t>                                                                    Live Console: </a:t>
            </a:r>
            <a:r>
              <a:rPr sz="80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34440"/>
            <a:ext cx="11002975" cy="73152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07592"/>
            <a:ext cx="1571853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4EA8DE"/>
                </a:solidFill>
                <a:latin typeface="Consolas"/>
              </a:rPr>
              <a:t>01 ASK
</a:t>
            </a:r>
          </a:p>
          <a:p>
            <a:pPr algn="ctr"/>
            <a:r>
              <a:rPr sz="720">
                <a:solidFill>
                  <a:srgbClr val="94A3B8"/>
                </a:solidFill>
                <a:latin typeface="Segoe UI"/>
              </a:rPr>
              <a:t>Natural Intent
Query 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6213" y="1307592"/>
            <a:ext cx="1571853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4EA8DE"/>
                </a:solidFill>
                <a:latin typeface="Consolas"/>
              </a:rPr>
              <a:t>02 DISCOVER
</a:t>
            </a:r>
          </a:p>
          <a:p>
            <a:pPr algn="ctr"/>
            <a:r>
              <a:rPr sz="720">
                <a:solidFill>
                  <a:srgbClr val="94A3B8"/>
                </a:solidFill>
                <a:latin typeface="Segoe UI"/>
              </a:rPr>
              <a:t>RemoteCLIP + FAISS
Semantic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8066" y="1307592"/>
            <a:ext cx="1571853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5F3ED"/>
                </a:solidFill>
                <a:latin typeface="Consolas"/>
              </a:rPr>
              <a:t>03 LOCATE
</a:t>
            </a:r>
          </a:p>
          <a:p>
            <a:pPr algn="ctr"/>
            <a:r>
              <a:rPr sz="720">
                <a:solidFill>
                  <a:srgbClr val="94A3B8"/>
                </a:solidFill>
                <a:latin typeface="Segoe UI"/>
              </a:rPr>
              <a:t>MGRS Coordinate
Bounding 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9919" y="1307592"/>
            <a:ext cx="1571853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5F3ED"/>
                </a:solidFill>
                <a:latin typeface="Consolas"/>
              </a:rPr>
              <a:t>04 COMPARE
</a:t>
            </a:r>
          </a:p>
          <a:p>
            <a:pPr algn="ctr"/>
            <a:r>
              <a:rPr sz="720">
                <a:solidFill>
                  <a:srgbClr val="94A3B8"/>
                </a:solidFill>
                <a:latin typeface="Segoe UI"/>
              </a:rPr>
              <a:t>Sub-Pixel Calibrated
Bi-Temporal Diff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1772" y="1307592"/>
            <a:ext cx="1571853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5F3ED"/>
                </a:solidFill>
                <a:latin typeface="Consolas"/>
              </a:rPr>
              <a:t>05 EXPLAIN
</a:t>
            </a:r>
          </a:p>
          <a:p>
            <a:pPr algn="ctr"/>
            <a:r>
              <a:rPr sz="720">
                <a:solidFill>
                  <a:srgbClr val="94A3B8"/>
                </a:solidFill>
                <a:latin typeface="Segoe UI"/>
              </a:rPr>
              <a:t>Multi-Spectral Math
&amp; Spatial Topology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3625" y="1307592"/>
            <a:ext cx="1571853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5F3ED"/>
                </a:solidFill>
                <a:latin typeface="Consolas"/>
              </a:rPr>
              <a:t>06 CHALLENGE
</a:t>
            </a:r>
          </a:p>
          <a:p>
            <a:pPr algn="ctr"/>
            <a:r>
              <a:rPr sz="720">
                <a:solidFill>
                  <a:srgbClr val="94A3B8"/>
                </a:solidFill>
                <a:latin typeface="Segoe UI"/>
              </a:rPr>
              <a:t>Competing Hypotheses
&amp; Trajectory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25478" y="1307592"/>
            <a:ext cx="1571853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C5A869"/>
                </a:solidFill>
                <a:latin typeface="Consolas"/>
              </a:rPr>
              <a:t>07 DECIDE
</a:t>
            </a:r>
          </a:p>
          <a:p>
            <a:pPr algn="ctr"/>
            <a:r>
              <a:rPr sz="720">
                <a:solidFill>
                  <a:srgbClr val="94A3B8"/>
                </a:solidFill>
                <a:latin typeface="Segoe UI"/>
              </a:rPr>
              <a:t>SUPPORTED / REVIEW
Cryptographic Proof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057400"/>
            <a:ext cx="3931920" cy="434340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48840"/>
            <a:ext cx="365760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C5A869"/>
                </a:solidFill>
                <a:latin typeface="Consolas"/>
              </a:defRPr>
            </a:pPr>
            <a:r>
              <a:t>NOT JUST CHANGE DETECTION. INVESTIGATION.</a:t>
            </a:r>
          </a:p>
          <a:p>
            <a:pPr>
              <a:spcBef>
                <a:spcPts val="300"/>
              </a:spcBef>
            </a:pPr>
            <a:r>
              <a:rPr sz="819">
                <a:solidFill>
                  <a:srgbClr val="94A3B8"/>
                </a:solidFill>
                <a:latin typeface="Segoe UI"/>
              </a:rPr>
              <a:t>The system refuses to blindly declare change. Instead, it provides an auditable defense evidence trail answering: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4EA8DE"/>
                </a:solidFill>
                <a:latin typeface="Segoe UI"/>
              </a:rPr>
              <a:t>▪ WHAT changed? </a:t>
            </a:r>
            <a:r>
              <a:rPr sz="780">
                <a:solidFill>
                  <a:srgbClr val="F5F3ED"/>
                </a:solidFill>
                <a:latin typeface="Segoe UI"/>
              </a:rPr>
              <a:t>Exact reflectance deltas across Blue, Green, Red, NIR.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4EA8DE"/>
                </a:solidFill>
                <a:latin typeface="Segoe UI"/>
              </a:rPr>
              <a:t>▪ WHERE is it located? </a:t>
            </a:r>
            <a:r>
              <a:rPr sz="780">
                <a:solidFill>
                  <a:srgbClr val="F5F3ED"/>
                </a:solidFill>
                <a:latin typeface="Segoe UI"/>
              </a:rPr>
              <a:t>Canonical MGRS tile EPSG:32643 coordinate frame.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4EA8DE"/>
                </a:solidFill>
                <a:latin typeface="Segoe UI"/>
              </a:rPr>
              <a:t>▪ WHAT supports it? </a:t>
            </a:r>
            <a:r>
              <a:rPr sz="780">
                <a:solidFill>
                  <a:srgbClr val="F5F3ED"/>
                </a:solidFill>
                <a:latin typeface="Segoe UI"/>
              </a:rPr>
              <a:t>ΔNIR, ΔRed, NDVI shifts + connected component clustering.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4EA8DE"/>
                </a:solidFill>
                <a:latin typeface="Segoe UI"/>
              </a:rPr>
              <a:t>▪ WHAT alternatives exist? </a:t>
            </a:r>
            <a:r>
              <a:rPr sz="780">
                <a:solidFill>
                  <a:srgbClr val="F5F3ED"/>
                </a:solidFill>
                <a:latin typeface="Segoe UI"/>
              </a:rPr>
              <a:t>Competes against crop senescence, water &amp; cloud shadows.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4EA8DE"/>
                </a:solidFill>
                <a:latin typeface="Segoe UI"/>
              </a:rPr>
              <a:t>▪ HOW strong is evidence? </a:t>
            </a:r>
            <a:r>
              <a:rPr sz="780">
                <a:solidFill>
                  <a:srgbClr val="F5F3ED"/>
                </a:solidFill>
                <a:latin typeface="Segoe UI"/>
              </a:rPr>
              <a:t>Heuristic attribution support based on physical optics.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4EA8DE"/>
                </a:solidFill>
                <a:latin typeface="Segoe UI"/>
              </a:rPr>
              <a:t>▪ WHEN to abstain? </a:t>
            </a:r>
            <a:r>
              <a:rPr sz="780">
                <a:solidFill>
                  <a:srgbClr val="F5F3ED"/>
                </a:solidFill>
                <a:latin typeface="Segoe UI"/>
              </a:rPr>
              <a:t>SCL cloud/snow occlusion, defective pixels, or sub-threshold SNR.</a:t>
            </a:r>
          </a:p>
          <a:p>
            <a:pPr>
              <a:spcBef>
                <a:spcPts val="600"/>
              </a:spcBef>
            </a:pPr>
            <a:r>
              <a:rPr sz="850" b="1">
                <a:solidFill>
                  <a:srgbClr val="F5F3ED"/>
                </a:solidFill>
                <a:latin typeface="Consolas"/>
              </a:rPr>
              <a:t>THREE HONEST ANALYTICAL VERDICTS:
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52B788"/>
                </a:solidFill>
                <a:latin typeface="Segoe UI"/>
              </a:rPr>
              <a:t>✔ SUPPORTED: </a:t>
            </a:r>
            <a:r>
              <a:rPr sz="750">
                <a:solidFill>
                  <a:srgbClr val="94A3B8"/>
                </a:solidFill>
                <a:latin typeface="Segoe UI"/>
              </a:rPr>
              <a:t>High spatial coherence (&gt;70%) + clear spectral match + persistence.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E09F3E"/>
                </a:solidFill>
                <a:latin typeface="Segoe UI"/>
              </a:rPr>
              <a:t>⚠ REVIEW: </a:t>
            </a:r>
            <a:r>
              <a:rPr sz="750">
                <a:solidFill>
                  <a:srgbClr val="94A3B8"/>
                </a:solidFill>
                <a:latin typeface="Segoe UI"/>
              </a:rPr>
              <a:t>Mixed evidence, borderline coherence, or seasonal trajectory ambiguity.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EF4444"/>
                </a:solidFill>
                <a:latin typeface="Segoe UI"/>
              </a:rPr>
              <a:t>✖ ABSTAIN: </a:t>
            </a:r>
            <a:r>
              <a:rPr sz="750">
                <a:solidFill>
                  <a:srgbClr val="94A3B8"/>
                </a:solidFill>
                <a:latin typeface="Segoe UI"/>
              </a:rPr>
              <a:t>SCL cloud/shadow obstruction, saturated pixels, or noise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2057400"/>
            <a:ext cx="6949440" cy="434340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2148840"/>
            <a:ext cx="6675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4EA8DE"/>
                </a:solidFill>
                <a:latin typeface="Consolas"/>
              </a:defRPr>
            </a:pPr>
            <a:r>
              <a:t>OPERATIONAL ANALYST WORKSTATION · CASE 01 CONTROLLED VALIDATION</a:t>
            </a:r>
          </a:p>
          <a:p>
            <a:r>
              <a:rPr sz="750">
                <a:solidFill>
                  <a:srgbClr val="94A3B8"/>
                </a:solidFill>
                <a:latin typeface="Consolas"/>
              </a:rPr>
              <a:t>QUERY HYPOTHESIS: “new construction and buildings”  |  TILE: 256×256 (65,536 px)  |  10M GSD  |  AIR-GAPPED</a:t>
            </a:r>
          </a:p>
        </p:txBody>
      </p:sp>
      <p:pic>
        <p:nvPicPr>
          <p:cNvPr id="20" name="Picture 19" descr="PROD_09_WORKSTATION_19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697480"/>
            <a:ext cx="6675120" cy="25146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4754880" y="5303520"/>
            <a:ext cx="6675120" cy="100584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534924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C5A869"/>
                </a:solidFill>
                <a:latin typeface="Consolas"/>
              </a:defRPr>
            </a:pPr>
            <a:r>
              <a:t>EVIDENCE ATTRIBUTION CHAIN:  7,549 px Changed (11.5%)  |  Spatial Coherence: 99.7%  |  Component Count: 1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F5F3ED"/>
                </a:solidFill>
                <a:latin typeface="Segoe UI"/>
              </a:rPr>
              <a:t>▪ ΔNIR Mean: -1.54% (Low NIR Reflectance (Non-Vegetative))   </a:t>
            </a:r>
            <a:r>
              <a:rPr sz="750">
                <a:solidFill>
                  <a:srgbClr val="F5F3ED"/>
                </a:solidFill>
                <a:latin typeface="Segoe UI"/>
              </a:rPr>
              <a:t>▪ ΔRed Mean: +21.52% (Strong Concrete/Built Reflectance)   </a:t>
            </a:r>
            <a:r>
              <a:rPr sz="750">
                <a:solidFill>
                  <a:srgbClr val="F5F3ED"/>
                </a:solidFill>
                <a:latin typeface="Segoe UI"/>
              </a:rPr>
              <a:t>▪ ΔNDVI: -0.75 (Severe Canopy Depletion)   </a:t>
            </a:r>
            <a:r>
              <a:rPr sz="750">
                <a:solidFill>
                  <a:srgbClr val="F5F3ED"/>
                </a:solidFill>
                <a:latin typeface="Segoe UI"/>
              </a:rPr>
              <a:t>▪ Built-Surface Support: 97.1% (Affirmative Heuristic Fit)   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52B788"/>
                </a:solidFill>
                <a:latin typeface="Consolas"/>
              </a:rPr>
              <a:t>SYSTEM VERDICT: ✔ SUPPORTED · AFFIRMATIVE CONCLUSION  (High Spatial Coherence + Consistent Multi-Spectral Attribution)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92608"/>
            <a:ext cx="11002975" cy="27432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THEME: SPACE TECHNOLOGY · MINISTRY OF DEFENCE (MOD)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47472"/>
            <a:ext cx="3182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Consolas"/>
              </a:rPr>
              <a:t>TEAM: Quantumcrew | </a:t>
            </a:r>
            <a:r>
              <a:rPr sz="850" b="1">
                <a:solidFill>
                  <a:srgbClr val="4EA8DE"/>
                </a:solidFill>
                <a:latin typeface="Consolas"/>
              </a:rPr>
              <a:t>SLIDE 03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"/>
            <a:ext cx="1100297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5F3ED"/>
                </a:solidFill>
                <a:latin typeface="Georgia"/>
              </a:defRPr>
            </a:pPr>
            <a:r>
              <a:t>ONE INVESTIGATION. MULTIPLE INDEPENDENT EVIDENCE STREAMS.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Decoupled multi-stage pipeline combining vision-language cross-modal embeddings with deterministic physical optics.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1100297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Segoe UI"/>
              </a:rPr>
              <a:t>GEOAI — Evidence-Based Satellite Investigation Workstation  |  Ministry of Defence (MoD) / Indian Army — DGIS  |  SIH 2026 Submission</a:t>
            </a:r>
            <a:r>
              <a:rPr sz="800">
                <a:solidFill>
                  <a:srgbClr val="64748B"/>
                </a:solidFill>
                <a:latin typeface="Segoe UI"/>
              </a:rPr>
              <a:t>                                                                    Live Console: </a:t>
            </a:r>
            <a:r>
              <a:rPr sz="80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80160"/>
            <a:ext cx="7406640" cy="123444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71323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4EA8DE"/>
                </a:solidFill>
                <a:latin typeface="Consolas"/>
              </a:defRPr>
            </a:pPr>
            <a:r>
              <a:t>LAYER 1: MULTIMODAL SEMANTIC RETRIEVAL (WHERE TO LOOK)</a:t>
            </a:r>
          </a:p>
          <a:p>
            <a:pPr>
              <a:spcBef>
                <a:spcPts val="200"/>
              </a:spcBef>
            </a:pPr>
            <a:r>
              <a:rPr sz="800">
                <a:solidFill>
                  <a:srgbClr val="F5F3ED"/>
                </a:solidFill>
                <a:latin typeface="Segoe UI"/>
              </a:rPr>
              <a:t>• Analyst Input: Unconstrained natural-language hypothesis (e.g., “newly built structures near a river”).
• RemoteCLIP ViT-B/32: Projects satellite GeoTIFF tiles &amp; textual intent into shared 512-dim embedding space.
• In-Memory FAISS Flat L2 Index: Fast sub-millisecond vector similarity search across pre-indexed defense tiles.
• Performance Benchmark: Model load ~3.3s | Text embed ~43ms | Image embed ~78ms | FAISS scan ~1.8ms | Total &lt;65ms.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114800" y="2560320"/>
            <a:ext cx="274320" cy="182880"/>
          </a:xfrm>
          <a:prstGeom prst="downArrow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788920"/>
            <a:ext cx="7406640" cy="164592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62072"/>
            <a:ext cx="713232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C5A869"/>
                </a:solidFill>
                <a:latin typeface="Consolas"/>
              </a:defRPr>
            </a:pPr>
            <a:r>
              <a:t>LAYER 2: MULTI-TEMPORAL &amp; PHYSICAL OPTICAL ANALYSIS (WHAT CHANGED)</a:t>
            </a:r>
          </a:p>
          <a:p>
            <a:pPr>
              <a:spcBef>
                <a:spcPts val="200"/>
              </a:spcBef>
            </a:pPr>
            <a:r>
              <a:rPr sz="780">
                <a:solidFill>
                  <a:srgbClr val="F5F3ED"/>
                </a:solidFill>
                <a:latin typeface="Segoe UI"/>
              </a:rPr>
              <a:t>• Satellite Constellation: ESA Copernicus Sentinel-2A Level-2A Bottom-Of-Atmosphere (BOA) surface reflectance.
• Pixel-Window Alignment: Exact spatial bounds matching across EPSG:32643 (10m GSD); eliminates cross-tile contamination.
• Quality &amp; Cloud Masking: Scene Classification Layer (SCL) filters clouds, cirrus, cloud shadows &amp; saturated pixels.
• Calibrated Spectral Differencing: Evaluates ΔB02, ΔB03, ΔB04, ΔB08 under fixed operational threshold (τ = 0.15).
• Deterministic Index Math: Calculates NDVI = (NIR - Red)/(NIR + Red) and NDWI = (Green - NIR)/(Green + NIR).
• Spatial Topology: 8-connected connected-component clustering (Coherence = Largest Component / Total Changed Pixels).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114800" y="4480560"/>
            <a:ext cx="274320" cy="182880"/>
          </a:xfrm>
          <a:prstGeom prst="downArrow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709160"/>
            <a:ext cx="7406640" cy="169164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782312"/>
            <a:ext cx="71323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52B788"/>
                </a:solidFill>
                <a:latin typeface="Consolas"/>
              </a:defRPr>
            </a:pPr>
            <a:r>
              <a:t>LAYER 3: EVIDENCE-BASED ATTRIBUTION &amp; AUDITABLE DECISION</a:t>
            </a:r>
          </a:p>
          <a:p>
            <a:pPr>
              <a:spcBef>
                <a:spcPts val="200"/>
              </a:spcBef>
            </a:pPr>
            <a:r>
              <a:rPr sz="780">
                <a:solidFill>
                  <a:srgbClr val="F5F3ED"/>
                </a:solidFill>
                <a:latin typeface="Segoe UI"/>
              </a:rPr>
              <a:t>• 6 Competing Hypotheses: Evaluates Built Surface vs. Vegetation Change vs. Water Change vs. Seasonal vs. Artifact vs. Uncertain.
• Attribution Support (Heuristic Fit): Combines spectral vector decomposition with spatial clustering (NOT calibrated probabilities).
• Multi-Date Trajectory Check: Assesses 3 observations (T0 → Tmid → T1) for STABLE, PERSISTENT, TRANSIENT, LATE_ONSET, REVERSIBLE.
• Final Defense Verdict: Emits SUPPORTED (high persistence), REVIEW (mixed evidence), or ABSTAIN (poor data quality).
• Cryptographic Integrity: Every dossier is sealed with a SHA-256 hash covering inputs, masks, and telemetry for chain-of-custody.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57031" y="1280160"/>
            <a:ext cx="3337560" cy="512064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389888"/>
            <a:ext cx="3063240" cy="4892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C5A869"/>
                </a:solidFill>
                <a:latin typeface="Consolas"/>
              </a:defRPr>
            </a:pPr>
            <a:r>
              <a:t>WHY THIS MATTERS TO DEFENSE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4EA8DE"/>
                </a:solidFill>
                <a:latin typeface="Segoe UI"/>
              </a:rPr>
              <a:t>Semantic Retrieval → WHERE should I look?
</a:t>
            </a:r>
            <a:r>
              <a:rPr sz="780">
                <a:solidFill>
                  <a:srgbClr val="94A3B8"/>
                </a:solidFill>
                <a:latin typeface="Segoe UI"/>
              </a:rPr>
              <a:t>Prunes 99%+ of unchanged geographic space in milliseconds without manual bounding.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4EA8DE"/>
                </a:solidFill>
                <a:latin typeface="Segoe UI"/>
              </a:rPr>
              <a:t>Spectral Differencing → WHAT changed?
</a:t>
            </a:r>
            <a:r>
              <a:rPr sz="780">
                <a:solidFill>
                  <a:srgbClr val="94A3B8"/>
                </a:solidFill>
                <a:latin typeface="Segoe UI"/>
              </a:rPr>
              <a:t>Separates physical absorption shifts from illumination and shadow artifacts.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4EA8DE"/>
                </a:solidFill>
                <a:latin typeface="Segoe UI"/>
              </a:rPr>
              <a:t>Spatial Coherence → IS it coherent?
</a:t>
            </a:r>
            <a:r>
              <a:rPr sz="780">
                <a:solidFill>
                  <a:srgbClr val="94A3B8"/>
                </a:solidFill>
                <a:latin typeface="Segoe UI"/>
              </a:rPr>
              <a:t>Distinguishes contiguous military infrastructure from noisy atmospheric speckle.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4EA8DE"/>
                </a:solidFill>
                <a:latin typeface="Segoe UI"/>
              </a:rPr>
              <a:t>Temporal Trajectory → DOES it persist?
</a:t>
            </a:r>
            <a:r>
              <a:rPr sz="780">
                <a:solidFill>
                  <a:srgbClr val="94A3B8"/>
                </a:solidFill>
                <a:latin typeface="Segoe UI"/>
              </a:rPr>
              <a:t>Guarantees seasonal phenology flush is not falsely alerted as permanent construction.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4EA8DE"/>
                </a:solidFill>
                <a:latin typeface="Segoe UI"/>
              </a:rPr>
              <a:t>Evidence Attribution → WHAT fits the data?
</a:t>
            </a:r>
            <a:r>
              <a:rPr sz="780">
                <a:solidFill>
                  <a:srgbClr val="94A3B8"/>
                </a:solidFill>
                <a:latin typeface="Segoe UI"/>
              </a:rPr>
              <a:t>Ranks competing interpretations honestly rather than outputting a black-box label.</a:t>
            </a:r>
          </a:p>
          <a:p>
            <a:pPr>
              <a:spcBef>
                <a:spcPts val="400"/>
              </a:spcBef>
            </a:pPr>
            <a:r>
              <a:rPr sz="850" b="1">
                <a:solidFill>
                  <a:srgbClr val="4EA8DE"/>
                </a:solidFill>
                <a:latin typeface="Segoe UI"/>
              </a:rPr>
              <a:t>Honest Verdict → CAN I trust this?
</a:t>
            </a:r>
            <a:r>
              <a:rPr sz="780">
                <a:solidFill>
                  <a:srgbClr val="94A3B8"/>
                </a:solidFill>
                <a:latin typeface="Segoe UI"/>
              </a:rPr>
              <a:t>Protects command staff with conservative REVIEW verdicts when evidence is mixed.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92608"/>
            <a:ext cx="11002975" cy="27432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THEME: SPACE TECHNOLOGY · MINISTRY OF DEFENCE (MOD)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47472"/>
            <a:ext cx="3182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Consolas"/>
              </a:rPr>
              <a:t>TEAM: Quantumcrew | </a:t>
            </a:r>
            <a:r>
              <a:rPr sz="850" b="1">
                <a:solidFill>
                  <a:srgbClr val="4EA8DE"/>
                </a:solidFill>
                <a:latin typeface="Consolas"/>
              </a:rPr>
              <a:t>SLIDE 04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"/>
            <a:ext cx="1100297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5F3ED"/>
                </a:solidFill>
                <a:latin typeface="Georgia"/>
              </a:defRPr>
            </a:pPr>
            <a:r>
              <a:t>BUILT TO RUN OFFLINE. VALIDATED ON REAL SENTINEL-2.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Empirical prototype benchmarks, air-gapped runtime verification, and transparent multi-date Sentinel-2 trajectory validation.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1100297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Segoe UI"/>
              </a:rPr>
              <a:t>GEOAI — Evidence-Based Satellite Investigation Workstation  |  Ministry of Defence (MoD) / Indian Army — DGIS  |  SIH 2026 Submission</a:t>
            </a:r>
            <a:r>
              <a:rPr sz="800">
                <a:solidFill>
                  <a:srgbClr val="64748B"/>
                </a:solidFill>
                <a:latin typeface="Segoe UI"/>
              </a:rPr>
              <a:t>                                                                    Live Console: </a:t>
            </a:r>
            <a:r>
              <a:rPr sz="80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34440"/>
            <a:ext cx="2606040" cy="169164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25880"/>
            <a:ext cx="2386584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4EA8DE"/>
                </a:solidFill>
                <a:latin typeface="Consolas"/>
              </a:defRPr>
            </a:pPr>
            <a:r>
              <a:t>BLOCK 1: LOCAL AI RUNTIME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Model: </a:t>
            </a:r>
            <a:r>
              <a:rPr sz="720">
                <a:solidFill>
                  <a:srgbClr val="94A3B8"/>
                </a:solidFill>
                <a:latin typeface="Segoe UI"/>
              </a:rPr>
              <a:t>RemoteCLIP ViT-B/32 (Local)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Index: </a:t>
            </a:r>
            <a:r>
              <a:rPr sz="720">
                <a:solidFill>
                  <a:srgbClr val="94A3B8"/>
                </a:solidFill>
                <a:latin typeface="Segoe UI"/>
              </a:rPr>
              <a:t>In-Memory FAISS Flat L2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Model Load: </a:t>
            </a:r>
            <a:r>
              <a:rPr sz="720">
                <a:solidFill>
                  <a:srgbClr val="94A3B8"/>
                </a:solidFill>
                <a:latin typeface="Segoe UI"/>
              </a:rPr>
              <a:t>~3.3 seconds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Image Embed: </a:t>
            </a:r>
            <a:r>
              <a:rPr sz="720">
                <a:solidFill>
                  <a:srgbClr val="94A3B8"/>
                </a:solidFill>
                <a:latin typeface="Segoe UI"/>
              </a:rPr>
              <a:t>~78 ms / image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Text Embed: </a:t>
            </a:r>
            <a:r>
              <a:rPr sz="720">
                <a:solidFill>
                  <a:srgbClr val="94A3B8"/>
                </a:solidFill>
                <a:latin typeface="Segoe UI"/>
              </a:rPr>
              <a:t>~43–46 ms / query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FAISS Search: </a:t>
            </a:r>
            <a:r>
              <a:rPr sz="720">
                <a:solidFill>
                  <a:srgbClr val="94A3B8"/>
                </a:solidFill>
                <a:latin typeface="Segoe UI"/>
              </a:rPr>
              <a:t>~1.5–2 ms / query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RAM Delta: </a:t>
            </a:r>
            <a:r>
              <a:rPr sz="720">
                <a:solidFill>
                  <a:srgbClr val="94A3B8"/>
                </a:solidFill>
                <a:latin typeface="Segoe UI"/>
              </a:rPr>
              <a:t>~774 MB footprint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2424" y="1234440"/>
            <a:ext cx="2606040" cy="169164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325880"/>
            <a:ext cx="2386584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52B788"/>
                </a:solidFill>
                <a:latin typeface="Consolas"/>
              </a:defRPr>
            </a:pPr>
            <a:r>
              <a:t>BLOCK 2: REAL SATELLITE DATA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Sensor: </a:t>
            </a:r>
            <a:r>
              <a:rPr sz="720">
                <a:solidFill>
                  <a:srgbClr val="94A3B8"/>
                </a:solidFill>
                <a:latin typeface="Segoe UI"/>
              </a:rPr>
              <a:t>ESA Sentinel-2A Level-2A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Reflectance: </a:t>
            </a:r>
            <a:r>
              <a:rPr sz="720">
                <a:solidFill>
                  <a:srgbClr val="94A3B8"/>
                </a:solidFill>
                <a:latin typeface="Segoe UI"/>
              </a:rPr>
              <a:t>Bottom-Of-Atmosphere (BOA)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Bands: </a:t>
            </a:r>
            <a:r>
              <a:rPr sz="720">
                <a:solidFill>
                  <a:srgbClr val="94A3B8"/>
                </a:solidFill>
                <a:latin typeface="Segoe UI"/>
              </a:rPr>
              <a:t>B02, B03, B04, B08 (10m GSD)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Tile / CRS: </a:t>
            </a:r>
            <a:r>
              <a:rPr sz="720">
                <a:solidFill>
                  <a:srgbClr val="94A3B8"/>
                </a:solidFill>
                <a:latin typeface="Segoe UI"/>
              </a:rPr>
              <a:t>MGRS 43RGM / EPSG:32643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Tile Window: </a:t>
            </a:r>
            <a:r>
              <a:rPr sz="720">
                <a:solidFill>
                  <a:srgbClr val="94A3B8"/>
                </a:solidFill>
                <a:latin typeface="Segoe UI"/>
              </a:rPr>
              <a:t>512×512 (262,144 valid px)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Location: </a:t>
            </a:r>
            <a:r>
              <a:rPr sz="720">
                <a:solidFill>
                  <a:srgbClr val="94A3B8"/>
                </a:solidFill>
                <a:latin typeface="Segoe UI"/>
              </a:rPr>
              <a:t>NCR / Greater Noida basin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SCL Masking: </a:t>
            </a:r>
            <a:r>
              <a:rPr sz="720">
                <a:solidFill>
                  <a:srgbClr val="94A3B8"/>
                </a:solidFill>
                <a:latin typeface="Segoe UI"/>
              </a:rPr>
              <a:t>Cloud, shadow &amp; snow filtering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234440"/>
            <a:ext cx="2606040" cy="169164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325880"/>
            <a:ext cx="2386584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5A869"/>
                </a:solidFill>
                <a:latin typeface="Consolas"/>
              </a:defRPr>
            </a:pPr>
            <a:r>
              <a:t>BLOCK 3: SOVEREIGN &amp; OFFLINE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Offline Mode: </a:t>
            </a:r>
            <a:r>
              <a:rPr sz="720">
                <a:solidFill>
                  <a:srgbClr val="94A3B8"/>
                </a:solidFill>
                <a:latin typeface="Segoe UI"/>
              </a:rPr>
              <a:t>Validated air-gapped runtime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Flags Tested: </a:t>
            </a:r>
            <a:r>
              <a:rPr sz="720">
                <a:solidFill>
                  <a:srgbClr val="94A3B8"/>
                </a:solidFill>
                <a:latin typeface="Segoe UI"/>
              </a:rPr>
              <a:t>HF_HUB_OFFLINE=1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Transformers: </a:t>
            </a:r>
            <a:r>
              <a:rPr sz="720">
                <a:solidFill>
                  <a:srgbClr val="94A3B8"/>
                </a:solidFill>
                <a:latin typeface="Segoe UI"/>
              </a:rPr>
              <a:t>TRANSFORMERS_OFFLINE=1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Network Egress: </a:t>
            </a:r>
            <a:r>
              <a:rPr sz="720">
                <a:solidFill>
                  <a:srgbClr val="94A3B8"/>
                </a:solidFill>
                <a:latin typeface="Segoe UI"/>
              </a:rPr>
              <a:t>ZERO runtime external calls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Data Residency: </a:t>
            </a:r>
            <a:r>
              <a:rPr sz="720">
                <a:solidFill>
                  <a:srgbClr val="94A3B8"/>
                </a:solidFill>
                <a:latin typeface="Segoe UI"/>
              </a:rPr>
              <a:t>100% on-premises storage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Target Enclave: </a:t>
            </a:r>
            <a:r>
              <a:rPr sz="720">
                <a:solidFill>
                  <a:srgbClr val="94A3B8"/>
                </a:solidFill>
                <a:latin typeface="Segoe UI"/>
              </a:rPr>
              <a:t>Air-gapped SCIF workstation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Security Trail: </a:t>
            </a:r>
            <a:r>
              <a:rPr sz="720">
                <a:solidFill>
                  <a:srgbClr val="94A3B8"/>
                </a:solidFill>
                <a:latin typeface="Segoe UI"/>
              </a:rPr>
              <a:t>Cryptographic SHA-256 logs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8552" y="1234440"/>
            <a:ext cx="2606040" cy="169164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F5F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325880"/>
            <a:ext cx="2386584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5F3ED"/>
                </a:solidFill>
                <a:latin typeface="Consolas"/>
              </a:defRPr>
            </a:pPr>
            <a:r>
              <a:t>BLOCK 4: SOFTWARE HEALTH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Test Suite: </a:t>
            </a:r>
            <a:r>
              <a:rPr sz="720">
                <a:solidFill>
                  <a:srgbClr val="94A3B8"/>
                </a:solidFill>
                <a:latin typeface="Segoe UI"/>
              </a:rPr>
              <a:t>122 / 122 Tests Passing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Code Health: </a:t>
            </a:r>
            <a:r>
              <a:rPr sz="720">
                <a:solidFill>
                  <a:srgbClr val="94A3B8"/>
                </a:solidFill>
                <a:latin typeface="Segoe UI"/>
              </a:rPr>
              <a:t>100% Green Automation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Unit Tests: </a:t>
            </a:r>
            <a:r>
              <a:rPr sz="720">
                <a:solidFill>
                  <a:srgbClr val="94A3B8"/>
                </a:solidFill>
                <a:latin typeface="Segoe UI"/>
              </a:rPr>
              <a:t>Spectral math &amp; NDVI/NDWI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Integration: </a:t>
            </a:r>
            <a:r>
              <a:rPr sz="720">
                <a:solidFill>
                  <a:srgbClr val="94A3B8"/>
                </a:solidFill>
                <a:latin typeface="Segoe UI"/>
              </a:rPr>
              <a:t>FAISS search &amp; SCL masks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Temporal Tests: </a:t>
            </a:r>
            <a:r>
              <a:rPr sz="720">
                <a:solidFill>
                  <a:srgbClr val="94A3B8"/>
                </a:solidFill>
                <a:latin typeface="Segoe UI"/>
              </a:rPr>
              <a:t>3-date trajectory logic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Regression: </a:t>
            </a:r>
            <a:r>
              <a:rPr sz="720">
                <a:solidFill>
                  <a:srgbClr val="94A3B8"/>
                </a:solidFill>
                <a:latin typeface="Segoe UI"/>
              </a:rPr>
              <a:t>Zero breaking regressions</a:t>
            </a:r>
          </a:p>
          <a:p>
            <a:pPr>
              <a:spcBef>
                <a:spcPts val="100"/>
              </a:spcBef>
            </a:pPr>
            <a:r>
              <a:rPr sz="740" b="1">
                <a:solidFill>
                  <a:srgbClr val="F5F3ED"/>
                </a:solidFill>
                <a:latin typeface="Segoe UI"/>
              </a:rPr>
              <a:t>• Build Status: </a:t>
            </a:r>
            <a:r>
              <a:rPr sz="720">
                <a:solidFill>
                  <a:srgbClr val="94A3B8"/>
                </a:solidFill>
                <a:latin typeface="Segoe UI"/>
              </a:rPr>
              <a:t>Production-hardened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063240"/>
            <a:ext cx="11002975" cy="333756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172968"/>
            <a:ext cx="1063721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C5A869"/>
                </a:solidFill>
                <a:latin typeface="Consolas"/>
              </a:defRPr>
            </a:pPr>
            <a:r>
              <a:t>TRANSPARENT SCIENTIFIC VALIDATION: REAL SENTINEL-2 MULTI-DATE TRAJECTORY (MGRS 43RGM)</a:t>
            </a:r>
          </a:p>
          <a:p>
            <a:r>
              <a:rPr sz="800">
                <a:solidFill>
                  <a:srgbClr val="94A3B8"/>
                </a:solidFill>
                <a:latin typeface="Segoe UI"/>
              </a:rPr>
              <a:t>Observing the exact same 262,144 valid pixel terrain window across pre-monsoon dry, monsoon green peak, and winter harvest.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57600"/>
            <a:ext cx="2468880" cy="251460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entinel2_t0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49040"/>
            <a:ext cx="2286000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8680" y="5303520"/>
            <a:ext cx="22860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4EA8DE"/>
                </a:solidFill>
                <a:latin typeface="Consolas"/>
              </a:defRPr>
            </a:pPr>
            <a:r>
              <a:t>T0 · 19 MAY 2023</a:t>
            </a:r>
          </a:p>
          <a:p>
            <a:r>
              <a:rPr sz="720">
                <a:solidFill>
                  <a:srgbClr val="94A3B8"/>
                </a:solidFill>
                <a:latin typeface="Segoe UI"/>
              </a:rPr>
              <a:t>PRE-MONSOON DRY BASELINE
NIR: 0.480  |  NDVI: +0.192
Dry canopy &amp; bare agrarian soil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3657600"/>
            <a:ext cx="2468880" cy="251460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entinel2_tmid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749040"/>
            <a:ext cx="2286000" cy="1508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20440" y="5303520"/>
            <a:ext cx="22860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52B788"/>
                </a:solidFill>
                <a:latin typeface="Consolas"/>
              </a:defRPr>
            </a:pPr>
            <a:r>
              <a:t>TMID · 06 OCT 2023</a:t>
            </a:r>
          </a:p>
          <a:p>
            <a:r>
              <a:rPr sz="720">
                <a:solidFill>
                  <a:srgbClr val="94A3B8"/>
                </a:solidFill>
                <a:latin typeface="Segoe UI"/>
              </a:rPr>
              <a:t>MONSOON GREEN PEAK
NIR: 0.279  |  NDVI: +0.112
Peak chlorophyll agricultural flush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3657600"/>
            <a:ext cx="2468880" cy="251460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25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entinel2_t1_rg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749040"/>
            <a:ext cx="228600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72200" y="5303520"/>
            <a:ext cx="22860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5A869"/>
                </a:solidFill>
                <a:latin typeface="Consolas"/>
              </a:defRPr>
            </a:pPr>
            <a:r>
              <a:t>T1 · 05 DEC 2023</a:t>
            </a:r>
          </a:p>
          <a:p>
            <a:r>
              <a:rPr sz="720">
                <a:solidFill>
                  <a:srgbClr val="94A3B8"/>
                </a:solidFill>
                <a:latin typeface="Segoe UI"/>
              </a:rPr>
              <a:t>WINTER DORMANCY
NIR: 0.254  |  NDVI: +0.092
Post-harvest senescence confirms cycle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3657600"/>
            <a:ext cx="2590495" cy="2514600"/>
          </a:xfrm>
          <a:prstGeom prst="roundRect">
            <a:avLst/>
          </a:prstGeom>
          <a:solidFill>
            <a:srgbClr val="171F30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794760"/>
            <a:ext cx="2316175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5A869"/>
                </a:solidFill>
                <a:latin typeface="Consolas"/>
              </a:defRPr>
            </a:pPr>
            <a:r>
              <a:t>EMPIRICAL TWO-DATE ATTRIBUTION (T0 → T1)</a:t>
            </a:r>
          </a:p>
          <a:p>
            <a:pPr>
              <a:spcBef>
                <a:spcPts val="200"/>
              </a:spcBef>
            </a:pPr>
            <a:r>
              <a:rPr sz="780">
                <a:solidFill>
                  <a:srgbClr val="F5F3ED"/>
                </a:solidFill>
                <a:latin typeface="Segoe UI"/>
              </a:rPr>
              <a:t>Detected Change: ~1.0% Pixels (2,542 / 262,144 px)
Stable Terrain: 98.75% Confirmed Background</a:t>
            </a:r>
          </a:p>
          <a:p>
            <a:pPr>
              <a:spcBef>
                <a:spcPts val="400"/>
              </a:spcBef>
            </a:pPr>
            <a:r>
              <a:rPr sz="760">
                <a:solidFill>
                  <a:srgbClr val="94A3B8"/>
                </a:solidFill>
                <a:latin typeface="Consolas"/>
              </a:rPr>
              <a:t>HEURISTIC ATTRIBUTION SUPPORT:
• Built-Surface Support:  51.1%
• Vegetation Shift:        24.7%
• Seasonal / Phenology:    19.9%
• Unresolved / Noise:       3.1%</a:t>
            </a:r>
          </a:p>
          <a:p>
            <a:pPr>
              <a:spcBef>
                <a:spcPts val="500"/>
              </a:spcBef>
            </a:pPr>
            <a:r>
              <a:rPr sz="850" b="1">
                <a:solidFill>
                  <a:srgbClr val="E09F3E"/>
                </a:solidFill>
                <a:latin typeface="Consolas"/>
              </a:rPr>
              <a:t>FINAL SYSTEM VERDICT:
⚠ REVIEW (Mixed Evidence)
</a:t>
            </a:r>
            <a:r>
              <a:rPr sz="720">
                <a:solidFill>
                  <a:srgbClr val="F5F3ED"/>
                </a:solidFill>
                <a:latin typeface="Segoe UI"/>
              </a:rPr>
              <a:t>The system does NOT force a premature construction claim when multi-date evidence indicates reversible phenology.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92608"/>
            <a:ext cx="11002975" cy="27432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THEME: SPACE TECHNOLOGY · MINISTRY OF DEFENCE (MOD)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47472"/>
            <a:ext cx="3182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Consolas"/>
              </a:rPr>
              <a:t>TEAM: Quantumcrew | </a:t>
            </a:r>
            <a:r>
              <a:rPr sz="850" b="1">
                <a:solidFill>
                  <a:srgbClr val="4EA8DE"/>
                </a:solidFill>
                <a:latin typeface="Consolas"/>
              </a:rPr>
              <a:t>SLIDE 05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"/>
            <a:ext cx="1100297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5F3ED"/>
                </a:solidFill>
                <a:latin typeface="Georgia"/>
              </a:defRPr>
            </a:pPr>
            <a:r>
              <a:t>TURNING SATELLITE ARCHIVES INTO AN INVESTIGATION WORKBENCH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Force-multiplying geospatial intelligence analysts across defense reconnaissance, frontier monitoring, and land governance.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1100297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Segoe UI"/>
              </a:rPr>
              <a:t>GEOAI — Evidence-Based Satellite Investigation Workstation  |  Ministry of Defence (MoD) / Indian Army — DGIS  |  SIH 2026 Submission</a:t>
            </a:r>
            <a:r>
              <a:rPr sz="800">
                <a:solidFill>
                  <a:srgbClr val="64748B"/>
                </a:solidFill>
                <a:latin typeface="Segoe UI"/>
              </a:rPr>
              <a:t>                                                                    Live Console: </a:t>
            </a:r>
            <a:r>
              <a:rPr sz="80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34440"/>
            <a:ext cx="11002975" cy="64008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107286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  <a:latin typeface="Consolas"/>
              </a:rPr>
              <a:t>MASSIVE ARCHIVE (PETABYTES)</a:t>
            </a:r>
            <a:r>
              <a:rPr sz="850" b="1">
                <a:solidFill>
                  <a:srgbClr val="C5A869"/>
                </a:solidFill>
                <a:latin typeface="Consolas"/>
              </a:rPr>
              <a:t> → </a:t>
            </a:r>
            <a:r>
              <a:rPr sz="850" b="1">
                <a:solidFill>
                  <a:srgbClr val="4EA8DE"/>
                </a:solidFill>
                <a:latin typeface="Consolas"/>
              </a:rPr>
              <a:t>SEMANTIC DISCOVERY (&lt;65ms)</a:t>
            </a:r>
            <a:r>
              <a:rPr sz="850" b="1">
                <a:solidFill>
                  <a:srgbClr val="C5A869"/>
                </a:solidFill>
                <a:latin typeface="Consolas"/>
              </a:rPr>
              <a:t> → </a:t>
            </a:r>
            <a:r>
              <a:rPr sz="850" b="1">
                <a:solidFill>
                  <a:srgbClr val="52B788"/>
                </a:solidFill>
                <a:latin typeface="Consolas"/>
              </a:rPr>
              <a:t>99% TERRAIN PRUNED</a:t>
            </a:r>
            <a:r>
              <a:rPr sz="850" b="1">
                <a:solidFill>
                  <a:srgbClr val="C5A869"/>
                </a:solidFill>
                <a:latin typeface="Consolas"/>
              </a:rPr>
              <a:t> → </a:t>
            </a:r>
            <a:r>
              <a:rPr sz="850" b="1">
                <a:solidFill>
                  <a:srgbClr val="E09F3E"/>
                </a:solidFill>
                <a:latin typeface="Consolas"/>
              </a:rPr>
              <a:t>MULTI-STREAM EVIDENCE REVIEW</a:t>
            </a:r>
            <a:r>
              <a:rPr sz="850" b="1">
                <a:solidFill>
                  <a:srgbClr val="C5A869"/>
                </a:solidFill>
                <a:latin typeface="Consolas"/>
              </a:rPr>
              <a:t> → </a:t>
            </a:r>
            <a:r>
              <a:rPr sz="850" b="1">
                <a:solidFill>
                  <a:srgbClr val="C5A869"/>
                </a:solidFill>
                <a:latin typeface="Consolas"/>
              </a:rPr>
              <a:t>AUDITABLE COMMAND VERDICT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5349240" cy="160020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498348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4EA8DE"/>
                </a:solidFill>
                <a:latin typeface="Consolas"/>
              </a:defRPr>
            </a:pPr>
            <a:r>
              <a:t>01 / DEFENSE &amp; BORDER INFRASTRUCTURE MONITORING</a:t>
            </a:r>
          </a:p>
          <a:p>
            <a:pPr>
              <a:spcBef>
                <a:spcPts val="1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Forward Outpost, Tarmac &amp; Bunker Emergence</a:t>
            </a:r>
          </a:p>
          <a:p>
            <a:pPr>
              <a:spcBef>
                <a:spcPts val="200"/>
              </a:spcBef>
            </a:pPr>
            <a:r>
              <a:rPr sz="780">
                <a:solidFill>
                  <a:srgbClr val="94A3B8"/>
                </a:solidFill>
                <a:latin typeface="Segoe UI"/>
              </a:rPr>
              <a:t>Quickly discover clandestine military construction, border tarmac paving, or forward fortified compounds. Natural-language intent isolates areas of interest across thousands of square kilometers in seconds without coordinate guessing.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011680"/>
            <a:ext cx="5349240" cy="160020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148840"/>
            <a:ext cx="498348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52B788"/>
                </a:solidFill>
                <a:latin typeface="Consolas"/>
              </a:defRPr>
            </a:pPr>
            <a:r>
              <a:t>02 / STRATEGIC SIMILAR-SITE DISCOVERY</a:t>
            </a:r>
          </a:p>
          <a:p>
            <a:pPr>
              <a:spcBef>
                <a:spcPts val="1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Cross-Theater Facility Pattern Matching</a:t>
            </a:r>
          </a:p>
          <a:p>
            <a:pPr>
              <a:spcBef>
                <a:spcPts val="200"/>
              </a:spcBef>
            </a:pPr>
            <a:r>
              <a:rPr sz="780">
                <a:solidFill>
                  <a:srgbClr val="94A3B8"/>
                </a:solidFill>
                <a:latin typeface="Segoe UI"/>
              </a:rPr>
              <a:t>Given a known adversary facility or staging ground, query the RemoteCLIP FAISS index to discover all geographically separated sites with identical spectral, geometric, and topological arrangements across the entire theater.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94760"/>
            <a:ext cx="5349240" cy="160020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498348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C5A869"/>
                </a:solidFill>
                <a:latin typeface="Consolas"/>
              </a:defRPr>
            </a:pPr>
            <a:r>
              <a:t>03 / FRONTIER ROAD &amp; TERRAIN CORRIDOR SHIFTS</a:t>
            </a:r>
          </a:p>
          <a:p>
            <a:pPr>
              <a:spcBef>
                <a:spcPts val="1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Logistics Tracks, Bridge Abutments &amp; Earth Clearing</a:t>
            </a:r>
          </a:p>
          <a:p>
            <a:pPr>
              <a:spcBef>
                <a:spcPts val="200"/>
              </a:spcBef>
            </a:pPr>
            <a:r>
              <a:rPr sz="780">
                <a:solidFill>
                  <a:srgbClr val="94A3B8"/>
                </a:solidFill>
                <a:latin typeface="Segoe UI"/>
              </a:rPr>
              <a:t>Track emerging logistics road networks and bridgeheads across rugged frontier terrain. Spatial coherence confirms contiguous linear corridors while suppressing single-pixel seasonal slope washouts.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794760"/>
            <a:ext cx="5349240" cy="160020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E0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931920"/>
            <a:ext cx="498348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E09F3E"/>
                </a:solidFill>
                <a:latin typeface="Consolas"/>
              </a:defRPr>
            </a:pPr>
            <a:r>
              <a:t>04 / PHENOLOGY VS. ENCROACHMENT DISCRIMINATION</a:t>
            </a:r>
          </a:p>
          <a:p>
            <a:pPr>
              <a:spcBef>
                <a:spcPts val="100"/>
              </a:spcBef>
            </a:pPr>
            <a:r>
              <a:rPr sz="850" b="1">
                <a:solidFill>
                  <a:srgbClr val="F5F3ED"/>
                </a:solidFill>
                <a:latin typeface="Segoe UI"/>
              </a:rPr>
              <a:t>Defending Against False-Alarm Exhaustion</a:t>
            </a:r>
          </a:p>
          <a:p>
            <a:pPr>
              <a:spcBef>
                <a:spcPts val="200"/>
              </a:spcBef>
            </a:pPr>
            <a:r>
              <a:rPr sz="780">
                <a:solidFill>
                  <a:srgbClr val="94A3B8"/>
                </a:solidFill>
                <a:latin typeface="Segoe UI"/>
              </a:rPr>
              <a:t>Enforces 3-date persistence trajectories to distinguish agricultural crop cycles (monsoon greening to harvest) from illegal mining, deforestation, and permanent unauthorized land occupation.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577840"/>
            <a:ext cx="11002975" cy="86868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C5A869"/>
                </a:solidFill>
                <a:latin typeface="Consolas"/>
              </a:rPr>
              <a:t>THREE SOVEREIGN DEFENSE PRINCIPLES:   </a:t>
            </a:r>
            <a:r>
              <a:rPr sz="800">
                <a:solidFill>
                  <a:srgbClr val="F5F3ED"/>
                </a:solidFill>
                <a:latin typeface="Segoe UI"/>
              </a:rPr>
              <a:t>[OFFLINE: Air-gapped on-premises runtime; zero cloud leakage]   </a:t>
            </a:r>
            <a:r>
              <a:rPr sz="800">
                <a:solidFill>
                  <a:srgbClr val="F5F3ED"/>
                </a:solidFill>
                <a:latin typeface="Segoe UI"/>
              </a:rPr>
              <a:t>[SOVEREIGN: Built on open Copernicus standards; zero foreign API lock-in]   </a:t>
            </a:r>
            <a:r>
              <a:rPr sz="800">
                <a:solidFill>
                  <a:srgbClr val="F5F3ED"/>
                </a:solidFill>
                <a:latin typeface="Segoe UI"/>
              </a:rPr>
              <a:t>[AUDITABLE: Every attribution decision links to deterministic physical optics]   </a:t>
            </a:r>
          </a:p>
          <a:p>
            <a:pPr algn="ctr">
              <a:spcBef>
                <a:spcPts val="300"/>
              </a:spcBef>
            </a:pPr>
            <a:r>
              <a:rPr sz="800" b="1">
                <a:solidFill>
                  <a:srgbClr val="4EA8DE"/>
                </a:solidFill>
                <a:latin typeface="Consolas"/>
              </a:rPr>
              <a:t>WHAT MAKES TERRAE DIFFERENT:  SEARCH (Natural Language) → COMPARE (Sub-Pixel Co-Reg) → EXPLAIN (Spectral Math) → CHALLENGE (Multi-Date) → DECIDE (Honest Verdict)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292608"/>
            <a:ext cx="11002975" cy="27432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C5A869"/>
                </a:solidFill>
                <a:latin typeface="Consolas"/>
              </a:defRPr>
            </a:pPr>
            <a:r>
              <a:t>SMART INDIA HACKATHON 2026 · PS: SIH26227 · THEME: SPACE TECHNOLOGY · MINISTRY OF DEFENCE (MOD) / INDIAN ARMY — DGIS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47472"/>
            <a:ext cx="3182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>
                <a:solidFill>
                  <a:srgbClr val="94A3B8"/>
                </a:solidFill>
                <a:latin typeface="Consolas"/>
              </a:rPr>
              <a:t>TEAM: Quantumcrew | </a:t>
            </a:r>
            <a:r>
              <a:rPr sz="850" b="1">
                <a:solidFill>
                  <a:srgbClr val="4EA8DE"/>
                </a:solidFill>
                <a:latin typeface="Consolas"/>
              </a:rPr>
              <a:t>SLIDE 06 /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"/>
            <a:ext cx="1100297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50" b="1">
                <a:solidFill>
                  <a:srgbClr val="F5F3ED"/>
                </a:solidFill>
                <a:latin typeface="Georgia"/>
              </a:defRPr>
            </a:pPr>
            <a:r>
              <a:t>PROOF, RESEARCH &amp; REPRODUCIBILITY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Validated open benchmarks, transparent scientific references, live console access, and team credentials.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1100297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Segoe UI"/>
              </a:rPr>
              <a:t>GEOAI — Evidence-Based Satellite Investigation Workstation  |  Ministry of Defence (MoD) / Indian Army — DGIS  |  SIH 2026 Submission</a:t>
            </a:r>
            <a:r>
              <a:rPr sz="800">
                <a:solidFill>
                  <a:srgbClr val="64748B"/>
                </a:solidFill>
                <a:latin typeface="Segoe UI"/>
              </a:rPr>
              <a:t>                                                                    Live Console: </a:t>
            </a:r>
            <a:r>
              <a:rPr sz="800">
                <a:solidFill>
                  <a:srgbClr val="4EA8DE"/>
                </a:solidFill>
                <a:latin typeface="Segoe UI"/>
                <a:hlinkClick r:id="rId2"/>
              </a:rPr>
              <a:t>https://terrae-geospatial-intelligence.vercel.app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34440"/>
            <a:ext cx="5349240" cy="219456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44168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4EA8DE"/>
                </a:solidFill>
                <a:latin typeface="Consolas"/>
              </a:defRPr>
            </a:pPr>
            <a:r>
              <a:t>1. PROTOTYPE PROOF (LIVE PRODUCTION SYSTEM)</a:t>
            </a:r>
          </a:p>
        </p:txBody>
      </p:sp>
      <p:pic>
        <p:nvPicPr>
          <p:cNvPr id="10" name="Picture 9" descr="PROD_SEARCH_OPTIONS_ALL_19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219456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17520" y="1783080"/>
            <a:ext cx="288036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5F3ED"/>
                </a:solidFill>
                <a:latin typeface="Segoe UI"/>
              </a:defRPr>
            </a:pPr>
            <a:r>
              <a:t>TERRAE Console Live Deployment:</a:t>
            </a:r>
          </a:p>
          <a:p>
            <a:pPr>
              <a:spcBef>
                <a:spcPts val="200"/>
              </a:spcBef>
            </a:pPr>
            <a:r>
              <a:rPr sz="760">
                <a:solidFill>
                  <a:srgbClr val="94A3B8"/>
                </a:solidFill>
                <a:latin typeface="Segoe UI"/>
              </a:rPr>
              <a:t>• Natural Intent Query Input
• RemoteCLIP Semantic Retrieval
• Multi-Temporal Differencing
• Topological Spatial Coherence
• Analyst Workstation Dossier
Status: 100% Deployed &amp;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234440"/>
            <a:ext cx="5349240" cy="219456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44168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52B788"/>
                </a:solidFill>
                <a:latin typeface="Consolas"/>
              </a:defRPr>
            </a:pPr>
            <a:r>
              <a:t>2. VALIDATION PROOF (EMPIRICAL DATASETS)</a:t>
            </a:r>
          </a:p>
        </p:txBody>
      </p:sp>
      <p:pic>
        <p:nvPicPr>
          <p:cNvPr id="14" name="Picture 13" descr="PROD_08_VALIDATION_19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783080"/>
            <a:ext cx="2194560" cy="1463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0" y="1783080"/>
            <a:ext cx="288036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5F3ED"/>
                </a:solidFill>
                <a:latin typeface="Segoe UI"/>
              </a:defRPr>
            </a:pPr>
            <a:r>
              <a:t>OSCD 5-Pair Benchmark Subset:</a:t>
            </a:r>
          </a:p>
          <a:p>
            <a:pPr>
              <a:spcBef>
                <a:spcPts val="200"/>
              </a:spcBef>
            </a:pPr>
            <a:r>
              <a:rPr sz="760">
                <a:solidFill>
                  <a:srgbClr val="94A3B8"/>
                </a:solidFill>
                <a:latin typeface="Consolas"/>
              </a:rPr>
              <a:t>• Valid Pixels: 3,025,938
• Threshold: Fixed τ = 0.15
• Macro Accuracy: 97.90%
• Micro Precision: 57.55%
• Micro Recall: 9.72%
(Strict False-Alarm Suppression)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11880"/>
            <a:ext cx="5349240" cy="219456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21608"/>
            <a:ext cx="5074920" cy="1975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C5A869"/>
                </a:solidFill>
                <a:latin typeface="Consolas"/>
              </a:defRPr>
            </a:pPr>
            <a:r>
              <a:t>3. RESEARCH FOUNDATION &amp; PEER REFERENCES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• RemoteCLIP (Sun et al., IEEE TGRS 2023): </a:t>
            </a:r>
            <a:r>
              <a:rPr sz="750">
                <a:solidFill>
                  <a:srgbClr val="94A3B8"/>
                </a:solidFill>
                <a:latin typeface="Segoe UI"/>
              </a:rPr>
              <a:t>Vision-language foundation model for remote sensing retrieval.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• Copernicus Sentinel-2 (ESA / European Commission): </a:t>
            </a:r>
            <a:r>
              <a:rPr sz="750">
                <a:solidFill>
                  <a:srgbClr val="94A3B8"/>
                </a:solidFill>
                <a:latin typeface="Segoe UI"/>
              </a:rPr>
              <a:t>Level-2A multispectral optical constellation (10m GSD BOA).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• OSCD Benchmark (Caye Daudt et al., IEEE 2018): </a:t>
            </a:r>
            <a:r>
              <a:rPr sz="750">
                <a:solidFill>
                  <a:srgbClr val="94A3B8"/>
                </a:solidFill>
                <a:latin typeface="Segoe UI"/>
              </a:rPr>
              <a:t>Onera Satellite Change Detection dataset for urban/rural change.</a:t>
            </a:r>
          </a:p>
          <a:p>
            <a:pPr>
              <a:spcBef>
                <a:spcPts val="200"/>
              </a:spcBef>
            </a:pPr>
            <a:r>
              <a:rPr sz="800" b="1">
                <a:solidFill>
                  <a:srgbClr val="F5F3ED"/>
                </a:solidFill>
                <a:latin typeface="Segoe UI"/>
              </a:rPr>
              <a:t>• Physical Index Math (Rouse et al. / McFeeters): </a:t>
            </a:r>
            <a:r>
              <a:rPr sz="750">
                <a:solidFill>
                  <a:srgbClr val="94A3B8"/>
                </a:solidFill>
                <a:latin typeface="Segoe UI"/>
              </a:rPr>
              <a:t>NDVI and NDWI deterministic normalized spectral differencing.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3611880"/>
            <a:ext cx="5349240" cy="2194560"/>
          </a:xfrm>
          <a:prstGeom prst="roundRect">
            <a:avLst/>
          </a:prstGeom>
          <a:solidFill>
            <a:srgbClr val="111724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721608"/>
            <a:ext cx="5074920" cy="1975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4EA8DE"/>
                </a:solidFill>
                <a:latin typeface="Consolas"/>
              </a:defRPr>
            </a:pPr>
            <a:r>
              <a:t>4. PROJECT ACCESS &amp; TEAM CREDENTIALS</a:t>
            </a:r>
          </a:p>
          <a:p>
            <a:pPr>
              <a:spcBef>
                <a:spcPts val="1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• Team Name: </a:t>
            </a:r>
            <a:r>
              <a:rPr sz="750">
                <a:solidFill>
                  <a:srgbClr val="94A3B8"/>
                </a:solidFill>
                <a:latin typeface="Segoe UI"/>
              </a:rPr>
              <a:t>Quantumcrew</a:t>
            </a:r>
          </a:p>
          <a:p>
            <a:pPr>
              <a:spcBef>
                <a:spcPts val="1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• Team ID: </a:t>
            </a:r>
            <a:r>
              <a:rPr sz="750">
                <a:solidFill>
                  <a:srgbClr val="94A3B8"/>
                </a:solidFill>
                <a:latin typeface="Segoe UI"/>
              </a:rPr>
              <a:t>[Registered Team ID / SIH2026]</a:t>
            </a:r>
          </a:p>
          <a:p>
            <a:pPr>
              <a:spcBef>
                <a:spcPts val="1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• Problem Statement: </a:t>
            </a:r>
            <a:r>
              <a:rPr sz="750">
                <a:solidFill>
                  <a:srgbClr val="94A3B8"/>
                </a:solidFill>
                <a:latin typeface="Segoe UI"/>
              </a:rPr>
              <a:t>SIH26227 (Space Technology)</a:t>
            </a:r>
          </a:p>
          <a:p>
            <a:pPr>
              <a:spcBef>
                <a:spcPts val="1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• Client Mandate: </a:t>
            </a:r>
            <a:r>
              <a:rPr sz="750">
                <a:solidFill>
                  <a:srgbClr val="94A3B8"/>
                </a:solidFill>
                <a:latin typeface="Segoe UI"/>
              </a:rPr>
              <a:t>Ministry of Defence (MoD) / Indian Army — DGIS</a:t>
            </a:r>
          </a:p>
          <a:p>
            <a:pPr>
              <a:spcBef>
                <a:spcPts val="1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• GitHub Source: </a:t>
            </a:r>
            <a:r>
              <a:rPr sz="750">
                <a:solidFill>
                  <a:srgbClr val="4EA8DE"/>
                </a:solidFill>
                <a:latin typeface="Consolas"/>
              </a:rPr>
              <a:t>github.com/PhantomCipher13/terrae-geospatial-intelligence</a:t>
            </a:r>
          </a:p>
          <a:p>
            <a:pPr>
              <a:spcBef>
                <a:spcPts val="1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• Live Web Console: </a:t>
            </a:r>
            <a:r>
              <a:rPr sz="750">
                <a:solidFill>
                  <a:srgbClr val="4EA8DE"/>
                </a:solidFill>
                <a:latin typeface="Consolas"/>
              </a:rPr>
              <a:t>terrae-geospatial-intelligence.vercel.app</a:t>
            </a:r>
          </a:p>
          <a:p>
            <a:pPr>
              <a:spcBef>
                <a:spcPts val="100"/>
              </a:spcBef>
            </a:pPr>
            <a:r>
              <a:rPr sz="780" b="1">
                <a:solidFill>
                  <a:srgbClr val="F5F3ED"/>
                </a:solidFill>
                <a:latin typeface="Segoe UI"/>
              </a:rPr>
              <a:t>• Technical Report: </a:t>
            </a:r>
            <a:r>
              <a:rPr sz="750">
                <a:solidFill>
                  <a:srgbClr val="94A3B8"/>
                </a:solidFill>
                <a:latin typeface="Consolas"/>
              </a:rPr>
              <a:t>REPORT.md (Complete SIH 6-Part Documentation)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943600"/>
            <a:ext cx="11002975" cy="457200"/>
          </a:xfrm>
          <a:prstGeom prst="roundRect">
            <a:avLst/>
          </a:prstGeom>
          <a:solidFill>
            <a:srgbClr val="0F1726"/>
          </a:solidFill>
          <a:ln w="127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9893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C5A869"/>
                </a:solidFill>
                <a:latin typeface="Georgia"/>
              </a:rPr>
              <a:t>“Investigate the change. Follow the evidence. Know when to review.”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