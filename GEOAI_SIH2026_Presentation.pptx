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rae-geospatial-intelligence.vercel.app" TargetMode="Externa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rae-geospatial-intelligence.vercel.app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rae-geospatial-intelligence.vercel.app" TargetMode="Externa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rae-geospatial-intelligence.vercel.app" TargetMode="External"/><Relationship Id="rId3" Type="http://schemas.openxmlformats.org/officeDocument/2006/relationships/image" Target="../media/image5.jpg"/><Relationship Id="rId4" Type="http://schemas.openxmlformats.org/officeDocument/2006/relationships/image" Target="../media/image3.jp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rae-geospatial-intelligence.vercel.app" TargetMode="External"/><Relationship Id="rId3" Type="http://schemas.openxmlformats.org/officeDocument/2006/relationships/image" Target="../media/image1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rae-geospatial-intelligence.vercel.ap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"/>
            <a:ext cx="10728655" cy="22860"/>
          </a:xfrm>
          <a:prstGeom prst="rect">
            <a:avLst/>
          </a:prstGeom>
          <a:solidFill>
            <a:srgbClr val="1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63D6B"/>
                </a:solidFill>
                <a:latin typeface="Consolas"/>
              </a:defRPr>
            </a:pPr>
            <a:r>
              <a:t>SMART INDIA HACKATHON 2026 · PS: SIH26227 · SPACE TECHNOLOGY · SOFTWARE · MINISTRY OF DEFENCE / INDIAN ARMY — DGIS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47472"/>
            <a:ext cx="368777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Consolas"/>
              </a:rPr>
              <a:t>TEAM: Quantumcrew  |  </a:t>
            </a:r>
            <a:r>
              <a:rPr sz="800" b="1">
                <a:solidFill>
                  <a:srgbClr val="163D6B"/>
                </a:solidFill>
                <a:latin typeface="Consolas"/>
              </a:rPr>
              <a:t>SLIDE 01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63D6B"/>
                </a:solidFill>
                <a:latin typeface="Georgia"/>
              </a:defRPr>
            </a:pPr>
            <a:r>
              <a:t>01 — PROBLEM STATEMENT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SEMANTIC RETRIEVAL AND MULTI-TEMPORAL CHANGE ANALYSIS OF SATELLITE IMAGERY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107286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80">
                <a:solidFill>
                  <a:srgbClr val="64748B"/>
                </a:solidFill>
                <a:latin typeface="Segoe UI"/>
              </a:rPr>
              <a:t>TERRAE — Earth Intelligence Satellite Investigation Console  |  Ministry of Defence / Indian Army — DGIS  |  SIH 2026 Submission</a:t>
            </a:r>
            <a:r>
              <a:rPr sz="780">
                <a:solidFill>
                  <a:srgbClr val="64748B"/>
                </a:solidFill>
                <a:latin typeface="Segoe UI"/>
              </a:rPr>
              <a:t>                                                         Live Console: </a:t>
            </a:r>
            <a:r>
              <a:rPr sz="780">
                <a:solidFill>
                  <a:srgbClr val="163D6B"/>
                </a:solidFill>
                <a:latin typeface="Segoe UI"/>
                <a:hlinkClick r:id="rId2"/>
              </a:rPr>
              <a:t>https://terrae-geospatial-intelligence.vercel.app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4297680" cy="868680"/>
          </a:xfrm>
          <a:prstGeom prst="roundRect">
            <a:avLst/>
          </a:prstGeom>
          <a:solidFill>
            <a:srgbClr val="F8F7F3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89888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163D6B"/>
                </a:solidFill>
                <a:latin typeface="Georgia"/>
              </a:rPr>
              <a:t>“Finding a changed pixel is easy.
Knowing whether it matters is harder.”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42976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93192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63D6B"/>
                </a:solidFill>
                <a:latin typeface="Consolas"/>
              </a:defRPr>
            </a:pPr>
            <a:r>
              <a:t>OFFICIAL PROBLEM STATEMENT METADATA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E293B"/>
                </a:solidFill>
                <a:latin typeface="Segoe UI"/>
              </a:rPr>
              <a:t>Problem Statement ID: </a:t>
            </a:r>
            <a:r>
              <a:rPr sz="800">
                <a:solidFill>
                  <a:srgbClr val="163D6B"/>
                </a:solidFill>
                <a:latin typeface="Segoe UI"/>
              </a:rPr>
              <a:t>SIH26227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E293B"/>
                </a:solidFill>
                <a:latin typeface="Segoe UI"/>
              </a:rPr>
              <a:t>Ministry / Client: </a:t>
            </a:r>
            <a:r>
              <a:rPr sz="800">
                <a:solidFill>
                  <a:srgbClr val="64748B"/>
                </a:solidFill>
                <a:latin typeface="Segoe UI"/>
              </a:rPr>
              <a:t>Ministry of Defence / Indian Army — DGIS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E293B"/>
                </a:solidFill>
                <a:latin typeface="Segoe UI"/>
              </a:rPr>
              <a:t>Theme: </a:t>
            </a:r>
            <a:r>
              <a:rPr sz="800">
                <a:solidFill>
                  <a:srgbClr val="64748B"/>
                </a:solidFill>
                <a:latin typeface="Segoe UI"/>
              </a:rPr>
              <a:t>Space Technology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E293B"/>
                </a:solidFill>
                <a:latin typeface="Segoe UI"/>
              </a:rPr>
              <a:t>Category: </a:t>
            </a:r>
            <a:r>
              <a:rPr sz="800">
                <a:solidFill>
                  <a:srgbClr val="64748B"/>
                </a:solidFill>
                <a:latin typeface="Segoe UI"/>
              </a:rPr>
              <a:t>Software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E293B"/>
                </a:solidFill>
                <a:latin typeface="Segoe UI"/>
              </a:rPr>
              <a:t>Team Name: </a:t>
            </a:r>
            <a:r>
              <a:rPr sz="800">
                <a:solidFill>
                  <a:srgbClr val="163D6B"/>
                </a:solidFill>
                <a:latin typeface="Segoe UI"/>
              </a:rPr>
              <a:t>Quantumcrew (Registered on portal)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E293B"/>
                </a:solidFill>
                <a:latin typeface="Segoe UI"/>
              </a:rPr>
              <a:t>Team ID: </a:t>
            </a:r>
            <a:r>
              <a:rPr sz="800">
                <a:solidFill>
                  <a:srgbClr val="163D6B"/>
                </a:solidFill>
                <a:latin typeface="Segoe UI"/>
              </a:rPr>
              <a:t>[Registered Team ID / SIH2026]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429768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393192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B45309"/>
                </a:solidFill>
                <a:latin typeface="Consolas"/>
              </a:defRPr>
            </a:pPr>
            <a:r>
              <a:t>OPERATIONAL DEFENSE MANDATE</a:t>
            </a:r>
          </a:p>
          <a:p>
            <a:pPr>
              <a:spcBef>
                <a:spcPts val="300"/>
              </a:spcBef>
            </a:pPr>
            <a:r>
              <a:rPr sz="780">
                <a:solidFill>
                  <a:srgbClr val="1E293B"/>
                </a:solidFill>
                <a:latin typeface="Segoe UI"/>
              </a:rPr>
              <a:t>Analysts must find relevant satellite scenes and determine whether observed changes are persistent, meaningful, and supported by evidence.
• Real Analyst Intent: “Show me areas with newly built structures near a river corridor.”
• Offline Mandate: Zero cloud APIs, remote tracking, or network egress in defense enclaves.</a:t>
            </a:r>
          </a:p>
        </p:txBody>
      </p:sp>
      <p:pic>
        <p:nvPicPr>
          <p:cNvPr id="15" name="Picture 14" descr="hero_beirut_1920x1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25880"/>
            <a:ext cx="6202375" cy="29260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257800" y="4279392"/>
            <a:ext cx="6202375" cy="292608"/>
          </a:xfrm>
          <a:prstGeom prst="roundRect">
            <a:avLst/>
          </a:prstGeom>
          <a:solidFill>
            <a:srgbClr val="F8F7F3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315968"/>
            <a:ext cx="59280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40" b="1">
                <a:solidFill>
                  <a:srgbClr val="163D6B"/>
                </a:solidFill>
                <a:latin typeface="Consolas"/>
              </a:rPr>
              <a:t>AUTHENTIC EARTH OBSERVATION: ESA Sentinel-2A Level-2A BOA Reflectance · 10m GSD · Maritime/Urban Basin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4709160"/>
            <a:ext cx="6202375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4800600"/>
            <a:ext cx="58366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Consolas"/>
              </a:defRPr>
            </a:pPr>
            <a:r>
              <a:t>CURRENT ANALYST WORKFLOW (STATUS QUO BOTTLENECKS)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5120640"/>
            <a:ext cx="1051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519379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D97706"/>
                </a:solidFill>
                <a:latin typeface="Consolas"/>
              </a:rPr>
              <a:t>01
</a:t>
            </a:r>
            <a:r>
              <a:rPr sz="720" b="1">
                <a:solidFill>
                  <a:srgbClr val="1E293B"/>
                </a:solidFill>
                <a:latin typeface="Segoe UI"/>
              </a:rPr>
              <a:t>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5230368"/>
            <a:ext cx="109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CBD5E1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56832" y="5120640"/>
            <a:ext cx="1051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519379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D97706"/>
                </a:solidFill>
                <a:latin typeface="Consolas"/>
              </a:rPr>
              <a:t>02
</a:t>
            </a:r>
            <a:r>
              <a:rPr sz="720" b="1">
                <a:solidFill>
                  <a:srgbClr val="1E293B"/>
                </a:solidFill>
                <a:latin typeface="Segoe UI"/>
              </a:rPr>
              <a:t>Coordinates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4" y="5230368"/>
            <a:ext cx="109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CBD5E1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72984" y="5120640"/>
            <a:ext cx="1051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72984" y="519379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D97706"/>
                </a:solidFill>
                <a:latin typeface="Consolas"/>
              </a:rPr>
              <a:t>03
</a:t>
            </a:r>
            <a:r>
              <a:rPr sz="720" b="1">
                <a:solidFill>
                  <a:srgbClr val="1E293B"/>
                </a:solidFill>
                <a:latin typeface="Segoe UI"/>
              </a:rPr>
              <a:t>Scene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5230368"/>
            <a:ext cx="109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CBD5E1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9136" y="5120640"/>
            <a:ext cx="1051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519379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D97706"/>
                </a:solidFill>
                <a:latin typeface="Consolas"/>
              </a:rPr>
              <a:t>04
</a:t>
            </a:r>
            <a:r>
              <a:rPr sz="720" b="1">
                <a:solidFill>
                  <a:srgbClr val="1E293B"/>
                </a:solidFill>
                <a:latin typeface="Segoe UI"/>
              </a:rPr>
              <a:t>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8128" y="5230368"/>
            <a:ext cx="109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CBD5E1"/>
                </a:solidFill>
                <a:latin typeface="Segoe U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05288" y="5120640"/>
            <a:ext cx="1051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05288" y="519379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D97706"/>
                </a:solidFill>
                <a:latin typeface="Consolas"/>
              </a:rPr>
              <a:t>05
</a:t>
            </a:r>
            <a:r>
              <a:rPr sz="720" b="1">
                <a:solidFill>
                  <a:srgbClr val="1E293B"/>
                </a:solidFill>
                <a:latin typeface="Segoe UI"/>
              </a:rPr>
              <a:t>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5760720"/>
            <a:ext cx="58366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D97706"/>
                </a:solidFill>
                <a:latin typeface="Segoe UI"/>
              </a:rPr>
              <a:t>CRITICAL DEFENSE FLAW: Naive pixel subtraction triggers severe false-alarm fatigue from seasonal crop phenology, moisture, and sun angle.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"/>
            <a:ext cx="10728655" cy="22860"/>
          </a:xfrm>
          <a:prstGeom prst="rect">
            <a:avLst/>
          </a:prstGeom>
          <a:solidFill>
            <a:srgbClr val="1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63D6B"/>
                </a:solidFill>
                <a:latin typeface="Consolas"/>
              </a:defRPr>
            </a:pPr>
            <a:r>
              <a:t>SMART INDIA HACKATHON 2026 · PS: SIH26227 · SPACE TECHNOLOGY · SOFTWARE · MINISTRY OF DEFENCE / INDIAN ARMY — DGIS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47472"/>
            <a:ext cx="368777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Consolas"/>
              </a:rPr>
              <a:t>TEAM: Quantumcrew  |  </a:t>
            </a:r>
            <a:r>
              <a:rPr sz="800" b="1">
                <a:solidFill>
                  <a:srgbClr val="163D6B"/>
                </a:solidFill>
                <a:latin typeface="Consolas"/>
              </a:rPr>
              <a:t>SLIDE 02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63D6B"/>
                </a:solidFill>
                <a:latin typeface="Georgia"/>
              </a:defRPr>
            </a:pPr>
            <a:r>
              <a:t>02 — SOLUTION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FROM NATURAL-LANGUAGE QUERY TO EVIDENCE-BACKED INVESTIGATION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107286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80">
                <a:solidFill>
                  <a:srgbClr val="64748B"/>
                </a:solidFill>
                <a:latin typeface="Segoe UI"/>
              </a:rPr>
              <a:t>TERRAE — Earth Intelligence Satellite Investigation Console  |  Ministry of Defence / Indian Army — DGIS  |  SIH 2026 Submission</a:t>
            </a:r>
            <a:r>
              <a:rPr sz="780">
                <a:solidFill>
                  <a:srgbClr val="64748B"/>
                </a:solidFill>
                <a:latin typeface="Segoe UI"/>
              </a:rPr>
              <a:t>                                                         Live Console: </a:t>
            </a:r>
            <a:r>
              <a:rPr sz="780">
                <a:solidFill>
                  <a:srgbClr val="163D6B"/>
                </a:solidFill>
                <a:latin typeface="Segoe UI"/>
                <a:hlinkClick r:id="rId2"/>
              </a:rPr>
              <a:t>https://terrae-geospatial-intelligence.vercel.app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27432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35608"/>
            <a:ext cx="2414016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D97706"/>
                </a:solidFill>
                <a:latin typeface="Consolas"/>
              </a:defRPr>
            </a:pPr>
            <a:r>
              <a:t>REAL-WORLD PROBLEM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1E293B"/>
                </a:solidFill>
                <a:latin typeface="Segoe UI"/>
              </a:rPr>
              <a:t>Large satellite archives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1E293B"/>
                </a:solidFill>
                <a:latin typeface="Segoe UI"/>
              </a:rPr>
              <a:t>+ multi-temporal imagery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1E293B"/>
                </a:solidFill>
                <a:latin typeface="Segoe UI"/>
              </a:rPr>
              <a:t>+ multi-spectral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27432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980944"/>
            <a:ext cx="2414016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DC2626"/>
                </a:solidFill>
                <a:latin typeface="Consolas"/>
              </a:defRPr>
            </a:pPr>
            <a:r>
              <a:t>WHY IT IS HARD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1E293B"/>
                </a:solidFill>
                <a:latin typeface="Segoe UI"/>
              </a:rPr>
              <a:t>A difference may be caused by: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1E293B"/>
                </a:solidFill>
                <a:latin typeface="Segoe UI"/>
              </a:rPr>
              <a:t>vegetation, moisture,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1E293B"/>
                </a:solidFill>
                <a:latin typeface="Segoe UI"/>
              </a:rPr>
              <a:t>shadow, or atmosphere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16552"/>
            <a:ext cx="27432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526280"/>
            <a:ext cx="2414016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1E7E34"/>
                </a:solidFill>
                <a:latin typeface="Consolas"/>
              </a:defRPr>
            </a:pPr>
            <a:r>
              <a:t>OUR RESPONSE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1E293B"/>
                </a:solidFill>
                <a:latin typeface="Segoe UI"/>
              </a:rPr>
              <a:t>TERRAE combines: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1E293B"/>
                </a:solidFill>
                <a:latin typeface="Segoe UI"/>
              </a:rPr>
              <a:t>semantic retrieval + temporal analysis</a:t>
            </a:r>
          </a:p>
          <a:p>
            <a:pPr>
              <a:spcBef>
                <a:spcPts val="200"/>
              </a:spcBef>
            </a:pPr>
            <a:r>
              <a:rPr sz="780">
                <a:solidFill>
                  <a:srgbClr val="1E293B"/>
                </a:solidFill>
                <a:latin typeface="Segoe UI"/>
              </a:rPr>
              <a:t>+ spectral evidence + spatial topology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325880"/>
            <a:ext cx="47548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1417320"/>
            <a:ext cx="4389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163D6B"/>
                </a:solidFill>
                <a:latin typeface="Consolas"/>
              </a:defRPr>
            </a:pPr>
            <a:r>
              <a:t>SIX-STAGE INVESTIGATION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3090672"/>
            <a:ext cx="1920240" cy="960120"/>
          </a:xfrm>
          <a:prstGeom prst="roundRect">
            <a:avLst/>
          </a:prstGeom>
          <a:solidFill>
            <a:srgbClr val="163D6B"/>
          </a:solidFill>
          <a:ln w="12700">
            <a:solidFill>
              <a:srgbClr val="16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3236976"/>
            <a:ext cx="1920240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TERRAE
SATELLITE
INVESTIGATION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1783080"/>
            <a:ext cx="12801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837944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2563EB"/>
                </a:solidFill>
                <a:latin typeface="Consolas"/>
              </a:rPr>
              <a:t>01 ASK
</a:t>
            </a:r>
          </a:p>
          <a:p>
            <a:pPr algn="ctr"/>
            <a:r>
              <a:rPr sz="680">
                <a:solidFill>
                  <a:srgbClr val="1E293B"/>
                </a:solidFill>
                <a:latin typeface="Segoe UI"/>
              </a:rPr>
              <a:t>Natural Intent 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2468880"/>
            <a:ext cx="12801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523744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0D9488"/>
                </a:solidFill>
                <a:latin typeface="Consolas"/>
              </a:rPr>
              <a:t>02 DISCOVER
</a:t>
            </a:r>
          </a:p>
          <a:p>
            <a:pPr algn="ctr"/>
            <a:r>
              <a:rPr sz="680">
                <a:solidFill>
                  <a:srgbClr val="1E293B"/>
                </a:solidFill>
                <a:latin typeface="Segoe UI"/>
              </a:rPr>
              <a:t>RemoteCLIP + FAISS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886200"/>
            <a:ext cx="12801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941064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1E7E34"/>
                </a:solidFill>
                <a:latin typeface="Consolas"/>
              </a:rPr>
              <a:t>03 COMPARE
</a:t>
            </a:r>
          </a:p>
          <a:p>
            <a:pPr algn="ctr"/>
            <a:r>
              <a:rPr sz="680">
                <a:solidFill>
                  <a:srgbClr val="1E293B"/>
                </a:solidFill>
                <a:latin typeface="Segoe UI"/>
              </a:rPr>
              <a:t>Calibrated Diff (τ=0.15)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4663440"/>
            <a:ext cx="12801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4718304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B45309"/>
                </a:solidFill>
                <a:latin typeface="Consolas"/>
              </a:rPr>
              <a:t>04 EXPLAIN
</a:t>
            </a:r>
          </a:p>
          <a:p>
            <a:pPr algn="ctr"/>
            <a:r>
              <a:rPr sz="680">
                <a:solidFill>
                  <a:srgbClr val="1E293B"/>
                </a:solidFill>
                <a:latin typeface="Segoe UI"/>
              </a:rPr>
              <a:t>Spectral + Spatial Math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3886200"/>
            <a:ext cx="12801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3941064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D97706"/>
                </a:solidFill>
                <a:latin typeface="Consolas"/>
              </a:rPr>
              <a:t>05 CHALLENGE
</a:t>
            </a:r>
          </a:p>
          <a:p>
            <a:pPr algn="ctr"/>
            <a:r>
              <a:rPr sz="680">
                <a:solidFill>
                  <a:srgbClr val="1E293B"/>
                </a:solidFill>
                <a:latin typeface="Segoe UI"/>
              </a:rPr>
              <a:t>3-Date Trajectory Check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6200" y="2468880"/>
            <a:ext cx="12801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2523744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163D6B"/>
                </a:solidFill>
                <a:latin typeface="Consolas"/>
              </a:rPr>
              <a:t>06 DECIDE
</a:t>
            </a:r>
          </a:p>
          <a:p>
            <a:pPr algn="ctr"/>
            <a:r>
              <a:rPr sz="680">
                <a:solidFill>
                  <a:srgbClr val="1E293B"/>
                </a:solidFill>
                <a:latin typeface="Segoe UI"/>
              </a:rPr>
              <a:t>Conservative Verdict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057400"/>
            <a:ext cx="274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BD5E1"/>
                </a:solidFill>
                <a:latin typeface="Segoe UI"/>
              </a:rPr>
              <a:t>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39" y="3291840"/>
            <a:ext cx="274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434840"/>
            <a:ext cx="274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BD5E1"/>
                </a:solidFill>
                <a:latin typeface="Segoe UI"/>
              </a:rPr>
              <a:t>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4434840"/>
            <a:ext cx="274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BD5E1"/>
                </a:solidFill>
                <a:latin typeface="Segoe UI"/>
              </a:rPr>
              <a:t>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291840"/>
            <a:ext cx="274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BD5E1"/>
                </a:solidFill>
                <a:latin typeface="Segoe UI"/>
              </a:rPr>
              <a:t>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2057400"/>
            <a:ext cx="274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CBD5E1"/>
                </a:solidFill>
                <a:latin typeface="Segoe UI"/>
              </a:rPr>
              <a:t>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1325880"/>
            <a:ext cx="28648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63D6B"/>
                </a:solidFill>
                <a:latin typeface="Consolas"/>
              </a:defRPr>
            </a:pPr>
            <a:r>
              <a:t>PROBLEM ↔ TERRAE RESPONSE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1645920"/>
            <a:ext cx="2864815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1682496"/>
            <a:ext cx="2681935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60" b="1">
                <a:solidFill>
                  <a:srgbClr val="64748B"/>
                </a:solidFill>
                <a:latin typeface="Consolas"/>
              </a:rPr>
              <a:t>MANUAL SEARCH </a:t>
            </a:r>
            <a:r>
              <a:rPr sz="700" b="1">
                <a:solidFill>
                  <a:srgbClr val="2563EB"/>
                </a:solidFill>
                <a:latin typeface="Segoe UI"/>
              </a:rPr>
              <a:t>➔ </a:t>
            </a:r>
            <a:r>
              <a:rPr sz="680" b="1">
                <a:solidFill>
                  <a:srgbClr val="2563EB"/>
                </a:solidFill>
                <a:latin typeface="Consolas"/>
              </a:rPr>
              <a:t>SEMANTIC RETRIEVAL</a:t>
            </a:r>
          </a:p>
          <a:p>
            <a:pPr>
              <a:spcBef>
                <a:spcPts val="150"/>
              </a:spcBef>
            </a:pPr>
            <a:r>
              <a:rPr sz="620">
                <a:solidFill>
                  <a:srgbClr val="1E293B"/>
                </a:solidFill>
                <a:latin typeface="Segoe UI"/>
              </a:rPr>
              <a:t>RemoteCLIP embeddings query 50+ satellite tiles across archives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2286000"/>
            <a:ext cx="2864815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2322576"/>
            <a:ext cx="2681935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60" b="1">
                <a:solidFill>
                  <a:srgbClr val="64748B"/>
                </a:solidFill>
                <a:latin typeface="Consolas"/>
              </a:rPr>
              <a:t>SINGLE BEFORE/AFTER </a:t>
            </a:r>
            <a:r>
              <a:rPr sz="700" b="1">
                <a:solidFill>
                  <a:srgbClr val="0D9488"/>
                </a:solidFill>
                <a:latin typeface="Segoe UI"/>
              </a:rPr>
              <a:t>➔ </a:t>
            </a:r>
            <a:r>
              <a:rPr sz="680" b="1">
                <a:solidFill>
                  <a:srgbClr val="0D9488"/>
                </a:solidFill>
                <a:latin typeface="Consolas"/>
              </a:rPr>
              <a:t>MULTI-TEMPORAL CONTEXT</a:t>
            </a:r>
          </a:p>
          <a:p>
            <a:pPr>
              <a:spcBef>
                <a:spcPts val="150"/>
              </a:spcBef>
            </a:pPr>
            <a:r>
              <a:rPr sz="620">
                <a:solidFill>
                  <a:srgbClr val="1E293B"/>
                </a:solidFill>
                <a:latin typeface="Segoe UI"/>
              </a:rPr>
              <a:t>T0 / TMID / T1 triplet stack suppresses seasonal phenology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2926080"/>
            <a:ext cx="2864815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2962656"/>
            <a:ext cx="2681935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60" b="1">
                <a:solidFill>
                  <a:srgbClr val="64748B"/>
                </a:solidFill>
                <a:latin typeface="Consolas"/>
              </a:rPr>
              <a:t>PIXEL DIFFERENCE </a:t>
            </a:r>
            <a:r>
              <a:rPr sz="700" b="1">
                <a:solidFill>
                  <a:srgbClr val="1E7E34"/>
                </a:solidFill>
                <a:latin typeface="Segoe UI"/>
              </a:rPr>
              <a:t>➔ </a:t>
            </a:r>
            <a:r>
              <a:rPr sz="680" b="1">
                <a:solidFill>
                  <a:srgbClr val="1E7E34"/>
                </a:solidFill>
                <a:latin typeface="Consolas"/>
              </a:rPr>
              <a:t>SPECTRAL + SPATIAL</a:t>
            </a:r>
          </a:p>
          <a:p>
            <a:pPr>
              <a:spcBef>
                <a:spcPts val="150"/>
              </a:spcBef>
            </a:pPr>
            <a:r>
              <a:rPr sz="620">
                <a:solidFill>
                  <a:srgbClr val="1E293B"/>
                </a:solidFill>
                <a:latin typeface="Segoe UI"/>
              </a:rPr>
              <a:t>NDVI, NDWI, NDBI indices combined with 8-conn spatial clusters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3566160"/>
            <a:ext cx="2864815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3602736"/>
            <a:ext cx="2681935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60" b="1">
                <a:solidFill>
                  <a:srgbClr val="64748B"/>
                </a:solidFill>
                <a:latin typeface="Consolas"/>
              </a:rPr>
              <a:t>OPAQUE RESULT </a:t>
            </a:r>
            <a:r>
              <a:rPr sz="700" b="1">
                <a:solidFill>
                  <a:srgbClr val="B45309"/>
                </a:solidFill>
                <a:latin typeface="Segoe UI"/>
              </a:rPr>
              <a:t>➔ </a:t>
            </a:r>
            <a:r>
              <a:rPr sz="680" b="1">
                <a:solidFill>
                  <a:srgbClr val="B45309"/>
                </a:solidFill>
                <a:latin typeface="Consolas"/>
              </a:rPr>
              <a:t>EVIDENCE CHAIN</a:t>
            </a:r>
          </a:p>
          <a:p>
            <a:pPr>
              <a:spcBef>
                <a:spcPts val="150"/>
              </a:spcBef>
            </a:pPr>
            <a:r>
              <a:rPr sz="620">
                <a:solidFill>
                  <a:srgbClr val="1E293B"/>
                </a:solidFill>
                <a:latin typeface="Segoe UI"/>
              </a:rPr>
              <a:t>Auditable spatial coherence, trajectory, and pixel breakdown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4206240"/>
            <a:ext cx="2864815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4242816"/>
            <a:ext cx="2681935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60" b="1">
                <a:solidFill>
                  <a:srgbClr val="64748B"/>
                </a:solidFill>
                <a:latin typeface="Consolas"/>
              </a:rPr>
              <a:t>FORCED DECISION </a:t>
            </a:r>
            <a:r>
              <a:rPr sz="700" b="1">
                <a:solidFill>
                  <a:srgbClr val="163D6B"/>
                </a:solidFill>
                <a:latin typeface="Segoe UI"/>
              </a:rPr>
              <a:t>➔ </a:t>
            </a:r>
            <a:r>
              <a:rPr sz="680" b="1">
                <a:solidFill>
                  <a:srgbClr val="163D6B"/>
                </a:solidFill>
                <a:latin typeface="Consolas"/>
              </a:rPr>
              <a:t>SUPPORTED / REVIEW</a:t>
            </a:r>
          </a:p>
          <a:p>
            <a:pPr>
              <a:spcBef>
                <a:spcPts val="150"/>
              </a:spcBef>
            </a:pPr>
            <a:r>
              <a:rPr sz="620">
                <a:solidFill>
                  <a:srgbClr val="1E293B"/>
                </a:solidFill>
                <a:latin typeface="Segoe UI"/>
              </a:rPr>
              <a:t>Conservative decision rules; abstain routing on low confidence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5360" y="4892040"/>
            <a:ext cx="2864815" cy="914400"/>
          </a:xfrm>
          <a:prstGeom prst="roundRect">
            <a:avLst/>
          </a:prstGeom>
          <a:solidFill>
            <a:srgbClr val="F8F7F3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05088" y="4965192"/>
            <a:ext cx="2645359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20" b="1">
                <a:solidFill>
                  <a:srgbClr val="1E7E34"/>
                </a:solidFill>
                <a:latin typeface="Consolas"/>
              </a:defRPr>
            </a:pPr>
            <a:r>
              <a:t>VERIFIED CASE 01 TELEMETRY:</a:t>
            </a:r>
          </a:p>
          <a:p>
            <a:r>
              <a:rPr sz="680">
                <a:solidFill>
                  <a:srgbClr val="1E293B"/>
                </a:solidFill>
                <a:latin typeface="Segoe UI"/>
              </a:rPr>
              <a:t>• 7,549 px Changed (11.5%)  |  Spatial Coherence: 99.7%
• Built Support: 97.1%  |  Trajectory: LATE_ONSET
• System Verdict: ✔ SUPPORTED (High Coherence)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7F3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952744"/>
            <a:ext cx="1054577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63D6B"/>
                </a:solidFill>
                <a:latin typeface="Georgia"/>
              </a:rPr>
              <a:t>“NOT JUST CHANGE DETECTION. INVESTIGATION.”</a:t>
            </a:r>
          </a:p>
          <a:p>
            <a:pPr algn="ctr"/>
            <a:r>
              <a:rPr sz="720">
                <a:solidFill>
                  <a:srgbClr val="64748B"/>
                </a:solidFill>
                <a:latin typeface="Consolas"/>
              </a:rPr>
              <a:t>Live Console: https://terrae-geospatial-intelligence.vercel.app   |   GitHub: https://github.com/PhantomCipher13/terrae-geospatial-intelligence   |   Report: REPORT.md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"/>
            <a:ext cx="10728655" cy="22860"/>
          </a:xfrm>
          <a:prstGeom prst="rect">
            <a:avLst/>
          </a:prstGeom>
          <a:solidFill>
            <a:srgbClr val="1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63D6B"/>
                </a:solidFill>
                <a:latin typeface="Consolas"/>
              </a:defRPr>
            </a:pPr>
            <a:r>
              <a:t>SMART INDIA HACKATHON 2026 · PS: SIH26227 · SPACE TECHNOLOGY · SOFTWARE · MINISTRY OF DEFENCE / INDIAN ARMY — DGIS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47472"/>
            <a:ext cx="368777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Consolas"/>
              </a:rPr>
              <a:t>TEAM: Quantumcrew  |  </a:t>
            </a:r>
            <a:r>
              <a:rPr sz="800" b="1">
                <a:solidFill>
                  <a:srgbClr val="163D6B"/>
                </a:solidFill>
                <a:latin typeface="Consolas"/>
              </a:rPr>
              <a:t>SLIDE 03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63D6B"/>
                </a:solidFill>
                <a:latin typeface="Georgia"/>
              </a:defRPr>
            </a:pPr>
            <a:r>
              <a:t>03 — TECHNICAL APPROACH / METHODOLOGY &amp; PROCESS OF IMPLEMENTATION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SYSTEM ARCHITECTURE &amp; MULTI-STREAM EVIDENCE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107286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80">
                <a:solidFill>
                  <a:srgbClr val="64748B"/>
                </a:solidFill>
                <a:latin typeface="Segoe UI"/>
              </a:rPr>
              <a:t>TERRAE — Earth Intelligence Satellite Investigation Console  |  Ministry of Defence / Indian Army — DGIS  |  SIH 2026 Submission</a:t>
            </a:r>
            <a:r>
              <a:rPr sz="780">
                <a:solidFill>
                  <a:srgbClr val="64748B"/>
                </a:solidFill>
                <a:latin typeface="Segoe UI"/>
              </a:rPr>
              <a:t>                                                         Live Console: </a:t>
            </a:r>
            <a:r>
              <a:rPr sz="780">
                <a:solidFill>
                  <a:srgbClr val="163D6B"/>
                </a:solidFill>
                <a:latin typeface="Segoe UI"/>
                <a:hlinkClick r:id="rId2"/>
              </a:rPr>
              <a:t>https://terrae-geospatial-intelligence.vercel.app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26517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63D6B"/>
                </a:solidFill>
                <a:latin typeface="Consolas"/>
              </a:defRPr>
            </a:pPr>
            <a:r>
              <a:t>METHODOLOGY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783080"/>
            <a:ext cx="2377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837944"/>
            <a:ext cx="219456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2563EB"/>
                </a:solidFill>
                <a:latin typeface="Consolas"/>
              </a:rPr>
              <a:t>ASK </a:t>
            </a:r>
            <a:r>
              <a:rPr sz="700" b="1">
                <a:solidFill>
                  <a:srgbClr val="1E293B"/>
                </a:solidFill>
                <a:latin typeface="Segoe UI"/>
              </a:rPr>
              <a:t>· Natural Language
</a:t>
            </a:r>
          </a:p>
          <a:p>
            <a:r>
              <a:rPr sz="650">
                <a:solidFill>
                  <a:srgbClr val="64748B"/>
                </a:solidFill>
                <a:latin typeface="Segoe UI"/>
              </a:rPr>
              <a:t>Parses operational intent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468880"/>
            <a:ext cx="2377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23744"/>
            <a:ext cx="219456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2563EB"/>
                </a:solidFill>
                <a:latin typeface="Consolas"/>
              </a:rPr>
              <a:t>DISCOVER </a:t>
            </a:r>
            <a:r>
              <a:rPr sz="700" b="1">
                <a:solidFill>
                  <a:srgbClr val="1E293B"/>
                </a:solidFill>
                <a:latin typeface="Segoe UI"/>
              </a:rPr>
              <a:t>· RemoteCLIP + FAISS
</a:t>
            </a:r>
          </a:p>
          <a:p>
            <a:r>
              <a:rPr sz="650">
                <a:solidFill>
                  <a:srgbClr val="64748B"/>
                </a:solidFill>
                <a:latin typeface="Segoe UI"/>
              </a:rPr>
              <a:t>512-dim joint cosine retrieval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154680"/>
            <a:ext cx="2377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209544"/>
            <a:ext cx="219456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1E7E34"/>
                </a:solidFill>
                <a:latin typeface="Consolas"/>
              </a:rPr>
              <a:t>COMPARE </a:t>
            </a:r>
            <a:r>
              <a:rPr sz="700" b="1">
                <a:solidFill>
                  <a:srgbClr val="1E293B"/>
                </a:solidFill>
                <a:latin typeface="Segoe UI"/>
              </a:rPr>
              <a:t>· T0 / TMID / T1
</a:t>
            </a:r>
          </a:p>
          <a:p>
            <a:r>
              <a:rPr sz="650">
                <a:solidFill>
                  <a:srgbClr val="64748B"/>
                </a:solidFill>
                <a:latin typeface="Segoe UI"/>
              </a:rPr>
              <a:t>Multi-band spectral shift (τ=0.15)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840480"/>
            <a:ext cx="2377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895344"/>
            <a:ext cx="219456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1E7E34"/>
                </a:solidFill>
                <a:latin typeface="Consolas"/>
              </a:rPr>
              <a:t>EXPLAIN </a:t>
            </a:r>
            <a:r>
              <a:rPr sz="700" b="1">
                <a:solidFill>
                  <a:srgbClr val="1E293B"/>
                </a:solidFill>
                <a:latin typeface="Segoe UI"/>
              </a:rPr>
              <a:t>· Spectral + Spatial
</a:t>
            </a:r>
          </a:p>
          <a:p>
            <a:r>
              <a:rPr sz="650">
                <a:solidFill>
                  <a:srgbClr val="64748B"/>
                </a:solidFill>
                <a:latin typeface="Segoe UI"/>
              </a:rPr>
              <a:t>NDVI, NDWI &amp; 8-conn topology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526280"/>
            <a:ext cx="2377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81144"/>
            <a:ext cx="219456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163D6B"/>
                </a:solidFill>
                <a:latin typeface="Consolas"/>
              </a:rPr>
              <a:t>CHALLENGE </a:t>
            </a:r>
            <a:r>
              <a:rPr sz="700" b="1">
                <a:solidFill>
                  <a:srgbClr val="1E293B"/>
                </a:solidFill>
                <a:latin typeface="Segoe UI"/>
              </a:rPr>
              <a:t>· Temporal Evidence
</a:t>
            </a:r>
          </a:p>
          <a:p>
            <a:r>
              <a:rPr sz="650">
                <a:solidFill>
                  <a:srgbClr val="64748B"/>
                </a:solidFill>
                <a:latin typeface="Segoe UI"/>
              </a:rPr>
              <a:t>MECE trajectory persistence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212080"/>
            <a:ext cx="2377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66944"/>
            <a:ext cx="219456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163D6B"/>
                </a:solidFill>
                <a:latin typeface="Consolas"/>
              </a:rPr>
              <a:t>DECIDE </a:t>
            </a:r>
            <a:r>
              <a:rPr sz="700" b="1">
                <a:solidFill>
                  <a:srgbClr val="1E293B"/>
                </a:solidFill>
                <a:latin typeface="Segoe UI"/>
              </a:rPr>
              <a:t>· Supported / Review
</a:t>
            </a:r>
          </a:p>
          <a:p>
            <a:r>
              <a:rPr sz="650">
                <a:solidFill>
                  <a:srgbClr val="64748B"/>
                </a:solidFill>
                <a:latin typeface="Segoe UI"/>
              </a:rPr>
              <a:t>Auditable conservative verdict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1325880"/>
            <a:ext cx="49377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14173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63D6B"/>
                </a:solidFill>
                <a:latin typeface="Consolas"/>
              </a:defRPr>
            </a:pPr>
            <a:r>
              <a:t>CORE SYSTEM PIPELINE (END-TO-END DATAFLOW)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1737360"/>
            <a:ext cx="4572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177393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20" b="1">
                <a:solidFill>
                  <a:srgbClr val="2563EB"/>
                </a:solidFill>
                <a:latin typeface="Consolas"/>
              </a:rPr>
              <a:t>NATURAL LANGUAGE  </a:t>
            </a:r>
            <a:r>
              <a:rPr sz="700">
                <a:solidFill>
                  <a:srgbClr val="1E293B"/>
                </a:solidFill>
                <a:latin typeface="Segoe UI"/>
              </a:rPr>
              <a:t>➔  “new construction and buildings”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075688"/>
            <a:ext cx="3657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40" y="2231136"/>
            <a:ext cx="4572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226771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20" b="1">
                <a:solidFill>
                  <a:srgbClr val="2563EB"/>
                </a:solidFill>
                <a:latin typeface="Consolas"/>
              </a:rPr>
              <a:t>REMOTECLIP ViT-B-32  </a:t>
            </a:r>
            <a:r>
              <a:rPr sz="700">
                <a:solidFill>
                  <a:srgbClr val="1E293B"/>
                </a:solidFill>
                <a:latin typeface="Segoe UI"/>
              </a:rPr>
              <a:t>➔  512-dim joint vision-language embedding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2569464"/>
            <a:ext cx="3657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49040" y="2724912"/>
            <a:ext cx="4572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276148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20" b="1">
                <a:solidFill>
                  <a:srgbClr val="0D9488"/>
                </a:solidFill>
                <a:latin typeface="Consolas"/>
              </a:rPr>
              <a:t>FAISS FlatIP  </a:t>
            </a:r>
            <a:r>
              <a:rPr sz="700">
                <a:solidFill>
                  <a:srgbClr val="1E293B"/>
                </a:solidFill>
                <a:latin typeface="Segoe UI"/>
              </a:rPr>
              <a:t>➔  Nearest satellite tile cosine scan (2.0 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063240"/>
            <a:ext cx="3657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49040" y="3218688"/>
            <a:ext cx="4572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3255264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20" b="1">
                <a:solidFill>
                  <a:srgbClr val="0D9488"/>
                </a:solidFill>
                <a:latin typeface="Consolas"/>
              </a:rPr>
              <a:t>SATELLITE TILE  </a:t>
            </a:r>
            <a:r>
              <a:rPr sz="700">
                <a:solidFill>
                  <a:srgbClr val="1E293B"/>
                </a:solidFill>
                <a:latin typeface="Segoe UI"/>
              </a:rPr>
              <a:t>➔  MGRS 43RGM / EPSG:32643 10m UTM Grid</a:t>
            </a:r>
          </a:p>
        </p:txBody>
      </p:sp>
      <p:pic>
        <p:nvPicPr>
          <p:cNvPr id="36" name="Picture 35" descr="beirut_t1_rg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3236976"/>
            <a:ext cx="292608" cy="2926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52160" y="3557016"/>
            <a:ext cx="3657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49040" y="3712464"/>
            <a:ext cx="4572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0" y="374904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20" b="1">
                <a:solidFill>
                  <a:srgbClr val="1E7E34"/>
                </a:solidFill>
                <a:latin typeface="Consolas"/>
              </a:rPr>
              <a:t>T0 / TMID / T1  </a:t>
            </a:r>
            <a:r>
              <a:rPr sz="700">
                <a:solidFill>
                  <a:srgbClr val="1E293B"/>
                </a:solidFill>
                <a:latin typeface="Segoe UI"/>
              </a:rPr>
              <a:t>➔  Multi-date temporal observation stack</a:t>
            </a:r>
          </a:p>
        </p:txBody>
      </p:sp>
      <p:pic>
        <p:nvPicPr>
          <p:cNvPr id="40" name="Picture 39" descr="sentinel2_tmid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730752"/>
            <a:ext cx="292608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52160" y="4050792"/>
            <a:ext cx="3657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49040" y="4206240"/>
            <a:ext cx="4572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0" y="424281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20" b="1">
                <a:solidFill>
                  <a:srgbClr val="1E7E34"/>
                </a:solidFill>
                <a:latin typeface="Consolas"/>
              </a:rPr>
              <a:t>SPECTRAL CHANGE  </a:t>
            </a:r>
            <a:r>
              <a:rPr sz="700">
                <a:solidFill>
                  <a:srgbClr val="1E293B"/>
                </a:solidFill>
                <a:latin typeface="Segoe UI"/>
              </a:rPr>
              <a:t>➔  B02, B03, B04, B08 differencing (τ = 0.15)</a:t>
            </a:r>
          </a:p>
        </p:txBody>
      </p:sp>
      <p:pic>
        <p:nvPicPr>
          <p:cNvPr id="44" name="Picture 43" descr="evidence_02_mas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4224528"/>
            <a:ext cx="292608" cy="29260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852160" y="4544568"/>
            <a:ext cx="3657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49040" y="4700016"/>
            <a:ext cx="4572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0" y="473659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20" b="1">
                <a:solidFill>
                  <a:srgbClr val="B45309"/>
                </a:solidFill>
                <a:latin typeface="Consolas"/>
              </a:rPr>
              <a:t>SPATIAL COHERENCE  </a:t>
            </a:r>
            <a:r>
              <a:rPr sz="700">
                <a:solidFill>
                  <a:srgbClr val="1E293B"/>
                </a:solidFill>
                <a:latin typeface="Segoe UI"/>
              </a:rPr>
              <a:t>➔  8-connected topology + NDVI / NDWI math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5038344"/>
            <a:ext cx="3657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49040" y="5193792"/>
            <a:ext cx="4572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0" y="523036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20" b="1">
                <a:solidFill>
                  <a:srgbClr val="D97706"/>
                </a:solidFill>
                <a:latin typeface="Consolas"/>
              </a:rPr>
              <a:t>TEMPORAL TRAJECTORY  </a:t>
            </a:r>
            <a:r>
              <a:rPr sz="700">
                <a:solidFill>
                  <a:srgbClr val="1E293B"/>
                </a:solidFill>
                <a:latin typeface="Segoe UI"/>
              </a:rPr>
              <a:t>➔  MECE persistence classification (5 states)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0" y="5532120"/>
            <a:ext cx="3657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49040" y="5687568"/>
            <a:ext cx="4572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40480" y="5724144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20" b="1">
                <a:solidFill>
                  <a:srgbClr val="163D6B"/>
                </a:solidFill>
                <a:latin typeface="Consolas"/>
              </a:rPr>
              <a:t>CONSERVATIVE VERDICT  </a:t>
            </a:r>
            <a:r>
              <a:rPr sz="700">
                <a:solidFill>
                  <a:srgbClr val="1E293B"/>
                </a:solidFill>
                <a:latin typeface="Segoe UI"/>
              </a:rPr>
              <a:t>➔  SUPPORTED / REVIEW / ABSTAIN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86800" y="1325880"/>
            <a:ext cx="277337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23960" y="1417320"/>
            <a:ext cx="24990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63D6B"/>
                </a:solidFill>
                <a:latin typeface="Consolas"/>
              </a:defRPr>
            </a:pPr>
            <a:r>
              <a:t>TECHNOLOGIES USED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23960" y="1783080"/>
            <a:ext cx="24990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15400" y="1874520"/>
            <a:ext cx="23161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2563EB"/>
                </a:solidFill>
                <a:latin typeface="Consolas"/>
              </a:defRPr>
            </a:pPr>
            <a:r>
              <a:t>SEMANTIC RETRIEVAL</a:t>
            </a:r>
          </a:p>
          <a:p>
            <a:r>
              <a:rPr sz="800" b="1">
                <a:solidFill>
                  <a:srgbClr val="1E293B"/>
                </a:solidFill>
                <a:latin typeface="Segoe UI"/>
              </a:rPr>
              <a:t>RemoteCLIP + FAISS</a:t>
            </a:r>
          </a:p>
          <a:p>
            <a:r>
              <a:rPr sz="680">
                <a:solidFill>
                  <a:srgbClr val="64748B"/>
                </a:solidFill>
                <a:latin typeface="Segoe UI"/>
              </a:rPr>
              <a:t>Vision-language cross-modal embeddings + CPU vector indexing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23960" y="2926080"/>
            <a:ext cx="24990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15400" y="3017520"/>
            <a:ext cx="23161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E7E34"/>
                </a:solidFill>
                <a:latin typeface="Consolas"/>
              </a:defRPr>
            </a:pPr>
            <a:r>
              <a:t>GEOSPATIAL</a:t>
            </a:r>
          </a:p>
          <a:p>
            <a:r>
              <a:rPr sz="800" b="1">
                <a:solidFill>
                  <a:srgbClr val="1E293B"/>
                </a:solidFill>
                <a:latin typeface="Segoe UI"/>
              </a:rPr>
              <a:t>Rasterio + NumPy + SciPy</a:t>
            </a:r>
          </a:p>
          <a:p>
            <a:r>
              <a:rPr sz="680">
                <a:solidFill>
                  <a:srgbClr val="64748B"/>
                </a:solidFill>
                <a:latin typeface="Segoe UI"/>
              </a:rPr>
              <a:t>GDAL bindings, surface reflectance math, 8-conn topology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23960" y="4069080"/>
            <a:ext cx="24990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15400" y="4160520"/>
            <a:ext cx="23161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B45309"/>
                </a:solidFill>
                <a:latin typeface="Consolas"/>
              </a:defRPr>
            </a:pPr>
            <a:r>
              <a:t>TEMPORAL / VALIDATION</a:t>
            </a:r>
          </a:p>
          <a:p>
            <a:r>
              <a:rPr sz="800" b="1">
                <a:solidFill>
                  <a:srgbClr val="1E293B"/>
                </a:solidFill>
                <a:latin typeface="Segoe UI"/>
              </a:rPr>
              <a:t>Sentinel-2 + OSCD + SQLite</a:t>
            </a:r>
          </a:p>
          <a:p>
            <a:r>
              <a:rPr sz="680">
                <a:solidFill>
                  <a:srgbClr val="64748B"/>
                </a:solidFill>
                <a:latin typeface="Segoe UI"/>
              </a:rPr>
              <a:t>10m BOA reflectance, MGRS grid, MECE trajectory classifier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23960" y="5212080"/>
            <a:ext cx="24990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15400" y="5303520"/>
            <a:ext cx="23161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63D6B"/>
                </a:solidFill>
                <a:latin typeface="Consolas"/>
              </a:defRPr>
            </a:pPr>
            <a:r>
              <a:t>OFFLINE-FIRST</a:t>
            </a:r>
          </a:p>
          <a:p>
            <a:r>
              <a:rPr sz="800" b="1">
                <a:solidFill>
                  <a:srgbClr val="1E293B"/>
                </a:solidFill>
                <a:latin typeface="Segoe UI"/>
              </a:rPr>
              <a:t>Python + Streamlit + Local Models</a:t>
            </a:r>
          </a:p>
          <a:p>
            <a:r>
              <a:rPr sz="680">
                <a:solidFill>
                  <a:srgbClr val="64748B"/>
                </a:solidFill>
                <a:latin typeface="Segoe UI"/>
              </a:rPr>
              <a:t>Air-gapped operation with zero external runtime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"/>
            <a:ext cx="10728655" cy="22860"/>
          </a:xfrm>
          <a:prstGeom prst="rect">
            <a:avLst/>
          </a:prstGeom>
          <a:solidFill>
            <a:srgbClr val="1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63D6B"/>
                </a:solidFill>
                <a:latin typeface="Consolas"/>
              </a:defRPr>
            </a:pPr>
            <a:r>
              <a:t>SMART INDIA HACKATHON 2026 · PS: SIH26227 · SPACE TECHNOLOGY · SOFTWARE · MINISTRY OF DEFENCE / INDIAN ARMY — DGIS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47472"/>
            <a:ext cx="368777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Consolas"/>
              </a:rPr>
              <a:t>TEAM: Quantumcrew  |  </a:t>
            </a:r>
            <a:r>
              <a:rPr sz="800" b="1">
                <a:solidFill>
                  <a:srgbClr val="163D6B"/>
                </a:solidFill>
                <a:latin typeface="Consolas"/>
              </a:rPr>
              <a:t>SLIDE 04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63D6B"/>
                </a:solidFill>
                <a:latin typeface="Georgia"/>
              </a:defRPr>
            </a:pPr>
            <a:r>
              <a:t>04 — FEASIBILITY &amp; VIABILITY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BUILT TO RUN LOCALLY. VALIDATED ON REAL SENTINEL-2.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107286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80">
                <a:solidFill>
                  <a:srgbClr val="64748B"/>
                </a:solidFill>
                <a:latin typeface="Segoe UI"/>
              </a:rPr>
              <a:t>TERRAE — Earth Intelligence Satellite Investigation Console  |  Ministry of Defence / Indian Army — DGIS  |  SIH 2026 Submission</a:t>
            </a:r>
            <a:r>
              <a:rPr sz="780">
                <a:solidFill>
                  <a:srgbClr val="64748B"/>
                </a:solidFill>
                <a:latin typeface="Segoe UI"/>
              </a:rPr>
              <a:t>                                                         Live Console: </a:t>
            </a:r>
            <a:r>
              <a:rPr sz="780">
                <a:solidFill>
                  <a:srgbClr val="163D6B"/>
                </a:solidFill>
                <a:latin typeface="Segoe UI"/>
                <a:hlinkClick r:id="rId2"/>
              </a:rPr>
              <a:t>https://terrae-geospatial-intelligence.vercel.app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63D6B"/>
                </a:solidFill>
                <a:latin typeface="Consolas"/>
              </a:defRPr>
            </a:pPr>
            <a:r>
              <a:t>FEASIBILITY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23774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55648"/>
            <a:ext cx="2103120" cy="1106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2563EB"/>
                </a:solidFill>
                <a:latin typeface="Consolas"/>
              </a:defRPr>
            </a:pPr>
            <a:r>
              <a:t>LOCAL AI</a:t>
            </a:r>
          </a:p>
          <a:p>
            <a:r>
              <a:rPr sz="850" b="1">
                <a:solidFill>
                  <a:srgbClr val="1E293B"/>
                </a:solidFill>
                <a:latin typeface="Segoe UI"/>
              </a:rPr>
              <a:t>RemoteCLIP + FAISS</a:t>
            </a:r>
          </a:p>
          <a:p>
            <a:pPr>
              <a:spcBef>
                <a:spcPts val="200"/>
              </a:spcBef>
            </a:pPr>
            <a:r>
              <a:rPr sz="700">
                <a:solidFill>
                  <a:srgbClr val="64748B"/>
                </a:solidFill>
                <a:latin typeface="Segoe UI"/>
              </a:rPr>
              <a:t>Runs on standard CPU
8–16 GB RAM footprint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99816"/>
            <a:ext cx="23774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09544"/>
            <a:ext cx="2103120" cy="1106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E7E34"/>
                </a:solidFill>
                <a:latin typeface="Consolas"/>
              </a:defRPr>
            </a:pPr>
            <a:r>
              <a:t>REAL DATA</a:t>
            </a:r>
          </a:p>
          <a:p>
            <a:r>
              <a:rPr sz="850" b="1">
                <a:solidFill>
                  <a:srgbClr val="1E293B"/>
                </a:solidFill>
                <a:latin typeface="Segoe UI"/>
              </a:rPr>
              <a:t>Sentinel-2A · 10m</a:t>
            </a:r>
          </a:p>
          <a:p>
            <a:pPr>
              <a:spcBef>
                <a:spcPts val="200"/>
              </a:spcBef>
            </a:pPr>
            <a:r>
              <a:rPr sz="700">
                <a:solidFill>
                  <a:srgbClr val="64748B"/>
                </a:solidFill>
                <a:latin typeface="Segoe UI"/>
              </a:rPr>
              <a:t>Level-2A BOA Surface
B02, B03, B04, B08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53712"/>
            <a:ext cx="23774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2103120" cy="1106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B45309"/>
                </a:solidFill>
                <a:latin typeface="Consolas"/>
              </a:defRPr>
            </a:pPr>
            <a:r>
              <a:t>DETERMINISTIC</a:t>
            </a:r>
          </a:p>
          <a:p>
            <a:r>
              <a:rPr sz="850" b="1">
                <a:solidFill>
                  <a:srgbClr val="1E293B"/>
                </a:solidFill>
                <a:latin typeface="Segoe UI"/>
              </a:rPr>
              <a:t>Threshold τ = 0.15</a:t>
            </a:r>
          </a:p>
          <a:p>
            <a:pPr>
              <a:spcBef>
                <a:spcPts val="200"/>
              </a:spcBef>
            </a:pPr>
            <a:r>
              <a:rPr sz="700">
                <a:solidFill>
                  <a:srgbClr val="64748B"/>
                </a:solidFill>
                <a:latin typeface="Segoe UI"/>
              </a:rPr>
              <a:t>NDVI &amp; NDWI math
Zero hallucination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325880"/>
            <a:ext cx="56235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63D6B"/>
                </a:solidFill>
                <a:latin typeface="Consolas"/>
              </a:defRPr>
            </a:pPr>
            <a:r>
              <a:t>REAL SENTINEL-2 MULTI-DATE VALIDATION (MGRS 43RGM · NCR INDIA)</a:t>
            </a:r>
          </a:p>
        </p:txBody>
      </p:sp>
      <p:pic>
        <p:nvPicPr>
          <p:cNvPr id="17" name="Picture 16" descr="sentinel2_t0_rg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645920"/>
            <a:ext cx="1691640" cy="16916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291840" y="3392424"/>
            <a:ext cx="169164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4107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163D6B"/>
                </a:solidFill>
                <a:latin typeface="Consolas"/>
              </a:rPr>
              <a:t>T0 · 19 MAY 2023
</a:t>
            </a:r>
            <a:r>
              <a:rPr sz="650">
                <a:solidFill>
                  <a:srgbClr val="64748B"/>
                </a:solidFill>
                <a:latin typeface="Segoe UI"/>
              </a:rPr>
              <a:t>Pre-Monsoon Dry Baseline</a:t>
            </a:r>
          </a:p>
        </p:txBody>
      </p:sp>
      <p:pic>
        <p:nvPicPr>
          <p:cNvPr id="20" name="Picture 19" descr="sentinel2_tmid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1645920"/>
            <a:ext cx="1691640" cy="16916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148072" y="3392424"/>
            <a:ext cx="169164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34107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163D6B"/>
                </a:solidFill>
                <a:latin typeface="Consolas"/>
              </a:rPr>
              <a:t>TMID · 06 OCT 2023
</a:t>
            </a:r>
            <a:r>
              <a:rPr sz="650">
                <a:solidFill>
                  <a:srgbClr val="64748B"/>
                </a:solidFill>
                <a:latin typeface="Segoe UI"/>
              </a:rPr>
              <a:t>Post-Monsoon Green Peak</a:t>
            </a:r>
          </a:p>
        </p:txBody>
      </p:sp>
      <p:pic>
        <p:nvPicPr>
          <p:cNvPr id="23" name="Picture 22" descr="sentinel2_t1_rg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4" y="1645920"/>
            <a:ext cx="1691640" cy="169164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004304" y="3392424"/>
            <a:ext cx="169164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0024" y="34107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163D6B"/>
                </a:solidFill>
                <a:latin typeface="Consolas"/>
              </a:rPr>
              <a:t>T1 · 05 DEC 2023
</a:t>
            </a:r>
            <a:r>
              <a:rPr sz="650">
                <a:solidFill>
                  <a:srgbClr val="64748B"/>
                </a:solidFill>
                <a:latin typeface="Segoe UI"/>
              </a:rPr>
              <a:t>Winter Post-Harvest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2377440"/>
            <a:ext cx="109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B45309"/>
                </a:solidFill>
                <a:latin typeface="Segoe UI"/>
              </a:rPr>
              <a:t>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7144" y="2377440"/>
            <a:ext cx="109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B45309"/>
                </a:solidFill>
                <a:latin typeface="Segoe UI"/>
              </a:rPr>
              <a:t>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3977639"/>
            <a:ext cx="562356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087367"/>
            <a:ext cx="52578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63D6B"/>
                </a:solidFill>
                <a:latin typeface="Consolas"/>
              </a:defRPr>
            </a:pPr>
            <a:r>
              <a:t>EMPIRICAL OBSERVATION METRICS (262,144 VALID PIXELS · 10M GSD)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D97706"/>
                </a:solidFill>
                <a:latin typeface="Consolas"/>
              </a:rPr>
              <a:t>0.7% (T0 → TMID)    |    0.2% (TMID → T1)    |    1.0% (T0 → T1)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E7E34"/>
                </a:solidFill>
                <a:latin typeface="Segoe UI"/>
              </a:rPr>
              <a:t>98.75% STABLE    </a:t>
            </a:r>
            <a:r>
              <a:rPr sz="800" b="1">
                <a:solidFill>
                  <a:srgbClr val="D97706"/>
                </a:solidFill>
                <a:latin typeface="Consolas"/>
              </a:rPr>
              <a:t>VERDICT: REVIEW (Ambiguous phenology routed to human analyst)</a:t>
            </a:r>
          </a:p>
          <a:p>
            <a:pPr>
              <a:spcBef>
                <a:spcPts val="400"/>
              </a:spcBef>
            </a:pPr>
            <a:r>
              <a:rPr sz="750">
                <a:solidFill>
                  <a:srgbClr val="1E293B"/>
                </a:solidFill>
                <a:latin typeface="Consolas"/>
              </a:rPr>
              <a:t>Attribution Support:  Built 51.1%  |  Vegetation 24.7%  |  Seasonal 19.9%  |  Unresolved 3.1%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5486399"/>
            <a:ext cx="2686735" cy="10972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1455" y="5486399"/>
            <a:ext cx="1298676" cy="109728"/>
          </a:xfrm>
          <a:prstGeom prst="rect">
            <a:avLst/>
          </a:prstGeom>
          <a:solidFill>
            <a:srgbClr val="1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60132" y="5486399"/>
            <a:ext cx="1046302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6434" y="5486399"/>
            <a:ext cx="226085" cy="1097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325880"/>
            <a:ext cx="2361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63D6B"/>
                </a:solidFill>
                <a:latin typeface="Consolas"/>
              </a:defRPr>
            </a:pPr>
            <a:r>
              <a:t>VIABILITY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1645920"/>
            <a:ext cx="2361895" cy="95097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1737360"/>
            <a:ext cx="2087575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2563EB"/>
                </a:solidFill>
                <a:latin typeface="Consolas"/>
              </a:defRPr>
            </a:pPr>
            <a:r>
              <a:t>OFFLINE-FIRST</a:t>
            </a:r>
          </a:p>
          <a:p>
            <a:r>
              <a:rPr sz="700">
                <a:solidFill>
                  <a:srgbClr val="1E293B"/>
                </a:solidFill>
                <a:latin typeface="Segoe UI"/>
              </a:rPr>
              <a:t>Air-gapped operation; zero cloud egress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2706624"/>
            <a:ext cx="2361895" cy="95097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2798064"/>
            <a:ext cx="2087575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E7E34"/>
                </a:solidFill>
                <a:latin typeface="Consolas"/>
              </a:defRPr>
            </a:pPr>
            <a:r>
              <a:t>ANALYST-IN-LOOP</a:t>
            </a:r>
          </a:p>
          <a:p>
            <a:r>
              <a:rPr sz="700">
                <a:solidFill>
                  <a:srgbClr val="1E293B"/>
                </a:solidFill>
                <a:latin typeface="Segoe UI"/>
              </a:rPr>
              <a:t>Review ambiguous evidence; no black box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3767328"/>
            <a:ext cx="2361895" cy="95097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3858768"/>
            <a:ext cx="2087575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B45309"/>
                </a:solidFill>
                <a:latin typeface="Consolas"/>
              </a:defRPr>
            </a:pPr>
            <a:r>
              <a:t>MODULAR</a:t>
            </a:r>
          </a:p>
          <a:p>
            <a:r>
              <a:rPr sz="700">
                <a:solidFill>
                  <a:srgbClr val="1E293B"/>
                </a:solidFill>
                <a:latin typeface="Segoe UI"/>
              </a:rPr>
              <a:t>Decoupled index, sensor &amp; persistence code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4828032"/>
            <a:ext cx="2361895" cy="95097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4919472"/>
            <a:ext cx="2087575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63D6B"/>
                </a:solidFill>
                <a:latin typeface="Consolas"/>
              </a:defRPr>
            </a:pPr>
            <a:r>
              <a:t>EXTENSIBLE</a:t>
            </a:r>
          </a:p>
          <a:p>
            <a:r>
              <a:rPr sz="700">
                <a:solidFill>
                  <a:srgbClr val="1E293B"/>
                </a:solidFill>
                <a:latin typeface="Segoe UI"/>
              </a:rPr>
              <a:t>Supports SAR, thermal &amp; dense time series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943600"/>
            <a:ext cx="10728655" cy="438912"/>
          </a:xfrm>
          <a:prstGeom prst="roundRect">
            <a:avLst/>
          </a:prstGeom>
          <a:solidFill>
            <a:srgbClr val="F8F7F3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998464"/>
            <a:ext cx="10545775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1E7E34"/>
                </a:solidFill>
                <a:latin typeface="Consolas"/>
              </a:rPr>
              <a:t>[135 / 135 TESTS PASSING]   </a:t>
            </a:r>
            <a:r>
              <a:rPr sz="800" b="1">
                <a:solidFill>
                  <a:srgbClr val="2563EB"/>
                </a:solidFill>
                <a:latin typeface="Consolas"/>
              </a:rPr>
              <a:t>[ZERO RUNTIME EXTERNAL CALLS]   </a:t>
            </a:r>
            <a:r>
              <a:rPr sz="800" b="1">
                <a:solidFill>
                  <a:srgbClr val="B45309"/>
                </a:solidFill>
                <a:latin typeface="Consolas"/>
              </a:rPr>
              <a:t>[262,144 VALID PIXELS]   </a:t>
            </a:r>
            <a:r>
              <a:rPr sz="800" b="1">
                <a:solidFill>
                  <a:srgbClr val="163D6B"/>
                </a:solidFill>
                <a:latin typeface="Consolas"/>
              </a:rPr>
              <a:t>[DETERMINISTIC τ = 0.15]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"/>
            <a:ext cx="10728655" cy="22860"/>
          </a:xfrm>
          <a:prstGeom prst="rect">
            <a:avLst/>
          </a:prstGeom>
          <a:solidFill>
            <a:srgbClr val="1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63D6B"/>
                </a:solidFill>
                <a:latin typeface="Consolas"/>
              </a:defRPr>
            </a:pPr>
            <a:r>
              <a:t>SMART INDIA HACKATHON 2026 · PS: SIH26227 · SPACE TECHNOLOGY · SOFTWARE · MINISTRY OF DEFENCE / INDIAN ARMY — DGIS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47472"/>
            <a:ext cx="368777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Consolas"/>
              </a:rPr>
              <a:t>TEAM: Quantumcrew  |  </a:t>
            </a:r>
            <a:r>
              <a:rPr sz="800" b="1">
                <a:solidFill>
                  <a:srgbClr val="163D6B"/>
                </a:solidFill>
                <a:latin typeface="Consolas"/>
              </a:rPr>
              <a:t>SLIDE 05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63D6B"/>
                </a:solidFill>
                <a:latin typeface="Georgia"/>
              </a:defRPr>
            </a:pPr>
            <a:r>
              <a:t>05 — IMPACT &amp; BENEFITS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TURNING SATELLITE ARCHIVES INTO AN INVESTIGATION WORKBENCH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107286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80">
                <a:solidFill>
                  <a:srgbClr val="64748B"/>
                </a:solidFill>
                <a:latin typeface="Segoe UI"/>
              </a:rPr>
              <a:t>TERRAE — Earth Intelligence Satellite Investigation Console  |  Ministry of Defence / Indian Army — DGIS  |  SIH 2026 Submission</a:t>
            </a:r>
            <a:r>
              <a:rPr sz="780">
                <a:solidFill>
                  <a:srgbClr val="64748B"/>
                </a:solidFill>
                <a:latin typeface="Segoe UI"/>
              </a:rPr>
              <a:t>                                                         Live Console: </a:t>
            </a:r>
            <a:r>
              <a:rPr sz="780">
                <a:solidFill>
                  <a:srgbClr val="163D6B"/>
                </a:solidFill>
                <a:latin typeface="Segoe UI"/>
                <a:hlinkClick r:id="rId2"/>
              </a:rPr>
              <a:t>https://terrae-geospatial-intelligence.vercel.app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2865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90472"/>
            <a:ext cx="15544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ro_beirut_1920x1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36192"/>
            <a:ext cx="438912" cy="438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80744" y="1527048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" b="1">
                <a:solidFill>
                  <a:srgbClr val="163D6B"/>
                </a:solidFill>
                <a:latin typeface="Consolas"/>
              </a:rPr>
              <a:t>SATELLITE ARCHIVE</a:t>
            </a:r>
          </a:p>
          <a:p>
            <a:pPr algn="l">
              <a:spcBef>
                <a:spcPts val="150"/>
              </a:spcBef>
            </a:pPr>
            <a:r>
              <a:rPr sz="580">
                <a:solidFill>
                  <a:srgbClr val="1E293B"/>
                </a:solidFill>
                <a:latin typeface="Segoe UI"/>
              </a:rPr>
              <a:t>Sentinel-2 &amp; SAR tiles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9736" y="1554480"/>
            <a:ext cx="15544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BD5E1"/>
                </a:solidFill>
                <a:latin typeface="Segoe UI"/>
              </a:rP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1490472"/>
            <a:ext cx="15544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152704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40" b="1">
                <a:solidFill>
                  <a:srgbClr val="2563EB"/>
                </a:solidFill>
                <a:latin typeface="Consolas"/>
              </a:rPr>
              <a:t>SEMANTIC DISCOVERY</a:t>
            </a:r>
          </a:p>
          <a:p>
            <a:pPr algn="ctr">
              <a:spcBef>
                <a:spcPts val="150"/>
              </a:spcBef>
            </a:pPr>
            <a:r>
              <a:rPr sz="580">
                <a:solidFill>
                  <a:srgbClr val="1E293B"/>
                </a:solidFill>
                <a:latin typeface="Segoe UI"/>
              </a:rPr>
              <a:t>RemoteCLIP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1554480"/>
            <a:ext cx="15544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BD5E1"/>
                </a:solidFill>
                <a:latin typeface="Segoe UI"/>
              </a:rP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490472"/>
            <a:ext cx="15544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1416" y="152704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40" b="1">
                <a:solidFill>
                  <a:srgbClr val="0D9488"/>
                </a:solidFill>
                <a:latin typeface="Consolas"/>
              </a:rPr>
              <a:t>RELEVANT SCENE</a:t>
            </a:r>
          </a:p>
          <a:p>
            <a:pPr algn="ctr">
              <a:spcBef>
                <a:spcPts val="150"/>
              </a:spcBef>
            </a:pPr>
            <a:r>
              <a:rPr sz="580">
                <a:solidFill>
                  <a:srgbClr val="1E293B"/>
                </a:solidFill>
                <a:latin typeface="Segoe UI"/>
              </a:rPr>
              <a:t>Ranked 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5896" y="1554480"/>
            <a:ext cx="15544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BD5E1"/>
                </a:solidFill>
                <a:latin typeface="Segoe UI"/>
              </a:rP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490472"/>
            <a:ext cx="15544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52704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40" b="1">
                <a:solidFill>
                  <a:srgbClr val="1E7E34"/>
                </a:solidFill>
                <a:latin typeface="Consolas"/>
              </a:rPr>
              <a:t>TEMPORAL COMPARISON</a:t>
            </a:r>
          </a:p>
          <a:p>
            <a:pPr algn="ctr">
              <a:spcBef>
                <a:spcPts val="150"/>
              </a:spcBef>
            </a:pPr>
            <a:r>
              <a:rPr sz="580">
                <a:solidFill>
                  <a:srgbClr val="1E293B"/>
                </a:solidFill>
                <a:latin typeface="Segoe UI"/>
              </a:rPr>
              <a:t>Calibrated 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6" y="1554480"/>
            <a:ext cx="15544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BD5E1"/>
                </a:solidFill>
                <a:latin typeface="Segoe UI"/>
              </a:rPr>
              <a:t>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490472"/>
            <a:ext cx="15544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37576" y="152704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40" b="1">
                <a:solidFill>
                  <a:srgbClr val="B45309"/>
                </a:solidFill>
                <a:latin typeface="Consolas"/>
              </a:rPr>
              <a:t>EVIDENCE REVIEW</a:t>
            </a:r>
          </a:p>
          <a:p>
            <a:pPr algn="ctr">
              <a:spcBef>
                <a:spcPts val="150"/>
              </a:spcBef>
            </a:pPr>
            <a:r>
              <a:rPr sz="580">
                <a:solidFill>
                  <a:srgbClr val="1E293B"/>
                </a:solidFill>
                <a:latin typeface="Segoe UI"/>
              </a:rPr>
              <a:t>Spectral attribution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1554480"/>
            <a:ext cx="15544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BD5E1"/>
                </a:solidFill>
                <a:latin typeface="Segoe UI"/>
              </a:rPr>
              <a:t>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1490472"/>
            <a:ext cx="15544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0656" y="152704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40" b="1">
                <a:solidFill>
                  <a:srgbClr val="163D6B"/>
                </a:solidFill>
                <a:latin typeface="Consolas"/>
              </a:rPr>
              <a:t>ANALYST DECISION</a:t>
            </a:r>
          </a:p>
          <a:p>
            <a:pPr algn="ctr">
              <a:spcBef>
                <a:spcPts val="150"/>
              </a:spcBef>
            </a:pPr>
            <a:r>
              <a:rPr sz="580">
                <a:solidFill>
                  <a:srgbClr val="1E293B"/>
                </a:solidFill>
                <a:latin typeface="Segoe UI"/>
              </a:rPr>
              <a:t>Actionable verdict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331720"/>
            <a:ext cx="5230368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ontrolled_t2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06040"/>
            <a:ext cx="1097280" cy="10972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057400" y="2441448"/>
            <a:ext cx="3767328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80" b="1">
                <a:solidFill>
                  <a:srgbClr val="2563EB"/>
                </a:solidFill>
                <a:latin typeface="Consolas"/>
              </a:defRPr>
            </a:pPr>
            <a:r>
              <a:t>01 / INFRASTRUCTURE MONITORING</a:t>
            </a:r>
          </a:p>
          <a:p>
            <a:pPr>
              <a:spcBef>
                <a:spcPts val="200"/>
              </a:spcBef>
            </a:pPr>
            <a:r>
              <a:rPr sz="819" b="1">
                <a:solidFill>
                  <a:srgbClr val="1E293B"/>
                </a:solidFill>
                <a:latin typeface="Segoe UI"/>
              </a:rPr>
              <a:t>Forward Outpost, Tarmac &amp; Fortified Perimeter Detection</a:t>
            </a:r>
          </a:p>
          <a:p>
            <a:pPr>
              <a:spcBef>
                <a:spcPts val="200"/>
              </a:spcBef>
            </a:pPr>
            <a:r>
              <a:rPr sz="700">
                <a:solidFill>
                  <a:srgbClr val="64748B"/>
                </a:solidFill>
                <a:latin typeface="Segoe UI"/>
              </a:rPr>
              <a:t>Quickly discovers clandestine military construction, border tarmac paving, and fortified forward compounds. Natural-language intent isolates candidate tiles across thousands of sq km without coordinate guessing.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7064" y="2331720"/>
            <a:ext cx="5230368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ordeaux_t1_rg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2606040"/>
            <a:ext cx="1097280" cy="10972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552944" y="2441448"/>
            <a:ext cx="3767328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80" b="1">
                <a:solidFill>
                  <a:srgbClr val="0D9488"/>
                </a:solidFill>
                <a:latin typeface="Consolas"/>
              </a:defRPr>
            </a:pPr>
            <a:r>
              <a:t>02 / STRATEGIC SITE DISCOVERY</a:t>
            </a:r>
          </a:p>
          <a:p>
            <a:pPr>
              <a:spcBef>
                <a:spcPts val="200"/>
              </a:spcBef>
            </a:pPr>
            <a:r>
              <a:rPr sz="819" b="1">
                <a:solidFill>
                  <a:srgbClr val="1E293B"/>
                </a:solidFill>
                <a:latin typeface="Segoe UI"/>
              </a:rPr>
              <a:t>Cross-Theater Facility Pattern Matching</a:t>
            </a:r>
          </a:p>
          <a:p>
            <a:pPr>
              <a:spcBef>
                <a:spcPts val="200"/>
              </a:spcBef>
            </a:pPr>
            <a:r>
              <a:rPr sz="700">
                <a:solidFill>
                  <a:srgbClr val="64748B"/>
                </a:solidFill>
                <a:latin typeface="Segoe UI"/>
              </a:rPr>
              <a:t>Query the RemoteCLIP FAISS vector index to discover geographically separated candidate sites sharing identical visual-semantic patterns across the theater, cutting manual catalog triage by hours.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123944"/>
            <a:ext cx="5230368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umbai_t1_rg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398264"/>
            <a:ext cx="1097280" cy="10972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57400" y="4233672"/>
            <a:ext cx="3767328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80" b="1">
                <a:solidFill>
                  <a:srgbClr val="1E7E34"/>
                </a:solidFill>
                <a:latin typeface="Consolas"/>
              </a:defRPr>
            </a:pPr>
            <a:r>
              <a:t>03 / ROAD / TERRAIN CORRIDOR CHANGE</a:t>
            </a:r>
          </a:p>
          <a:p>
            <a:pPr>
              <a:spcBef>
                <a:spcPts val="200"/>
              </a:spcBef>
            </a:pPr>
            <a:r>
              <a:rPr sz="819" b="1">
                <a:solidFill>
                  <a:srgbClr val="1E293B"/>
                </a:solidFill>
                <a:latin typeface="Segoe UI"/>
              </a:rPr>
              <a:t>Frontier Logistics Tracks, Earth Clearings &amp; Bridgeheads</a:t>
            </a:r>
          </a:p>
          <a:p>
            <a:pPr>
              <a:spcBef>
                <a:spcPts val="200"/>
              </a:spcBef>
            </a:pPr>
            <a:r>
              <a:rPr sz="700">
                <a:solidFill>
                  <a:srgbClr val="64748B"/>
                </a:solidFill>
                <a:latin typeface="Segoe UI"/>
              </a:rPr>
              <a:t>Tracks emerging logistics road corridors and supply clearings across rugged terrain. Spatial coherence analysis confirms contiguous linear infrastructure while suppressing single-pixel seasonal slope washouts.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7064" y="4123944"/>
            <a:ext cx="5230368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entinel2_tmid_rg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4398264"/>
            <a:ext cx="1097280" cy="10972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552944" y="4233672"/>
            <a:ext cx="3767328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80" b="1">
                <a:solidFill>
                  <a:srgbClr val="B45309"/>
                </a:solidFill>
                <a:latin typeface="Consolas"/>
              </a:defRPr>
            </a:pPr>
            <a:r>
              <a:t>04 / VEGETATION / WATER INTERPRETATION</a:t>
            </a:r>
          </a:p>
          <a:p>
            <a:pPr>
              <a:spcBef>
                <a:spcPts val="200"/>
              </a:spcBef>
            </a:pPr>
            <a:r>
              <a:rPr sz="819" b="1">
                <a:solidFill>
                  <a:srgbClr val="1E293B"/>
                </a:solidFill>
                <a:latin typeface="Segoe UI"/>
              </a:rPr>
              <a:t>Defending Against False-Alarm Alert Fatigue</a:t>
            </a:r>
          </a:p>
          <a:p>
            <a:pPr>
              <a:spcBef>
                <a:spcPts val="200"/>
              </a:spcBef>
            </a:pPr>
            <a:r>
              <a:rPr sz="700">
                <a:solidFill>
                  <a:srgbClr val="64748B"/>
                </a:solidFill>
                <a:latin typeface="Segoe UI"/>
              </a:rPr>
              <a:t>Enforces 3-date MECE persistence trajectories to distinguish agricultural crop cycles (monsoon greening to harvest senescence) from permanent land-cover conversion, protecting command staff from false alarms.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7F3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952744"/>
            <a:ext cx="1054577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163D6B"/>
                </a:solidFill>
                <a:latin typeface="Consolas"/>
              </a:rPr>
              <a:t>CORE DEFENSE PRINCIPLES:   [OFFLINE]   [AUDITABLE]   [CONSERVATIVE]
</a:t>
            </a:r>
          </a:p>
          <a:p>
            <a:pPr algn="ctr"/>
            <a:r>
              <a:rPr sz="950" b="1">
                <a:solidFill>
                  <a:srgbClr val="B45309"/>
                </a:solidFill>
                <a:latin typeface="Georgia"/>
              </a:rPr>
              <a:t>“The goal is not to make every result positive. The goal is to make the result explainable.”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"/>
            <a:ext cx="10728655" cy="22860"/>
          </a:xfrm>
          <a:prstGeom prst="rect">
            <a:avLst/>
          </a:prstGeom>
          <a:solidFill>
            <a:srgbClr val="1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63D6B"/>
                </a:solidFill>
                <a:latin typeface="Consolas"/>
              </a:defRPr>
            </a:pPr>
            <a:r>
              <a:t>SMART INDIA HACKATHON 2026 · PS: SIH26227 · SPACE TECHNOLOGY · SOFTWARE · MINISTRY OF DEFENCE / INDIAN ARMY — DGIS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47472"/>
            <a:ext cx="368777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Consolas"/>
              </a:rPr>
              <a:t>TEAM: Quantumcrew  |  </a:t>
            </a:r>
            <a:r>
              <a:rPr sz="800" b="1">
                <a:solidFill>
                  <a:srgbClr val="163D6B"/>
                </a:solidFill>
                <a:latin typeface="Consolas"/>
              </a:rPr>
              <a:t>SLIDE 06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63D6B"/>
                </a:solidFill>
                <a:latin typeface="Georgia"/>
              </a:defRPr>
            </a:pPr>
            <a:r>
              <a:t>06 — RESEARCH &amp; REFERENCES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EMPIRICAL BENCHMARKS, RESEARCH FOUNDATIONS &amp; PROJECT 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7395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107286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80">
                <a:solidFill>
                  <a:srgbClr val="64748B"/>
                </a:solidFill>
                <a:latin typeface="Segoe UI"/>
              </a:rPr>
              <a:t>TERRAE — Earth Intelligence Satellite Investigation Console  |  Ministry of Defence / Indian Army — DGIS  |  SIH 2026 Submission</a:t>
            </a:r>
            <a:r>
              <a:rPr sz="780">
                <a:solidFill>
                  <a:srgbClr val="64748B"/>
                </a:solidFill>
                <a:latin typeface="Segoe UI"/>
              </a:rPr>
              <a:t>                                                         Live Console: </a:t>
            </a:r>
            <a:r>
              <a:rPr sz="780">
                <a:solidFill>
                  <a:srgbClr val="163D6B"/>
                </a:solidFill>
                <a:latin typeface="Segoe UI"/>
                <a:hlinkClick r:id="rId2"/>
              </a:rPr>
              <a:t>https://terrae-geospatial-intelligence.vercel.app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01752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3560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63D6B"/>
                </a:solidFill>
                <a:latin typeface="Consolas"/>
              </a:defRPr>
            </a:pPr>
            <a:r>
              <a:t>RESEARCH FOUNDATION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783080"/>
            <a:ext cx="2743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37944"/>
            <a:ext cx="261518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2563EB"/>
                </a:solidFill>
                <a:latin typeface="Consolas"/>
              </a:rPr>
              <a:t>REMOTECLIP </a:t>
            </a:r>
            <a:r>
              <a:rPr sz="680">
                <a:solidFill>
                  <a:srgbClr val="64748B"/>
                </a:solidFill>
                <a:latin typeface="Segoe UI"/>
              </a:rPr>
              <a:t>(Chen et al., IEEE TGRS 2024)
</a:t>
            </a:r>
          </a:p>
          <a:p>
            <a:r>
              <a:rPr sz="650">
                <a:solidFill>
                  <a:srgbClr val="1E293B"/>
                </a:solidFill>
                <a:latin typeface="Segoe UI"/>
              </a:rPr>
              <a:t>Vision-language foundation model for remote sensing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441448"/>
            <a:ext cx="36576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551176"/>
            <a:ext cx="2743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606040"/>
            <a:ext cx="261518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2563EB"/>
                </a:solidFill>
                <a:latin typeface="Consolas"/>
              </a:rPr>
              <a:t>SENTINEL-2 </a:t>
            </a:r>
            <a:r>
              <a:rPr sz="680">
                <a:solidFill>
                  <a:srgbClr val="64748B"/>
                </a:solidFill>
                <a:latin typeface="Segoe UI"/>
              </a:rPr>
              <a:t>(ESA Copernicus 10m L2A)
</a:t>
            </a:r>
          </a:p>
          <a:p>
            <a:r>
              <a:rPr sz="650">
                <a:solidFill>
                  <a:srgbClr val="1E293B"/>
                </a:solidFill>
                <a:latin typeface="Segoe UI"/>
              </a:rPr>
              <a:t>Bottom-Of-Atmosphere calibrated multispectral surface reflectance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209544"/>
            <a:ext cx="36576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319272"/>
            <a:ext cx="2743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374136"/>
            <a:ext cx="261518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2563EB"/>
                </a:solidFill>
                <a:latin typeface="Consolas"/>
              </a:rPr>
              <a:t>OSCD BENCHMARK </a:t>
            </a:r>
            <a:r>
              <a:rPr sz="680">
                <a:solidFill>
                  <a:srgbClr val="64748B"/>
                </a:solidFill>
                <a:latin typeface="Segoe UI"/>
              </a:rPr>
              <a:t>(Daudt et al., IEEE IGARSS 2018)
</a:t>
            </a:r>
          </a:p>
          <a:p>
            <a:r>
              <a:rPr sz="650">
                <a:solidFill>
                  <a:srgbClr val="1E293B"/>
                </a:solidFill>
                <a:latin typeface="Segoe UI"/>
              </a:rPr>
              <a:t>Onera Satellite Change Detection standardized ground truth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977640"/>
            <a:ext cx="36576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087368"/>
            <a:ext cx="2743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142232"/>
            <a:ext cx="261518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2563EB"/>
                </a:solidFill>
                <a:latin typeface="Consolas"/>
              </a:rPr>
              <a:t>NDVI / NDWI </a:t>
            </a:r>
            <a:r>
              <a:rPr sz="680">
                <a:solidFill>
                  <a:srgbClr val="64748B"/>
                </a:solidFill>
                <a:latin typeface="Segoe UI"/>
              </a:rPr>
              <a:t>(Rouse et al. / McFeeters)
</a:t>
            </a:r>
          </a:p>
          <a:p>
            <a:r>
              <a:rPr sz="650">
                <a:solidFill>
                  <a:srgbClr val="1E293B"/>
                </a:solidFill>
                <a:latin typeface="Segoe UI"/>
              </a:rPr>
              <a:t>Biophysical normalized difference band ratio indices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745736"/>
            <a:ext cx="36576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CBD5E1"/>
                </a:solidFill>
                <a:latin typeface="Segoe U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855464"/>
            <a:ext cx="2743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910328"/>
            <a:ext cx="261518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163D6B"/>
                </a:solidFill>
                <a:latin typeface="Consolas"/>
              </a:rPr>
              <a:t>TERRAE CONSOLE </a:t>
            </a:r>
            <a:r>
              <a:rPr sz="680">
                <a:solidFill>
                  <a:srgbClr val="64748B"/>
                </a:solidFill>
                <a:latin typeface="Segoe UI"/>
              </a:rPr>
              <a:t>(Quantumcrew SIH26227)
</a:t>
            </a:r>
          </a:p>
          <a:p>
            <a:r>
              <a:rPr sz="650">
                <a:solidFill>
                  <a:srgbClr val="1E293B"/>
                </a:solidFill>
                <a:latin typeface="Segoe UI"/>
              </a:rPr>
              <a:t>Evidence-based satellite investigation workstation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86200" y="1325880"/>
            <a:ext cx="448056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0792" y="1435608"/>
            <a:ext cx="415137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63D6B"/>
                </a:solidFill>
                <a:latin typeface="Consolas"/>
              </a:defRPr>
            </a:pPr>
            <a:r>
              <a:t>VALIDATED EMPIRICAL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1764792"/>
            <a:ext cx="4206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1828800"/>
            <a:ext cx="40233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E7E34"/>
                </a:solidFill>
                <a:latin typeface="Consolas"/>
              </a:defRPr>
            </a:pPr>
            <a:r>
              <a:t>1. REAL SENTINEL-2 (MGRS 43RGM · NCR INDIA)</a:t>
            </a:r>
          </a:p>
          <a:p>
            <a:pPr>
              <a:spcBef>
                <a:spcPts val="300"/>
              </a:spcBef>
            </a:pPr>
            <a:r>
              <a:rPr sz="700">
                <a:solidFill>
                  <a:srgbClr val="1E293B"/>
                </a:solidFill>
                <a:latin typeface="Segoe UI"/>
              </a:rPr>
              <a:t>• Analysis Tile: 512×512 (262,144 valid pixels · 10m GSD)
• Observations: T0 (19 May 2023), TMID (06 Oct 2023), T1 (05 Dec 2023)
• Change Fractions: T0→TMID: 0.7% | TMID→T1: 0.2% | T0→T1: 1.0%
• Trajectory Distribution: STABLE = 98.75% (258,869 px)
• Attribution: Built 51.1% | Veg 24.7% | Seasonal 19.9% | Unresolved 3.1%
• System Verdict: REVIEW (Conservative routing on 1.0% change)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3474720"/>
            <a:ext cx="4206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3538728"/>
            <a:ext cx="40233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2563EB"/>
                </a:solidFill>
                <a:latin typeface="Consolas"/>
              </a:defRPr>
            </a:pPr>
            <a:r>
              <a:t>2. OSCD BENCHMARK — 5-PAIR VALIDATION SUBSET</a:t>
            </a:r>
          </a:p>
          <a:p>
            <a:pPr>
              <a:spcBef>
                <a:spcPts val="300"/>
              </a:spcBef>
            </a:pPr>
            <a:r>
              <a:rPr sz="700">
                <a:solidFill>
                  <a:srgbClr val="1E293B"/>
                </a:solidFill>
                <a:latin typeface="Segoe UI"/>
              </a:rPr>
              <a:t>• Pairs: Aguas Claras, Beirut, Bordeaux, Cupertino, Mumbai
• Valid Pixels Evaluated: 3,025,938 valid pixels | Fixed τ = 0.15
QUANTITATIVE BENCHMARK METRICS:
• Micro Aggregate: Precision 57.55% | Recall 9.72% | F1 0.1663 | IoU 0.0907
• Macro Average:   Precision 52.22% | Recall 7.84% | F1 0.1267 | IoU 0.0692
Class Imbalance Note: Accuracy (97.90%) is dominated by 97.64% unchanged ground truth. Low recall reflects conservative noise suppression.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1325880"/>
            <a:ext cx="2956255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1435608"/>
            <a:ext cx="26819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63D6B"/>
                </a:solidFill>
                <a:latin typeface="Consolas"/>
              </a:defRPr>
            </a:pPr>
            <a:r>
              <a:t>PROJECT ACCESS &amp; REFERENCES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1764792"/>
            <a:ext cx="268193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05088" y="1828800"/>
            <a:ext cx="2553919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B45309"/>
                </a:solidFill>
                <a:latin typeface="Consolas"/>
              </a:defRPr>
            </a:pPr>
            <a:r>
              <a:t>PROJECT ACCESS</a:t>
            </a:r>
          </a:p>
          <a:p>
            <a:pPr>
              <a:spcBef>
                <a:spcPts val="200"/>
              </a:spcBef>
            </a:pPr>
            <a:r>
              <a:rPr sz="700" b="1">
                <a:solidFill>
                  <a:srgbClr val="1E293B"/>
                </a:solidFill>
                <a:latin typeface="Segoe UI"/>
              </a:rPr>
              <a:t>• Live Console: </a:t>
            </a:r>
            <a:r>
              <a:rPr sz="680">
                <a:solidFill>
                  <a:srgbClr val="163D6B"/>
                </a:solidFill>
                <a:latin typeface="Consolas"/>
              </a:rPr>
              <a:t>terrae-geospatial-intelligence.vercel.app</a:t>
            </a:r>
          </a:p>
          <a:p>
            <a:pPr>
              <a:spcBef>
                <a:spcPts val="200"/>
              </a:spcBef>
            </a:pPr>
            <a:r>
              <a:rPr sz="700" b="1">
                <a:solidFill>
                  <a:srgbClr val="1E293B"/>
                </a:solidFill>
                <a:latin typeface="Segoe UI"/>
              </a:rPr>
              <a:t>• GitHub Repository: </a:t>
            </a:r>
            <a:r>
              <a:rPr sz="680">
                <a:solidFill>
                  <a:srgbClr val="163D6B"/>
                </a:solidFill>
                <a:latin typeface="Consolas"/>
              </a:rPr>
              <a:t>github.com/PhantomCipher13/terrae...</a:t>
            </a:r>
          </a:p>
          <a:p>
            <a:pPr>
              <a:spcBef>
                <a:spcPts val="200"/>
              </a:spcBef>
            </a:pPr>
            <a:r>
              <a:rPr sz="700" b="1">
                <a:solidFill>
                  <a:srgbClr val="1E293B"/>
                </a:solidFill>
                <a:latin typeface="Segoe UI"/>
              </a:rPr>
              <a:t>• Technical Report: </a:t>
            </a:r>
            <a:r>
              <a:rPr sz="680">
                <a:solidFill>
                  <a:srgbClr val="64748B"/>
                </a:solidFill>
                <a:latin typeface="Segoe UI"/>
              </a:rPr>
              <a:t>REPORT.md (6-Part Scientific Dossier)</a:t>
            </a:r>
          </a:p>
          <a:p>
            <a:pPr>
              <a:spcBef>
                <a:spcPts val="200"/>
              </a:spcBef>
            </a:pPr>
            <a:r>
              <a:rPr sz="700" b="1">
                <a:solidFill>
                  <a:srgbClr val="1E293B"/>
                </a:solidFill>
                <a:latin typeface="Segoe UI"/>
              </a:rPr>
              <a:t>• Automated Tests: </a:t>
            </a:r>
            <a:r>
              <a:rPr sz="680">
                <a:solidFill>
                  <a:srgbClr val="64748B"/>
                </a:solidFill>
                <a:latin typeface="Segoe UI"/>
              </a:rPr>
              <a:t>135 / 135 Tests Passing</a:t>
            </a:r>
          </a:p>
          <a:p>
            <a:pPr>
              <a:spcBef>
                <a:spcPts val="200"/>
              </a:spcBef>
            </a:pPr>
            <a:r>
              <a:rPr sz="700" b="1">
                <a:solidFill>
                  <a:srgbClr val="1E293B"/>
                </a:solidFill>
                <a:latin typeface="Segoe UI"/>
              </a:rPr>
              <a:t>• Team: </a:t>
            </a:r>
            <a:r>
              <a:rPr sz="680">
                <a:solidFill>
                  <a:srgbClr val="64748B"/>
                </a:solidFill>
                <a:latin typeface="Segoe UI"/>
              </a:rPr>
              <a:t>Quantumcrew (SIH26227)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3566160"/>
            <a:ext cx="268193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05088" y="3630168"/>
            <a:ext cx="2553919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63D6B"/>
                </a:solidFill>
                <a:latin typeface="Consolas"/>
              </a:defRPr>
            </a:pPr>
            <a:r>
              <a:t>COMPACT REFERENCES</a:t>
            </a:r>
          </a:p>
          <a:p>
            <a:pPr>
              <a:spcBef>
                <a:spcPts val="300"/>
              </a:spcBef>
            </a:pPr>
            <a:r>
              <a:rPr sz="680">
                <a:solidFill>
                  <a:srgbClr val="1E293B"/>
                </a:solidFill>
                <a:latin typeface="Segoe UI"/>
              </a:rPr>
              <a:t>[1] RemoteCLIP: Chen et al., IEEE TGRS 2024.</a:t>
            </a:r>
          </a:p>
          <a:p>
            <a:pPr>
              <a:spcBef>
                <a:spcPts val="300"/>
              </a:spcBef>
            </a:pPr>
            <a:r>
              <a:rPr sz="680">
                <a:solidFill>
                  <a:srgbClr val="1E293B"/>
                </a:solidFill>
                <a:latin typeface="Segoe UI"/>
              </a:rPr>
              <a:t>[2] Sentinel-2: ESA Level-2A ATBD (10m BOA).</a:t>
            </a:r>
          </a:p>
          <a:p>
            <a:pPr>
              <a:spcBef>
                <a:spcPts val="300"/>
              </a:spcBef>
            </a:pPr>
            <a:r>
              <a:rPr sz="680">
                <a:solidFill>
                  <a:srgbClr val="1E293B"/>
                </a:solidFill>
                <a:latin typeface="Segoe UI"/>
              </a:rPr>
              <a:t>[3] OSCD: Daudt et al., IEEE IGARSS 2018.</a:t>
            </a:r>
          </a:p>
          <a:p>
            <a:pPr>
              <a:spcBef>
                <a:spcPts val="300"/>
              </a:spcBef>
            </a:pPr>
            <a:r>
              <a:rPr sz="680">
                <a:solidFill>
                  <a:srgbClr val="1E293B"/>
                </a:solidFill>
                <a:latin typeface="Segoe UI"/>
              </a:rPr>
              <a:t>[4] NDVI: Rouse et al., NASA SP-351, 1974.</a:t>
            </a:r>
          </a:p>
          <a:p>
            <a:pPr>
              <a:spcBef>
                <a:spcPts val="300"/>
              </a:spcBef>
            </a:pPr>
            <a:r>
              <a:rPr sz="680">
                <a:solidFill>
                  <a:srgbClr val="1E293B"/>
                </a:solidFill>
                <a:latin typeface="Segoe UI"/>
              </a:rPr>
              <a:t>[5] NDWI: McFeeters, Int. J. Remote Sens., 1996.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7F3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989320"/>
            <a:ext cx="1054577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163D6B"/>
                </a:solidFill>
                <a:latin typeface="Georgia"/>
              </a:rPr>
              <a:t>“INVESTIGATE THE CHANGE. FOLLOW THE EVIDENCE. KNOW WHEN TO REVIEW.”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