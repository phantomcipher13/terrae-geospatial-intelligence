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rrae-geospatial-intelligence.vercel.app" TargetMode="External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rrae-geospatial-intelligence.vercel.app" TargetMode="External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rrae-geospatial-intelligence.vercel.app" TargetMode="External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rrae-geospatial-intelligence.vercel.app" TargetMode="External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rrae-geospatial-intelligence.vercel.app" TargetMode="External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jpg"/><Relationship Id="rId11" Type="http://schemas.openxmlformats.org/officeDocument/2006/relationships/image" Target="../media/image16.jpg"/><Relationship Id="rId12" Type="http://schemas.openxmlformats.org/officeDocument/2006/relationships/image" Target="../media/image17.jpg"/><Relationship Id="rId1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rrae-geospatial-intelligence.vercel.app" TargetMode="External"/><Relationship Id="rId4" Type="http://schemas.openxmlformats.org/officeDocument/2006/relationships/image" Target="../media/image18.jpg"/><Relationship Id="rId5" Type="http://schemas.openxmlformats.org/officeDocument/2006/relationships/hyperlink" Target="https://github.com/PhantomCipher13/terrae-geospatial-intelligenc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82880"/>
            <a:ext cx="2377440" cy="640080"/>
          </a:xfrm>
          <a:prstGeom prst="roundRect">
            <a:avLst/>
          </a:prstGeom>
          <a:solidFill>
            <a:srgbClr val="F8F7F3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23774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63D6B"/>
                </a:solidFill>
                <a:latin typeface="Segoe UI"/>
              </a:rPr>
              <a:t>Team: Quantumcrew
</a:t>
            </a:r>
          </a:p>
          <a:p>
            <a:pPr algn="ctr"/>
            <a:r>
              <a:rPr sz="720">
                <a:solidFill>
                  <a:srgbClr val="64748B"/>
                </a:solidFill>
                <a:latin typeface="Consolas"/>
              </a:rPr>
              <a:t>PS: SIH26227 · Space Technology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46304"/>
            <a:ext cx="1600200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6120" y="137160"/>
            <a:ext cx="649224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163D6B"/>
                </a:solidFill>
                <a:latin typeface="Georgia"/>
              </a:rPr>
              <a:t>SMART INDIA HACKATHON 2026</a:t>
            </a:r>
          </a:p>
          <a:p>
            <a:pPr algn="ctr">
              <a:spcBef>
                <a:spcPts val="200"/>
              </a:spcBef>
            </a:pPr>
            <a:r>
              <a:rPr sz="880" b="0">
                <a:solidFill>
                  <a:srgbClr val="64748B"/>
                </a:solidFill>
                <a:latin typeface="Segoe UI"/>
              </a:rPr>
              <a:t>SEMANTIC RETRIEVAL AND MULTI-TEMPORAL CHANGE ANALYSIS OF SATELLITE IMAGERY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47395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967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Segoe UI"/>
              </a:rPr>
              <a:t>@SIH Idea submission- Template   |   </a:t>
            </a:r>
            <a:r>
              <a:rPr sz="750">
                <a:solidFill>
                  <a:srgbClr val="64748B"/>
                </a:solidFill>
                <a:latin typeface="Segoe UI"/>
              </a:rPr>
              <a:t>TERRAE — TERRAE — Earth Intelligence Satellite Investigation Console   |   Ministry of Defence / Indian Army — DGIS   |   </a:t>
            </a:r>
            <a:r>
              <a:rPr sz="750">
                <a:solidFill>
                  <a:srgbClr val="163D6B"/>
                </a:solidFill>
                <a:latin typeface="Segoe UI"/>
                <a:hlinkClick r:id="rId3"/>
              </a:rPr>
              <a:t>Console: https://terrae-geospatial-intelligence.vercel.app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94457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163D6B"/>
                </a:solidFill>
                <a:latin typeface="Segoe U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097280"/>
            <a:ext cx="4389120" cy="3291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234440"/>
            <a:ext cx="393192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3D6B"/>
                </a:solidFill>
                <a:latin typeface="Consolas"/>
              </a:defRPr>
            </a:pPr>
            <a:r>
              <a:t>OFFICIAL PROBLEM STATEMENT METADATA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Segoe UI"/>
              </a:rPr>
              <a:t>• Problem Statement ID — </a:t>
            </a:r>
            <a:r>
              <a:rPr sz="800">
                <a:solidFill>
                  <a:srgbClr val="163D6B"/>
                </a:solidFill>
                <a:latin typeface="Segoe UI"/>
              </a:rPr>
              <a:t>SIH26227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Segoe UI"/>
              </a:rPr>
              <a:t>• Problem Statement Title — </a:t>
            </a:r>
            <a:r>
              <a:rPr sz="800">
                <a:solidFill>
                  <a:srgbClr val="64748B"/>
                </a:solidFill>
                <a:latin typeface="Segoe UI"/>
              </a:rPr>
              <a:t>SEMANTIC RETRIEVAL AND MULTI-TEMPORAL CHANGE ANALYSIS OF SATELLITE IMAGERY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Segoe UI"/>
              </a:rPr>
              <a:t>• Ministry / Client — </a:t>
            </a:r>
            <a:r>
              <a:rPr sz="800">
                <a:solidFill>
                  <a:srgbClr val="64748B"/>
                </a:solidFill>
                <a:latin typeface="Segoe UI"/>
              </a:rPr>
              <a:t>Ministry of Defence / Indian Army — DGIS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Segoe UI"/>
              </a:rPr>
              <a:t>• Theme — </a:t>
            </a:r>
            <a:r>
              <a:rPr sz="800">
                <a:solidFill>
                  <a:srgbClr val="64748B"/>
                </a:solidFill>
                <a:latin typeface="Segoe UI"/>
              </a:rPr>
              <a:t>Space Technology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Segoe UI"/>
              </a:rPr>
              <a:t>• PS Category — </a:t>
            </a:r>
            <a:r>
              <a:rPr sz="800">
                <a:solidFill>
                  <a:srgbClr val="64748B"/>
                </a:solidFill>
                <a:latin typeface="Segoe UI"/>
              </a:rPr>
              <a:t>Software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Segoe UI"/>
              </a:rPr>
              <a:t>• Team Name (Registered) — </a:t>
            </a:r>
            <a:r>
              <a:rPr sz="800">
                <a:solidFill>
                  <a:srgbClr val="163D6B"/>
                </a:solidFill>
                <a:latin typeface="Segoe UI"/>
              </a:rPr>
              <a:t>Quantumcrew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Segoe UI"/>
              </a:rPr>
              <a:t>• Team ID — </a:t>
            </a:r>
            <a:r>
              <a:rPr sz="800">
                <a:solidFill>
                  <a:srgbClr val="163D6B"/>
                </a:solidFill>
                <a:latin typeface="Segoe UI"/>
              </a:rPr>
              <a:t>[Registered Team ID / SIH2026]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26280"/>
            <a:ext cx="4389120" cy="178308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45152"/>
            <a:ext cx="40233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B45309"/>
                </a:solidFill>
                <a:latin typeface="Consolas"/>
              </a:defRPr>
            </a:pPr>
            <a:r>
              <a:t>OPERATIONAL DEFENSE MANDATE</a:t>
            </a:r>
          </a:p>
          <a:p>
            <a:pPr>
              <a:spcBef>
                <a:spcPts val="400"/>
              </a:spcBef>
            </a:pPr>
            <a:r>
              <a:rPr sz="760">
                <a:solidFill>
                  <a:srgbClr val="1E293B"/>
                </a:solidFill>
                <a:latin typeface="Segoe UI"/>
              </a:rPr>
              <a:t>Defense intelligence analysts must discover relevant satellite scenes and verify whether detected changes represent real military activity or natural environmental phenology.
• Real Analyst Intent: “Show me areas with newly built structures near a river corridor.”
• Air-Gapped Mandate: Zero cloud APIs, remote telemetry, or network egress in operational enclaves.</a:t>
            </a:r>
          </a:p>
        </p:txBody>
      </p:sp>
      <p:pic>
        <p:nvPicPr>
          <p:cNvPr id="14" name="Picture 13" descr="hero_beirut_1920x10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097280"/>
            <a:ext cx="6156655" cy="30175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303520" y="4160520"/>
            <a:ext cx="6156655" cy="27432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0680" y="4187952"/>
            <a:ext cx="5882335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1">
                <a:solidFill>
                  <a:srgbClr val="163D6B"/>
                </a:solidFill>
                <a:latin typeface="Consolas"/>
              </a:rPr>
              <a:t>AUTHENTIC EARTH OBSERVATION: ESA Sentinel-2A Level-2A BOA Reflectance · 10m GSD · Maritime/Urban Basin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4526280"/>
            <a:ext cx="6156655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4617720"/>
            <a:ext cx="579089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 b="1">
                <a:solidFill>
                  <a:srgbClr val="B45309"/>
                </a:solidFill>
                <a:latin typeface="Consolas"/>
              </a:defRPr>
            </a:pPr>
            <a:r>
              <a:t>CURRENT ANALYST WORKFLOW (STATUS QUO BOTTLENECKS)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4873752"/>
            <a:ext cx="1005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4910328"/>
            <a:ext cx="1005840" cy="4389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1">
                <a:solidFill>
                  <a:srgbClr val="B45309"/>
                </a:solidFill>
                <a:latin typeface="Consolas"/>
              </a:rPr>
              <a:t>01
</a:t>
            </a:r>
            <a:r>
              <a:rPr sz="720" b="1">
                <a:solidFill>
                  <a:srgbClr val="1E293B"/>
                </a:solidFill>
                <a:latin typeface="Segoe UI"/>
              </a:rPr>
              <a:t>Metadata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965192"/>
            <a:ext cx="1645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56832" y="4873752"/>
            <a:ext cx="1005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4910328"/>
            <a:ext cx="1005840" cy="4389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1">
                <a:solidFill>
                  <a:srgbClr val="B45309"/>
                </a:solidFill>
                <a:latin typeface="Consolas"/>
              </a:rPr>
              <a:t>02
</a:t>
            </a:r>
            <a:r>
              <a:rPr sz="720" b="1">
                <a:solidFill>
                  <a:srgbClr val="1E293B"/>
                </a:solidFill>
                <a:latin typeface="Segoe UI"/>
              </a:rPr>
              <a:t>Coordinates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4965192"/>
            <a:ext cx="1645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27264" y="4873752"/>
            <a:ext cx="1005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27264" y="4910328"/>
            <a:ext cx="1005840" cy="4389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1">
                <a:solidFill>
                  <a:srgbClr val="B45309"/>
                </a:solidFill>
                <a:latin typeface="Consolas"/>
              </a:rPr>
              <a:t>03
</a:t>
            </a:r>
            <a:r>
              <a:rPr sz="720" b="1">
                <a:solidFill>
                  <a:srgbClr val="1E293B"/>
                </a:solidFill>
                <a:latin typeface="Segoe UI"/>
              </a:rPr>
              <a:t>Scene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3104" y="4965192"/>
            <a:ext cx="1645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4873752"/>
            <a:ext cx="1005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97696" y="4910328"/>
            <a:ext cx="1005840" cy="4389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1">
                <a:solidFill>
                  <a:srgbClr val="B45309"/>
                </a:solidFill>
                <a:latin typeface="Consolas"/>
              </a:rPr>
              <a:t>04
</a:t>
            </a:r>
            <a:r>
              <a:rPr sz="720" b="1">
                <a:solidFill>
                  <a:srgbClr val="1E293B"/>
                </a:solidFill>
                <a:latin typeface="Segoe UI"/>
              </a:rPr>
              <a:t>Comparison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3536" y="4965192"/>
            <a:ext cx="1645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68128" y="4873752"/>
            <a:ext cx="1005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8128" y="4910328"/>
            <a:ext cx="1005840" cy="4389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00" b="1">
                <a:solidFill>
                  <a:srgbClr val="B45309"/>
                </a:solidFill>
                <a:latin typeface="Consolas"/>
              </a:rPr>
              <a:t>05
</a:t>
            </a:r>
            <a:r>
              <a:rPr sz="720" b="1">
                <a:solidFill>
                  <a:srgbClr val="1E293B"/>
                </a:solidFill>
                <a:latin typeface="Segoe UI"/>
              </a:rPr>
              <a:t>Interpretation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5458968"/>
            <a:ext cx="57908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163D6B"/>
                </a:solidFill>
                <a:latin typeface="Georgia"/>
              </a:rPr>
              <a:t>“Finding a changed pixel is easy. Knowing whether it matters is harder.”
</a:t>
            </a:r>
          </a:p>
          <a:p>
            <a:pPr>
              <a:spcBef>
                <a:spcPts val="200"/>
              </a:spcBef>
            </a:pPr>
            <a:r>
              <a:rPr sz="720" b="1">
                <a:solidFill>
                  <a:srgbClr val="B45309"/>
                </a:solidFill>
                <a:latin typeface="Segoe UI"/>
              </a:rPr>
              <a:t>CRITICAL DEFENSE FLAW: Naive pixel subtraction triggers severe false alarms from seasonal crop phenology, moisture, and sun angle.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82880"/>
            <a:ext cx="2377440" cy="640080"/>
          </a:xfrm>
          <a:prstGeom prst="roundRect">
            <a:avLst/>
          </a:prstGeom>
          <a:solidFill>
            <a:srgbClr val="F8F7F3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23774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63D6B"/>
                </a:solidFill>
                <a:latin typeface="Segoe UI"/>
              </a:rPr>
              <a:t>Team: Quantumcrew
</a:t>
            </a:r>
          </a:p>
          <a:p>
            <a:pPr algn="ctr"/>
            <a:r>
              <a:rPr sz="720">
                <a:solidFill>
                  <a:srgbClr val="64748B"/>
                </a:solidFill>
                <a:latin typeface="Consolas"/>
              </a:rPr>
              <a:t>PS: SIH26227 · Space Technology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46304"/>
            <a:ext cx="1600200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6120" y="137160"/>
            <a:ext cx="649224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163D6B"/>
                </a:solidFill>
                <a:latin typeface="Georgia"/>
              </a:rPr>
              <a:t>02 — SOLUTION</a:t>
            </a:r>
          </a:p>
          <a:p>
            <a:pPr algn="ctr">
              <a:spcBef>
                <a:spcPts val="200"/>
              </a:spcBef>
            </a:pPr>
            <a:r>
              <a:rPr sz="880" b="0">
                <a:solidFill>
                  <a:srgbClr val="64748B"/>
                </a:solidFill>
                <a:latin typeface="Segoe UI"/>
              </a:rPr>
              <a:t>FROM NATURAL-LANGUAGE QUERY TO EVIDENCE-BACKED INVESTIGATION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47395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967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Segoe UI"/>
              </a:rPr>
              <a:t>@SIH Idea submission- Template   |   </a:t>
            </a:r>
            <a:r>
              <a:rPr sz="750">
                <a:solidFill>
                  <a:srgbClr val="64748B"/>
                </a:solidFill>
                <a:latin typeface="Segoe UI"/>
              </a:rPr>
              <a:t>TERRAE — TERRAE — Earth Intelligence Satellite Investigation Console   |   Ministry of Defence / Indian Army — DGIS   |   </a:t>
            </a:r>
            <a:r>
              <a:rPr sz="750">
                <a:solidFill>
                  <a:srgbClr val="163D6B"/>
                </a:solidFill>
                <a:latin typeface="Segoe UI"/>
                <a:hlinkClick r:id="rId3"/>
              </a:rPr>
              <a:t>Console: https://terrae-geospatial-intelligence.vercel.app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94457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163D6B"/>
                </a:solidFill>
                <a:latin typeface="Segoe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097280"/>
            <a:ext cx="2743200" cy="12984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170432"/>
            <a:ext cx="2523744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B45309"/>
                </a:solidFill>
                <a:latin typeface="Consolas"/>
              </a:defRPr>
            </a:pPr>
            <a:r>
              <a:t>THE ANALYST STARTS WITH INTENT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“Show me areas with newly built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structures near a river corridor.”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/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Analysts query with operational intent,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not manual coordinate bounding boxes.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05456"/>
            <a:ext cx="2743200" cy="12984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578608"/>
            <a:ext cx="2523744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DC2626"/>
                </a:solidFill>
                <a:latin typeface="Consolas"/>
              </a:defRPr>
            </a:pPr>
            <a:r>
              <a:t>WHY IT IS HARD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A difference may come from: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• crop vegetation growth &amp; harvest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• soil moisture &amp; surface water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• cloud shadow &amp; atmospheric drift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13632"/>
            <a:ext cx="2743200" cy="12984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986784"/>
            <a:ext cx="2523744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 b="1">
                <a:solidFill>
                  <a:srgbClr val="1E7E34"/>
                </a:solidFill>
                <a:latin typeface="Consolas"/>
              </a:defRPr>
            </a:pPr>
            <a:r>
              <a:t>OUR RESPONSE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TERRAE combines: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• semantic natural language retrieval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• multi-temporal context (T0/TMID/T1)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1E293B"/>
                </a:solidFill>
                <a:latin typeface="Segoe UI"/>
              </a:rPr>
              <a:t>• spectral indices + 8-conn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21808"/>
            <a:ext cx="2743200" cy="77724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76672"/>
            <a:ext cx="2523744" cy="66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60" b="1">
                <a:solidFill>
                  <a:srgbClr val="163D6B"/>
                </a:solidFill>
                <a:latin typeface="Consolas"/>
              </a:defRPr>
            </a:pPr>
            <a:r>
              <a:t>PROTOTYPE &amp; ACCESS</a:t>
            </a:r>
          </a:p>
          <a:p>
            <a:pPr>
              <a:spcBef>
                <a:spcPts val="200"/>
              </a:spcBef>
            </a:pPr>
            <a:r>
              <a:rPr sz="650">
                <a:solidFill>
                  <a:srgbClr val="64748B"/>
                </a:solidFill>
                <a:latin typeface="Segoe UI"/>
              </a:rPr>
              <a:t>• Live Console: terrae-geospatial-intelligence.vercel.app
• GitHub: PhantomCipher13/terrae-geospatial-intelligence
• Report: REPORT.md (Full Scientific Dossier)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1880" y="1097280"/>
            <a:ext cx="4846320" cy="4709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1170432"/>
            <a:ext cx="448056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880" b="1">
                <a:solidFill>
                  <a:srgbClr val="163D6B"/>
                </a:solidFill>
                <a:latin typeface="Consolas"/>
              </a:defRPr>
            </a:pPr>
            <a:r>
              <a:t>SIX-STAGE INVESTIGATION WORKFLOW</a:t>
            </a:r>
          </a:p>
        </p:txBody>
      </p:sp>
      <p:pic>
        <p:nvPicPr>
          <p:cNvPr id="20" name="Picture 19" descr="investigation_lo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148840"/>
            <a:ext cx="2834640" cy="283464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349240" y="3246120"/>
            <a:ext cx="1371600" cy="640080"/>
          </a:xfrm>
          <a:prstGeom prst="roundRect">
            <a:avLst/>
          </a:prstGeom>
          <a:solidFill>
            <a:srgbClr val="163D6B"/>
          </a:solidFill>
          <a:ln w="12700">
            <a:solidFill>
              <a:srgbClr val="16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3319272"/>
            <a:ext cx="137160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TERRAE
INVESTIGATION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1463040"/>
            <a:ext cx="1280160" cy="548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149961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" b="1">
                <a:solidFill>
                  <a:srgbClr val="2563EB"/>
                </a:solidFill>
                <a:latin typeface="Consolas"/>
              </a:rPr>
              <a:t>01 ASK
</a:t>
            </a:r>
          </a:p>
          <a:p>
            <a:pPr algn="ctr"/>
            <a:r>
              <a:rPr sz="650">
                <a:solidFill>
                  <a:srgbClr val="1E293B"/>
                </a:solidFill>
                <a:latin typeface="Segoe UI"/>
              </a:rPr>
              <a:t>Natural Intent Query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39" y="2240280"/>
            <a:ext cx="1280160" cy="548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39" y="227685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" b="1">
                <a:solidFill>
                  <a:srgbClr val="0D9488"/>
                </a:solidFill>
                <a:latin typeface="Consolas"/>
              </a:rPr>
              <a:t>02 DISCOVER
</a:t>
            </a:r>
          </a:p>
          <a:p>
            <a:pPr algn="ctr"/>
            <a:r>
              <a:rPr sz="650">
                <a:solidFill>
                  <a:srgbClr val="1E293B"/>
                </a:solidFill>
                <a:latin typeface="Segoe UI"/>
              </a:rPr>
              <a:t>RemoteCLIP + FAISS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39" y="4069080"/>
            <a:ext cx="1280160" cy="548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39" y="410565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" b="1">
                <a:solidFill>
                  <a:srgbClr val="1E7E34"/>
                </a:solidFill>
                <a:latin typeface="Consolas"/>
              </a:rPr>
              <a:t>03 COMPARE
</a:t>
            </a:r>
          </a:p>
          <a:p>
            <a:pPr algn="ctr"/>
            <a:r>
              <a:rPr sz="650">
                <a:solidFill>
                  <a:srgbClr val="1E293B"/>
                </a:solidFill>
                <a:latin typeface="Segoe UI"/>
              </a:rPr>
              <a:t>Calibrated Diff (τ=0.15)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5029200"/>
            <a:ext cx="1280160" cy="548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506577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" b="1">
                <a:solidFill>
                  <a:srgbClr val="B45309"/>
                </a:solidFill>
                <a:latin typeface="Consolas"/>
              </a:rPr>
              <a:t>04 EXPLAIN
</a:t>
            </a:r>
          </a:p>
          <a:p>
            <a:pPr algn="ctr"/>
            <a:r>
              <a:rPr sz="650">
                <a:solidFill>
                  <a:srgbClr val="1E293B"/>
                </a:solidFill>
                <a:latin typeface="Segoe UI"/>
              </a:rPr>
              <a:t>Spectral + Spatial Math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4069080"/>
            <a:ext cx="1280160" cy="548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0" y="410565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" b="1">
                <a:solidFill>
                  <a:srgbClr val="D97706"/>
                </a:solidFill>
                <a:latin typeface="Consolas"/>
              </a:rPr>
              <a:t>05 CHALLENGE
</a:t>
            </a:r>
          </a:p>
          <a:p>
            <a:pPr algn="ctr"/>
            <a:r>
              <a:rPr sz="650">
                <a:solidFill>
                  <a:srgbClr val="1E293B"/>
                </a:solidFill>
                <a:latin typeface="Segoe UI"/>
              </a:rPr>
              <a:t>3-Date Trajectory Check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0" y="2240280"/>
            <a:ext cx="1280160" cy="548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0" y="227685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" b="1">
                <a:solidFill>
                  <a:srgbClr val="163D6B"/>
                </a:solidFill>
                <a:latin typeface="Consolas"/>
              </a:rPr>
              <a:t>06 DECIDE
</a:t>
            </a:r>
          </a:p>
          <a:p>
            <a:pPr algn="ctr"/>
            <a:r>
              <a:rPr sz="650">
                <a:solidFill>
                  <a:srgbClr val="1E293B"/>
                </a:solidFill>
                <a:latin typeface="Segoe UI"/>
              </a:rPr>
              <a:t>Conservative Verdict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1097280"/>
            <a:ext cx="2864815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 b="1">
                <a:solidFill>
                  <a:srgbClr val="163D6B"/>
                </a:solidFill>
                <a:latin typeface="Consolas"/>
              </a:defRPr>
            </a:pPr>
            <a:r>
              <a:t>ANALYST PROBLEM ➔ TERRAE RESPONSE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1371600"/>
            <a:ext cx="2864815" cy="6217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1417320"/>
            <a:ext cx="268193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60" b="1">
                <a:solidFill>
                  <a:srgbClr val="64748B"/>
                </a:solidFill>
                <a:latin typeface="Consolas"/>
              </a:rPr>
              <a:t>MANUAL SEARCH </a:t>
            </a:r>
            <a:r>
              <a:rPr sz="700" b="1">
                <a:solidFill>
                  <a:srgbClr val="2563EB"/>
                </a:solidFill>
                <a:latin typeface="Segoe UI"/>
              </a:rPr>
              <a:t>➔ </a:t>
            </a:r>
            <a:r>
              <a:rPr sz="680" b="1">
                <a:solidFill>
                  <a:srgbClr val="2563EB"/>
                </a:solidFill>
                <a:latin typeface="Consolas"/>
              </a:rPr>
              <a:t>SEMANTIC RETRIEVAL</a:t>
            </a:r>
          </a:p>
          <a:p>
            <a:pPr>
              <a:spcBef>
                <a:spcPts val="15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RemoteCLIP embeddings query 50+ satellite tiles across archives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2066544"/>
            <a:ext cx="2864815" cy="6217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2112264"/>
            <a:ext cx="268193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60" b="1">
                <a:solidFill>
                  <a:srgbClr val="64748B"/>
                </a:solidFill>
                <a:latin typeface="Consolas"/>
              </a:rPr>
              <a:t>SINGLE BEFORE/AFTER </a:t>
            </a:r>
            <a:r>
              <a:rPr sz="700" b="1">
                <a:solidFill>
                  <a:srgbClr val="0D9488"/>
                </a:solidFill>
                <a:latin typeface="Segoe UI"/>
              </a:rPr>
              <a:t>➔ </a:t>
            </a:r>
            <a:r>
              <a:rPr sz="680" b="1">
                <a:solidFill>
                  <a:srgbClr val="0D9488"/>
                </a:solidFill>
                <a:latin typeface="Consolas"/>
              </a:rPr>
              <a:t>MULTI-TEMPORAL CONTEXT</a:t>
            </a:r>
          </a:p>
          <a:p>
            <a:pPr>
              <a:spcBef>
                <a:spcPts val="15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T0 / TMID / T1 triplet stack suppresses seasonal phenology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5360" y="2761488"/>
            <a:ext cx="2864815" cy="6217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0" y="2807208"/>
            <a:ext cx="268193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60" b="1">
                <a:solidFill>
                  <a:srgbClr val="64748B"/>
                </a:solidFill>
                <a:latin typeface="Consolas"/>
              </a:rPr>
              <a:t>PIXEL DIFFERENCE </a:t>
            </a:r>
            <a:r>
              <a:rPr sz="700" b="1">
                <a:solidFill>
                  <a:srgbClr val="1E7E34"/>
                </a:solidFill>
                <a:latin typeface="Segoe UI"/>
              </a:rPr>
              <a:t>➔ </a:t>
            </a:r>
            <a:r>
              <a:rPr sz="680" b="1">
                <a:solidFill>
                  <a:srgbClr val="1E7E34"/>
                </a:solidFill>
                <a:latin typeface="Consolas"/>
              </a:rPr>
              <a:t>SPECTRAL + SPATIAL</a:t>
            </a:r>
          </a:p>
          <a:p>
            <a:pPr>
              <a:spcBef>
                <a:spcPts val="15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NDVI &amp; NDWI indices combined with 8-conn spatial clusters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0" y="3456432"/>
            <a:ext cx="2864815" cy="6217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3502152"/>
            <a:ext cx="268193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60" b="1">
                <a:solidFill>
                  <a:srgbClr val="64748B"/>
                </a:solidFill>
                <a:latin typeface="Consolas"/>
              </a:rPr>
              <a:t>OPAQUE RESULT </a:t>
            </a:r>
            <a:r>
              <a:rPr sz="700" b="1">
                <a:solidFill>
                  <a:srgbClr val="B45309"/>
                </a:solidFill>
                <a:latin typeface="Segoe UI"/>
              </a:rPr>
              <a:t>➔ </a:t>
            </a:r>
            <a:r>
              <a:rPr sz="680" b="1">
                <a:solidFill>
                  <a:srgbClr val="B45309"/>
                </a:solidFill>
                <a:latin typeface="Consolas"/>
              </a:rPr>
              <a:t>EVIDENCE CHAIN</a:t>
            </a:r>
          </a:p>
          <a:p>
            <a:pPr>
              <a:spcBef>
                <a:spcPts val="15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Auditable spatial coherence, trajectory, and pixel breakdown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0" y="4151376"/>
            <a:ext cx="2864815" cy="6217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4197096"/>
            <a:ext cx="268193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60" b="1">
                <a:solidFill>
                  <a:srgbClr val="64748B"/>
                </a:solidFill>
                <a:latin typeface="Consolas"/>
              </a:rPr>
              <a:t>FORCED DECISION </a:t>
            </a:r>
            <a:r>
              <a:rPr sz="700" b="1">
                <a:solidFill>
                  <a:srgbClr val="163D6B"/>
                </a:solidFill>
                <a:latin typeface="Segoe UI"/>
              </a:rPr>
              <a:t>➔ </a:t>
            </a:r>
            <a:r>
              <a:rPr sz="680" b="1">
                <a:solidFill>
                  <a:srgbClr val="163D6B"/>
                </a:solidFill>
                <a:latin typeface="Consolas"/>
              </a:rPr>
              <a:t>SUPPORTED / REVIEW</a:t>
            </a:r>
          </a:p>
          <a:p>
            <a:pPr>
              <a:spcBef>
                <a:spcPts val="15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Conservative decision rules; abstain routing on low confidence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95360" y="4892040"/>
            <a:ext cx="2864815" cy="91440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05088" y="4965192"/>
            <a:ext cx="26453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680" b="1">
                <a:solidFill>
                  <a:srgbClr val="1E7E34"/>
                </a:solidFill>
                <a:latin typeface="Consolas"/>
              </a:defRPr>
            </a:pPr>
            <a:r>
              <a:t>CONTROLLED SYNTHETIC TEMPORAL BENCHMARK (CASE 01):</a:t>
            </a:r>
          </a:p>
          <a:p>
            <a:r>
              <a:rPr sz="660">
                <a:solidFill>
                  <a:srgbClr val="1E293B"/>
                </a:solidFill>
                <a:latin typeface="Segoe UI"/>
              </a:rPr>
              <a:t>• 7,549 px Changed (11.5%)  |  Spatial Coherence: 99.7%
• Built Surface Support: 97.1%  |  Trajectory: LATE_ONSET_CHANGE
• System Verdict: ✔ SUPPORTED (High Spatial Coherence)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5952744"/>
            <a:ext cx="105457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163D6B"/>
                </a:solidFill>
                <a:latin typeface="Georgia"/>
              </a:rPr>
              <a:t>“NOT JUST CHANGE DETECTION. INVESTIGATION.”</a:t>
            </a:r>
          </a:p>
          <a:p>
            <a:pPr algn="ctr"/>
            <a:r>
              <a:rPr sz="700">
                <a:solidFill>
                  <a:srgbClr val="64748B"/>
                </a:solidFill>
                <a:latin typeface="Consolas"/>
              </a:rPr>
              <a:t>Live Console: https://terrae-geospatial-intelligence.vercel.app   |   GitHub: https://github.com/PhantomCipher13/terrae-geospatial-intelligence   |   Scientific Report: REPORT.md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82880"/>
            <a:ext cx="2377440" cy="640080"/>
          </a:xfrm>
          <a:prstGeom prst="roundRect">
            <a:avLst/>
          </a:prstGeom>
          <a:solidFill>
            <a:srgbClr val="F8F7F3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23774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63D6B"/>
                </a:solidFill>
                <a:latin typeface="Segoe UI"/>
              </a:rPr>
              <a:t>Team: Quantumcrew
</a:t>
            </a:r>
          </a:p>
          <a:p>
            <a:pPr algn="ctr"/>
            <a:r>
              <a:rPr sz="720">
                <a:solidFill>
                  <a:srgbClr val="64748B"/>
                </a:solidFill>
                <a:latin typeface="Consolas"/>
              </a:rPr>
              <a:t>PS: SIH26227 · Space Technology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46304"/>
            <a:ext cx="1600200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6120" y="137160"/>
            <a:ext cx="649224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163D6B"/>
                </a:solidFill>
                <a:latin typeface="Georgia"/>
              </a:rPr>
              <a:t>03 — TECHNICAL APPROACH</a:t>
            </a:r>
          </a:p>
          <a:p>
            <a:pPr algn="ctr">
              <a:spcBef>
                <a:spcPts val="200"/>
              </a:spcBef>
            </a:pPr>
            <a:r>
              <a:rPr sz="880" b="0">
                <a:solidFill>
                  <a:srgbClr val="64748B"/>
                </a:solidFill>
                <a:latin typeface="Segoe UI"/>
              </a:rPr>
              <a:t>SYSTEM ARCHITECTURE &amp; MULTI-STREAM EVIDENCE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47395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967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Segoe UI"/>
              </a:rPr>
              <a:t>@SIH Idea submission- Template   |   </a:t>
            </a:r>
            <a:r>
              <a:rPr sz="750">
                <a:solidFill>
                  <a:srgbClr val="64748B"/>
                </a:solidFill>
                <a:latin typeface="Segoe UI"/>
              </a:rPr>
              <a:t>TERRAE — TERRAE — Earth Intelligence Satellite Investigation Console   |   Ministry of Defence / Indian Army — DGIS   |   </a:t>
            </a:r>
            <a:r>
              <a:rPr sz="750">
                <a:solidFill>
                  <a:srgbClr val="163D6B"/>
                </a:solidFill>
                <a:latin typeface="Segoe UI"/>
                <a:hlinkClick r:id="rId3"/>
              </a:rPr>
              <a:t>Console: https://terrae-geospatial-intelligence.vercel.app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94457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163D6B"/>
                </a:solidFill>
                <a:latin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097280"/>
            <a:ext cx="2743200" cy="5257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188720"/>
            <a:ext cx="24688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 b="1">
                <a:solidFill>
                  <a:srgbClr val="163D6B"/>
                </a:solidFill>
                <a:latin typeface="Consolas"/>
              </a:defRPr>
            </a:pPr>
            <a:r>
              <a:t>METHODOLOGY &amp; PROCESS</a:t>
            </a:r>
            <a:br/>
            <a:r>
              <a:t>OF IMPLEMENTATION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1600200"/>
            <a:ext cx="2523744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655064"/>
            <a:ext cx="237744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2563EB"/>
                </a:solidFill>
                <a:latin typeface="Consolas"/>
              </a:rPr>
              <a:t>ASK · </a:t>
            </a:r>
            <a:r>
              <a:rPr sz="700" b="1">
                <a:solidFill>
                  <a:srgbClr val="1E293B"/>
                </a:solidFill>
                <a:latin typeface="Segoe UI"/>
              </a:rPr>
              <a:t>Natural Language Query</a:t>
            </a:r>
          </a:p>
          <a:p>
            <a:pPr>
              <a:spcBef>
                <a:spcPts val="200"/>
              </a:spcBef>
            </a:pPr>
            <a:r>
              <a:rPr sz="650">
                <a:solidFill>
                  <a:srgbClr val="64748B"/>
                </a:solidFill>
                <a:latin typeface="Segoe UI"/>
              </a:rPr>
              <a:t>Parses operational intent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2295144"/>
            <a:ext cx="2523744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350008"/>
            <a:ext cx="237744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0D9488"/>
                </a:solidFill>
                <a:latin typeface="Consolas"/>
              </a:rPr>
              <a:t>DISCOVER · </a:t>
            </a:r>
            <a:r>
              <a:rPr sz="700" b="1">
                <a:solidFill>
                  <a:srgbClr val="1E293B"/>
                </a:solidFill>
                <a:latin typeface="Segoe UI"/>
              </a:rPr>
              <a:t>RemoteCLIP + FAISS</a:t>
            </a:r>
          </a:p>
          <a:p>
            <a:pPr>
              <a:spcBef>
                <a:spcPts val="200"/>
              </a:spcBef>
            </a:pPr>
            <a:r>
              <a:rPr sz="650">
                <a:solidFill>
                  <a:srgbClr val="64748B"/>
                </a:solidFill>
                <a:latin typeface="Segoe UI"/>
              </a:rPr>
              <a:t>512-dim joint cosine retrieval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990088"/>
            <a:ext cx="2523744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44952"/>
            <a:ext cx="237744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1E7E34"/>
                </a:solidFill>
                <a:latin typeface="Consolas"/>
              </a:rPr>
              <a:t>COMPARE · </a:t>
            </a:r>
            <a:r>
              <a:rPr sz="700" b="1">
                <a:solidFill>
                  <a:srgbClr val="1E293B"/>
                </a:solidFill>
                <a:latin typeface="Segoe UI"/>
              </a:rPr>
              <a:t>T0 / TMID / T1</a:t>
            </a:r>
          </a:p>
          <a:p>
            <a:pPr>
              <a:spcBef>
                <a:spcPts val="200"/>
              </a:spcBef>
            </a:pPr>
            <a:r>
              <a:rPr sz="650">
                <a:solidFill>
                  <a:srgbClr val="64748B"/>
                </a:solidFill>
                <a:latin typeface="Segoe UI"/>
              </a:rPr>
              <a:t>Multi-band spectral shift (τ=0.15)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3685032"/>
            <a:ext cx="2523744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39896"/>
            <a:ext cx="237744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B45309"/>
                </a:solidFill>
                <a:latin typeface="Consolas"/>
              </a:rPr>
              <a:t>EXPLAIN · </a:t>
            </a:r>
            <a:r>
              <a:rPr sz="700" b="1">
                <a:solidFill>
                  <a:srgbClr val="1E293B"/>
                </a:solidFill>
                <a:latin typeface="Segoe UI"/>
              </a:rPr>
              <a:t>Spectral + Spatial</a:t>
            </a:r>
          </a:p>
          <a:p>
            <a:pPr>
              <a:spcBef>
                <a:spcPts val="200"/>
              </a:spcBef>
            </a:pPr>
            <a:r>
              <a:rPr sz="650">
                <a:solidFill>
                  <a:srgbClr val="64748B"/>
                </a:solidFill>
                <a:latin typeface="Segoe UI"/>
              </a:rPr>
              <a:t>NDVI, NDWI &amp; 8-conn topology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379976"/>
            <a:ext cx="2523744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34840"/>
            <a:ext cx="237744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D97706"/>
                </a:solidFill>
                <a:latin typeface="Consolas"/>
              </a:rPr>
              <a:t>CHALLENGE · </a:t>
            </a:r>
            <a:r>
              <a:rPr sz="700" b="1">
                <a:solidFill>
                  <a:srgbClr val="1E293B"/>
                </a:solidFill>
                <a:latin typeface="Segoe UI"/>
              </a:rPr>
              <a:t>Temporal Evidence</a:t>
            </a:r>
          </a:p>
          <a:p>
            <a:pPr>
              <a:spcBef>
                <a:spcPts val="200"/>
              </a:spcBef>
            </a:pPr>
            <a:r>
              <a:rPr sz="650">
                <a:solidFill>
                  <a:srgbClr val="64748B"/>
                </a:solidFill>
                <a:latin typeface="Segoe UI"/>
              </a:rPr>
              <a:t>MECE trajectory persistence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074920"/>
            <a:ext cx="2523744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29784"/>
            <a:ext cx="237744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163D6B"/>
                </a:solidFill>
                <a:latin typeface="Consolas"/>
              </a:rPr>
              <a:t>DECIDE · </a:t>
            </a:r>
            <a:r>
              <a:rPr sz="700" b="1">
                <a:solidFill>
                  <a:srgbClr val="1E293B"/>
                </a:solidFill>
                <a:latin typeface="Segoe UI"/>
              </a:rPr>
              <a:t>Conservative Verdict</a:t>
            </a:r>
          </a:p>
          <a:p>
            <a:pPr>
              <a:spcBef>
                <a:spcPts val="200"/>
              </a:spcBef>
            </a:pPr>
            <a:r>
              <a:rPr sz="650">
                <a:solidFill>
                  <a:srgbClr val="64748B"/>
                </a:solidFill>
                <a:latin typeface="Segoe UI"/>
              </a:rPr>
              <a:t>Auditable verdict &amp; abstain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00" b="1">
                <a:solidFill>
                  <a:srgbClr val="163D6B"/>
                </a:solidFill>
                <a:latin typeface="Consolas"/>
              </a:defRPr>
            </a:pPr>
            <a:r>
              <a:t>DETAILED TECHNICAL DOSSIER:</a:t>
            </a:r>
          </a:p>
          <a:p>
            <a:r>
              <a:rPr sz="650">
                <a:solidFill>
                  <a:srgbClr val="64748B"/>
                </a:solidFill>
                <a:latin typeface="Segoe UI"/>
              </a:rPr>
              <a:t>• REPORT.md: 6-part scientific report
• GitHub: Complete reproducible tests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1097280"/>
            <a:ext cx="4846320" cy="5257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76472" y="1188720"/>
            <a:ext cx="45171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 b="1">
                <a:solidFill>
                  <a:srgbClr val="163D6B"/>
                </a:solidFill>
                <a:latin typeface="Consolas"/>
              </a:defRPr>
            </a:pPr>
            <a:r>
              <a:t>SEMANTIC SATELLITE RETRIEVAL PIPELINE</a:t>
            </a:r>
          </a:p>
        </p:txBody>
      </p:sp>
      <p:pic>
        <p:nvPicPr>
          <p:cNvPr id="27" name="Picture 26" descr="retrieval_pipel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1463040"/>
            <a:ext cx="1188720" cy="11887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074920" y="1463040"/>
            <a:ext cx="3218688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8072" y="1499616"/>
            <a:ext cx="3072384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80" b="1">
                <a:solidFill>
                  <a:srgbClr val="2563EB"/>
                </a:solidFill>
                <a:latin typeface="Consolas"/>
              </a:rPr>
              <a:t>NATURAL QUERY ➔ </a:t>
            </a:r>
            <a:r>
              <a:rPr sz="680">
                <a:solidFill>
                  <a:srgbClr val="1E293B"/>
                </a:solidFill>
                <a:latin typeface="Segoe UI"/>
              </a:rPr>
              <a:t>“new construction &amp; buildings”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74920" y="1764792"/>
            <a:ext cx="3218688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1801368"/>
            <a:ext cx="3072384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80" b="1">
                <a:solidFill>
                  <a:srgbClr val="0D9488"/>
                </a:solidFill>
                <a:latin typeface="Consolas"/>
              </a:rPr>
              <a:t>REMOTECLIP ViT-B-32 ➔ </a:t>
            </a:r>
            <a:r>
              <a:rPr sz="680">
                <a:solidFill>
                  <a:srgbClr val="1E293B"/>
                </a:solidFill>
                <a:latin typeface="Segoe UI"/>
              </a:rPr>
              <a:t>512-dim joint vision-language embedding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74920" y="2066544"/>
            <a:ext cx="3218688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48072" y="2103120"/>
            <a:ext cx="3072384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80" b="1">
                <a:solidFill>
                  <a:srgbClr val="2563EB"/>
                </a:solidFill>
                <a:latin typeface="Consolas"/>
              </a:rPr>
              <a:t>FAISS FlatIP ➔ </a:t>
            </a:r>
            <a:r>
              <a:rPr sz="680">
                <a:solidFill>
                  <a:srgbClr val="1E293B"/>
                </a:solidFill>
                <a:latin typeface="Segoe UI"/>
              </a:rPr>
              <a:t>Nearest satellite tile cosine scan (2.0 ms)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4920" y="2368296"/>
            <a:ext cx="3218688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48072" y="2404872"/>
            <a:ext cx="3072384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680" b="1">
                <a:solidFill>
                  <a:srgbClr val="1E7E34"/>
                </a:solidFill>
                <a:latin typeface="Consolas"/>
              </a:rPr>
              <a:t>SATELLITE TILE ➔ </a:t>
            </a:r>
            <a:r>
              <a:rPr sz="680">
                <a:solidFill>
                  <a:srgbClr val="1E293B"/>
                </a:solidFill>
                <a:latin typeface="Segoe UI"/>
              </a:rPr>
              <a:t>MGRS 43RGM / EPSG:32643 10m UTM Grid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94760" y="2761488"/>
            <a:ext cx="448056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76472" y="2852928"/>
            <a:ext cx="4517136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 b="1">
                <a:solidFill>
                  <a:srgbClr val="163D6B"/>
                </a:solidFill>
                <a:latin typeface="Consolas"/>
              </a:defRPr>
            </a:pPr>
            <a:r>
              <a:t>MULTI-TEMPORAL EVIDENCE PIPELINE</a:t>
            </a:r>
          </a:p>
        </p:txBody>
      </p:sp>
      <p:pic>
        <p:nvPicPr>
          <p:cNvPr id="38" name="Picture 37" descr="sentinel2_t0_rg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3108960"/>
            <a:ext cx="1371600" cy="100584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3794760" y="4160520"/>
            <a:ext cx="1371600" cy="201168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4178808"/>
            <a:ext cx="1371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600" b="1">
                <a:solidFill>
                  <a:srgbClr val="163D6B"/>
                </a:solidFill>
                <a:latin typeface="Consolas"/>
              </a:rPr>
              <a:t>T0 · 19 MAY 2023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02936" y="3520440"/>
            <a:ext cx="15544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pic>
        <p:nvPicPr>
          <p:cNvPr id="42" name="Picture 41" descr="sentinel2_tmid_rg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108960"/>
            <a:ext cx="1371600" cy="100584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394960" y="4160520"/>
            <a:ext cx="1371600" cy="201168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0" y="4178808"/>
            <a:ext cx="1371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600" b="1">
                <a:solidFill>
                  <a:srgbClr val="163D6B"/>
                </a:solidFill>
                <a:latin typeface="Consolas"/>
              </a:rPr>
              <a:t>TMID · 06 OCT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3520440"/>
            <a:ext cx="15544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pic>
        <p:nvPicPr>
          <p:cNvPr id="46" name="Picture 45" descr="sentinel2_t1_rg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5160" y="3108960"/>
            <a:ext cx="1371600" cy="100584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6995160" y="4160520"/>
            <a:ext cx="1371600" cy="201168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95160" y="4178808"/>
            <a:ext cx="13716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600" b="1">
                <a:solidFill>
                  <a:srgbClr val="163D6B"/>
                </a:solidFill>
                <a:latin typeface="Consolas"/>
              </a:rPr>
              <a:t>T1 · 05 DEC 2023</a:t>
            </a:r>
          </a:p>
        </p:txBody>
      </p:sp>
      <p:pic>
        <p:nvPicPr>
          <p:cNvPr id="49" name="Picture 48" descr="evidence_chai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4760" y="4462272"/>
            <a:ext cx="4480560" cy="86868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794760" y="5376672"/>
            <a:ext cx="4480560" cy="868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620" b="1">
                <a:solidFill>
                  <a:srgbClr val="163D6B"/>
                </a:solidFill>
                <a:latin typeface="Consolas"/>
              </a:rPr>
              <a:t>SPECTRAL SHIFT (τ=0.15) ➔ 8-CONN SPATIAL TOPOLOGY ➔ ATTRIBUTION SUPPORT ➔ MECE TRAJECTORY ➔ VERDICT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95360" y="1097280"/>
            <a:ext cx="2864815" cy="5257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59952" y="1188720"/>
            <a:ext cx="2535631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163D6B"/>
                </a:solidFill>
                <a:latin typeface="Consolas"/>
              </a:defRPr>
            </a:pPr>
            <a:r>
              <a:t>TECHNOLOGIES USED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05088" y="1600200"/>
            <a:ext cx="264535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1691640"/>
            <a:ext cx="246247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>
                <a:solidFill>
                  <a:srgbClr val="2563EB"/>
                </a:solidFill>
                <a:latin typeface="Consolas"/>
              </a:rPr>
              <a:t>SEMANTIC RETRIEVAL
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293B"/>
                </a:solidFill>
                <a:latin typeface="Segoe UI"/>
              </a:rPr>
              <a:t>RemoteCLIP + FAISS
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Vision-language cross-modal embeddings + CPU vector indexing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705088" y="2734056"/>
            <a:ext cx="264535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96528" y="2825496"/>
            <a:ext cx="246247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>
                <a:solidFill>
                  <a:srgbClr val="0D9488"/>
                </a:solidFill>
                <a:latin typeface="Consolas"/>
              </a:rPr>
              <a:t>GEOSPATIAL
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293B"/>
                </a:solidFill>
                <a:latin typeface="Segoe UI"/>
              </a:rPr>
              <a:t>Rasterio + NumPy + SciPy
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GDAL bindings, surface reflectance math, 8-conn spatial topology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705088" y="3867912"/>
            <a:ext cx="264535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96528" y="3959352"/>
            <a:ext cx="246247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>
                <a:solidFill>
                  <a:srgbClr val="B45309"/>
                </a:solidFill>
                <a:latin typeface="Consolas"/>
              </a:rPr>
              <a:t>TEMPORAL / VALIDATION
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293B"/>
                </a:solidFill>
                <a:latin typeface="Segoe UI"/>
              </a:rPr>
              <a:t>Sentinel-2 + OSCD + SQLite
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10m BOA reflectance, MGRS grid, MECE trajectory classifier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05088" y="5001768"/>
            <a:ext cx="264535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96528" y="5093208"/>
            <a:ext cx="246247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>
                <a:solidFill>
                  <a:srgbClr val="163D6B"/>
                </a:solidFill>
                <a:latin typeface="Consolas"/>
              </a:rPr>
              <a:t>OFFLINE-FIRST
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E293B"/>
                </a:solidFill>
                <a:latin typeface="Segoe UI"/>
              </a:rPr>
              <a:t>Python + Streamlit + Local Models
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Air-gapped operation with zero external runtime calls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82880"/>
            <a:ext cx="2377440" cy="640080"/>
          </a:xfrm>
          <a:prstGeom prst="roundRect">
            <a:avLst/>
          </a:prstGeom>
          <a:solidFill>
            <a:srgbClr val="F8F7F3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23774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63D6B"/>
                </a:solidFill>
                <a:latin typeface="Segoe UI"/>
              </a:rPr>
              <a:t>Team: Quantumcrew
</a:t>
            </a:r>
          </a:p>
          <a:p>
            <a:pPr algn="ctr"/>
            <a:r>
              <a:rPr sz="720">
                <a:solidFill>
                  <a:srgbClr val="64748B"/>
                </a:solidFill>
                <a:latin typeface="Consolas"/>
              </a:rPr>
              <a:t>PS: SIH26227 · Space Technology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46304"/>
            <a:ext cx="1600200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6120" y="137160"/>
            <a:ext cx="649224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163D6B"/>
                </a:solidFill>
                <a:latin typeface="Georgia"/>
              </a:rPr>
              <a:t>04 — FEASIBILITY AND VIABILITY</a:t>
            </a:r>
          </a:p>
          <a:p>
            <a:pPr algn="ctr">
              <a:spcBef>
                <a:spcPts val="200"/>
              </a:spcBef>
            </a:pPr>
            <a:r>
              <a:rPr sz="880" b="0">
                <a:solidFill>
                  <a:srgbClr val="64748B"/>
                </a:solidFill>
                <a:latin typeface="Segoe UI"/>
              </a:rPr>
              <a:t>BUILT TO RUN LOCALLY. VALIDATED ON REAL SENTINEL-2.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47395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967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Segoe UI"/>
              </a:rPr>
              <a:t>@SIH Idea submission- Template   |   </a:t>
            </a:r>
            <a:r>
              <a:rPr sz="750">
                <a:solidFill>
                  <a:srgbClr val="64748B"/>
                </a:solidFill>
                <a:latin typeface="Segoe UI"/>
              </a:rPr>
              <a:t>TERRAE — TERRAE — Earth Intelligence Satellite Investigation Console   |   Ministry of Defence / Indian Army — DGIS   |   </a:t>
            </a:r>
            <a:r>
              <a:rPr sz="750">
                <a:solidFill>
                  <a:srgbClr val="163D6B"/>
                </a:solidFill>
                <a:latin typeface="Segoe UI"/>
                <a:hlinkClick r:id="rId3"/>
              </a:rPr>
              <a:t>Console: https://terrae-geospatial-intelligence.vercel.app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94457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163D6B"/>
                </a:solidFill>
                <a:latin typeface="Segoe U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97280"/>
            <a:ext cx="274320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163D6B"/>
                </a:solidFill>
                <a:latin typeface="Consolas"/>
              </a:defRPr>
            </a:pPr>
            <a:r>
              <a:t>FEASIBILITY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274320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463040"/>
            <a:ext cx="2468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2563EB"/>
                </a:solidFill>
                <a:latin typeface="Consolas"/>
              </a:rPr>
              <a:t>LOCAL AI
</a:t>
            </a:r>
          </a:p>
          <a:p>
            <a:pPr>
              <a:spcBef>
                <a:spcPts val="200"/>
              </a:spcBef>
            </a:pPr>
            <a:r>
              <a:rPr sz="819" b="1">
                <a:solidFill>
                  <a:srgbClr val="1E293B"/>
                </a:solidFill>
                <a:latin typeface="Segoe UI"/>
              </a:rPr>
              <a:t>RemoteCLIP + FAISS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64748B"/>
                </a:solidFill>
                <a:latin typeface="Segoe UI"/>
              </a:rPr>
              <a:t>Runs on standard CPU
8–16 GB RAM footprint
Zero GPU dependencies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52928"/>
            <a:ext cx="274320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44368"/>
            <a:ext cx="2468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0D9488"/>
                </a:solidFill>
                <a:latin typeface="Consolas"/>
              </a:rPr>
              <a:t>REAL DATA
</a:t>
            </a:r>
          </a:p>
          <a:p>
            <a:pPr>
              <a:spcBef>
                <a:spcPts val="200"/>
              </a:spcBef>
            </a:pPr>
            <a:r>
              <a:rPr sz="819" b="1">
                <a:solidFill>
                  <a:srgbClr val="1E293B"/>
                </a:solidFill>
                <a:latin typeface="Segoe UI"/>
              </a:rPr>
              <a:t>Sentinel-2A · 10m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64748B"/>
                </a:solidFill>
                <a:latin typeface="Segoe UI"/>
              </a:rPr>
              <a:t>Level-2A BOA Surface
B02, B03, B04, B08
Calibrated reflectance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34256"/>
            <a:ext cx="274320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25696"/>
            <a:ext cx="2468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B45309"/>
                </a:solidFill>
                <a:latin typeface="Consolas"/>
              </a:rPr>
              <a:t>DETERMINISTIC
</a:t>
            </a:r>
          </a:p>
          <a:p>
            <a:pPr>
              <a:spcBef>
                <a:spcPts val="200"/>
              </a:spcBef>
            </a:pPr>
            <a:r>
              <a:rPr sz="819" b="1">
                <a:solidFill>
                  <a:srgbClr val="1E293B"/>
                </a:solidFill>
                <a:latin typeface="Segoe UI"/>
              </a:rPr>
              <a:t>Fixed Threshold τ = 0.15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64748B"/>
                </a:solidFill>
                <a:latin typeface="Segoe UI"/>
              </a:rPr>
              <a:t>NDVI &amp; NDWI spectral math
8-conn morphological cluster
Zero model hallucination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097280"/>
            <a:ext cx="4846320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 b="1">
                <a:solidFill>
                  <a:srgbClr val="163D6B"/>
                </a:solidFill>
                <a:latin typeface="Consolas"/>
              </a:defRPr>
            </a:pPr>
            <a:r>
              <a:t>REAL SENTINEL-2 MULTI-DATE VALIDATION (MGRS 43RGM · NCR INDIA)</a:t>
            </a:r>
          </a:p>
        </p:txBody>
      </p:sp>
      <p:pic>
        <p:nvPicPr>
          <p:cNvPr id="18" name="Picture 17" descr="sentinel2_t0_rg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371600"/>
            <a:ext cx="1499616" cy="149961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611880" y="2907792"/>
            <a:ext cx="1499616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2944368"/>
            <a:ext cx="1499616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650" b="1">
                <a:solidFill>
                  <a:srgbClr val="163D6B"/>
                </a:solidFill>
                <a:latin typeface="Consolas"/>
              </a:rPr>
              <a:t>T0 · 19 MAY 2023
</a:t>
            </a:r>
          </a:p>
          <a:p>
            <a:pPr algn="ctr"/>
            <a:r>
              <a:rPr sz="580">
                <a:solidFill>
                  <a:srgbClr val="64748B"/>
                </a:solidFill>
                <a:latin typeface="Segoe UI"/>
              </a:rPr>
              <a:t>Pre-Monsoon Dry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2011680"/>
            <a:ext cx="1371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pic>
        <p:nvPicPr>
          <p:cNvPr id="22" name="Picture 21" descr="sentinel2_tmid_rg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371600"/>
            <a:ext cx="1499616" cy="149961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285232" y="2907792"/>
            <a:ext cx="1499616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85232" y="2944368"/>
            <a:ext cx="1499616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650" b="1">
                <a:solidFill>
                  <a:srgbClr val="163D6B"/>
                </a:solidFill>
                <a:latin typeface="Consolas"/>
              </a:rPr>
              <a:t>TMID · 06 OCT 2023
</a:t>
            </a:r>
          </a:p>
          <a:p>
            <a:pPr algn="ctr"/>
            <a:r>
              <a:rPr sz="580">
                <a:solidFill>
                  <a:srgbClr val="64748B"/>
                </a:solidFill>
                <a:latin typeface="Segoe UI"/>
              </a:rPr>
              <a:t>Post-Monsoon Green Peak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3136" y="2011680"/>
            <a:ext cx="1371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pic>
        <p:nvPicPr>
          <p:cNvPr id="26" name="Picture 25" descr="sentinel2_t1_rg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1371600"/>
            <a:ext cx="1499616" cy="149961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958584" y="2907792"/>
            <a:ext cx="1499616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4" y="2944368"/>
            <a:ext cx="1499616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650" b="1">
                <a:solidFill>
                  <a:srgbClr val="163D6B"/>
                </a:solidFill>
                <a:latin typeface="Consolas"/>
              </a:rPr>
              <a:t>T1 · 05 DEC 2023
</a:t>
            </a:r>
          </a:p>
          <a:p>
            <a:pPr algn="ctr"/>
            <a:r>
              <a:rPr sz="580">
                <a:solidFill>
                  <a:srgbClr val="64748B"/>
                </a:solidFill>
                <a:latin typeface="Segoe UI"/>
              </a:rPr>
              <a:t>Winter Post-Harvest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3456432"/>
            <a:ext cx="484632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29584"/>
            <a:ext cx="4517136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20" b="1">
                <a:solidFill>
                  <a:srgbClr val="163D6B"/>
                </a:solidFill>
                <a:latin typeface="Consolas"/>
              </a:defRPr>
            </a:pPr>
            <a:r>
              <a:t>EMPIRICAL OBSERVATION METRICS (262,144 VALID PIXELS · 10m GSD)</a:t>
            </a:r>
          </a:p>
          <a:p>
            <a:pPr>
              <a:spcBef>
                <a:spcPts val="200"/>
              </a:spcBef>
            </a:pPr>
            <a:r>
              <a:rPr sz="780" b="1">
                <a:solidFill>
                  <a:srgbClr val="B45309"/>
                </a:solidFill>
                <a:latin typeface="Consolas"/>
              </a:rPr>
              <a:t>0.7% (T0 ➔ TMID)     |     0.2% (TMID ➔ T1)     |     1.0% (T0 ➔ T1)</a:t>
            </a:r>
          </a:p>
          <a:p>
            <a:pPr>
              <a:spcBef>
                <a:spcPts val="300"/>
              </a:spcBef>
            </a:pPr>
            <a:r>
              <a:rPr sz="1100" b="1">
                <a:solidFill>
                  <a:srgbClr val="1E7E34"/>
                </a:solidFill>
                <a:latin typeface="Segoe UI"/>
              </a:rPr>
              <a:t>98.75% STABLE    </a:t>
            </a:r>
            <a:r>
              <a:rPr sz="750" b="1">
                <a:solidFill>
                  <a:srgbClr val="D97706"/>
                </a:solidFill>
                <a:latin typeface="Segoe UI"/>
              </a:rPr>
              <a:t>VERDICT: REVIEW (Ambiguous phenology routed to human analyst)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1E293B"/>
                </a:solidFill>
                <a:latin typeface="Segoe UI"/>
              </a:rPr>
              <a:t>Attribution Support:  Built 51.1%   |   Vegetation 24.7%   |   Seasonal 19.9%   |   Unresolved 3.1%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76472" y="4617720"/>
            <a:ext cx="2308256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4728" y="4617720"/>
            <a:ext cx="1115732" cy="109728"/>
          </a:xfrm>
          <a:prstGeom prst="rect">
            <a:avLst/>
          </a:prstGeom>
          <a:solidFill>
            <a:srgbClr val="1E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00461" y="4617720"/>
            <a:ext cx="898910" cy="10972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9371" y="4617720"/>
            <a:ext cx="140031" cy="10972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1097280"/>
            <a:ext cx="2864815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163D6B"/>
                </a:solidFill>
                <a:latin typeface="Consolas"/>
              </a:defRPr>
            </a:pPr>
            <a:r>
              <a:t>VIABILITY &amp; POTENTIAL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1371600"/>
            <a:ext cx="286481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32520" y="1463040"/>
            <a:ext cx="259049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163D6B"/>
                </a:solidFill>
                <a:latin typeface="Consolas"/>
              </a:rPr>
              <a:t>OFFLINE-FIRST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64748B"/>
                </a:solidFill>
                <a:latin typeface="Segoe UI"/>
              </a:rPr>
              <a:t>Air-gapped operation; zero cloud egress in defense facilities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2487168"/>
            <a:ext cx="286481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32520" y="2578608"/>
            <a:ext cx="259049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1E7E34"/>
                </a:solidFill>
                <a:latin typeface="Consolas"/>
              </a:rPr>
              <a:t>ANALYST-IN-LOOP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64748B"/>
                </a:solidFill>
                <a:latin typeface="Segoe UI"/>
              </a:rPr>
              <a:t>Review ambiguous evidence; zero black-box automated strikes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5360" y="3602736"/>
            <a:ext cx="286481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32520" y="3694176"/>
            <a:ext cx="259049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163D6B"/>
                </a:solidFill>
                <a:latin typeface="Consolas"/>
              </a:rPr>
              <a:t>MODULAR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64748B"/>
                </a:solidFill>
                <a:latin typeface="Segoe UI"/>
              </a:rPr>
              <a:t>Decoupled index, sensor &amp; MECE trajectory persistence engine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0" y="4718304"/>
            <a:ext cx="2864815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4809744"/>
            <a:ext cx="259049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20" b="1">
                <a:solidFill>
                  <a:srgbClr val="1E7E34"/>
                </a:solidFill>
                <a:latin typeface="Consolas"/>
              </a:rPr>
              <a:t>EXTENSIBLE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64748B"/>
                </a:solidFill>
                <a:latin typeface="Segoe UI"/>
              </a:rPr>
              <a:t>Supports SAR, thermal &amp; dense multi-year temporal time series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6025896"/>
            <a:ext cx="2468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1E7E34"/>
                </a:solidFill>
                <a:latin typeface="Consolas"/>
              </a:rPr>
              <a:t>[135 / 135 TESTS PASSING]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6025896"/>
            <a:ext cx="2468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2563EB"/>
                </a:solidFill>
                <a:latin typeface="Consolas"/>
              </a:rPr>
              <a:t>[ZERO RUNTIME EXTERNAL CALLS]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440" y="6025896"/>
            <a:ext cx="2468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B45309"/>
                </a:solidFill>
                <a:latin typeface="Consolas"/>
              </a:rPr>
              <a:t>[262,144 VALID PIXELS]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6025896"/>
            <a:ext cx="24688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163D6B"/>
                </a:solidFill>
                <a:latin typeface="Consolas"/>
              </a:rPr>
              <a:t>[DETERMINISTIC τ = 0.15]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82880"/>
            <a:ext cx="2377440" cy="640080"/>
          </a:xfrm>
          <a:prstGeom prst="roundRect">
            <a:avLst/>
          </a:prstGeom>
          <a:solidFill>
            <a:srgbClr val="F8F7F3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23774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63D6B"/>
                </a:solidFill>
                <a:latin typeface="Segoe UI"/>
              </a:rPr>
              <a:t>Team: Quantumcrew
</a:t>
            </a:r>
          </a:p>
          <a:p>
            <a:pPr algn="ctr"/>
            <a:r>
              <a:rPr sz="720">
                <a:solidFill>
                  <a:srgbClr val="64748B"/>
                </a:solidFill>
                <a:latin typeface="Consolas"/>
              </a:rPr>
              <a:t>PS: SIH26227 · Space Technology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46304"/>
            <a:ext cx="1600200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6120" y="137160"/>
            <a:ext cx="649224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163D6B"/>
                </a:solidFill>
                <a:latin typeface="Georgia"/>
              </a:rPr>
              <a:t>05 — IMPACT AND BENEFITS</a:t>
            </a:r>
          </a:p>
          <a:p>
            <a:pPr algn="ctr">
              <a:spcBef>
                <a:spcPts val="200"/>
              </a:spcBef>
            </a:pPr>
            <a:r>
              <a:rPr sz="880" b="0">
                <a:solidFill>
                  <a:srgbClr val="64748B"/>
                </a:solidFill>
                <a:latin typeface="Segoe UI"/>
              </a:rPr>
              <a:t>TURNING SATELLITE ARCHIVES INTO AN INVESTIGATION WORKBENCH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47395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967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Segoe UI"/>
              </a:rPr>
              <a:t>@SIH Idea submission- Template   |   </a:t>
            </a:r>
            <a:r>
              <a:rPr sz="750">
                <a:solidFill>
                  <a:srgbClr val="64748B"/>
                </a:solidFill>
                <a:latin typeface="Segoe UI"/>
              </a:rPr>
              <a:t>TERRAE — TERRAE — Earth Intelligence Satellite Investigation Console   |   Ministry of Defence / Indian Army — DGIS   |   </a:t>
            </a:r>
            <a:r>
              <a:rPr sz="750">
                <a:solidFill>
                  <a:srgbClr val="163D6B"/>
                </a:solidFill>
                <a:latin typeface="Segoe UI"/>
                <a:hlinkClick r:id="rId3"/>
              </a:rPr>
              <a:t>Console: https://terrae-geospatial-intelligence.vercel.app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94457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163D6B"/>
                </a:solidFill>
                <a:latin typeface="Segoe U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097280"/>
            <a:ext cx="10728655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1243584"/>
            <a:ext cx="1572768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pact_step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13075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27048" y="1280160"/>
            <a:ext cx="87782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>
                <a:solidFill>
                  <a:srgbClr val="163D6B"/>
                </a:solidFill>
                <a:latin typeface="Consolas"/>
              </a:rPr>
              <a:t>SATELLITE ARCHIVE
</a:t>
            </a:r>
          </a:p>
          <a:p>
            <a:pPr algn="l">
              <a:spcBef>
                <a:spcPts val="150"/>
              </a:spcBef>
            </a:pPr>
            <a:r>
              <a:rPr sz="560">
                <a:solidFill>
                  <a:srgbClr val="1E293B"/>
                </a:solidFill>
                <a:latin typeface="Segoe UI"/>
              </a:rPr>
              <a:t>Sentinel-2 &amp; SAR tiles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1399032"/>
            <a:ext cx="1737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1243584"/>
            <a:ext cx="1572768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pact_step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4912" y="1307592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10128" y="1280160"/>
            <a:ext cx="87782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>
                <a:solidFill>
                  <a:srgbClr val="2563EB"/>
                </a:solidFill>
                <a:latin typeface="Consolas"/>
              </a:rPr>
              <a:t>SEMANTIC DISCOVERY
</a:t>
            </a:r>
          </a:p>
          <a:p>
            <a:pPr algn="l">
              <a:spcBef>
                <a:spcPts val="150"/>
              </a:spcBef>
            </a:pPr>
            <a:r>
              <a:rPr sz="560">
                <a:solidFill>
                  <a:srgbClr val="1E293B"/>
                </a:solidFill>
                <a:latin typeface="Segoe UI"/>
              </a:rPr>
              <a:t>RemoteCLIP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1399032"/>
            <a:ext cx="1737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1243584"/>
            <a:ext cx="1572768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pact_step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992" y="1307592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93208" y="1280160"/>
            <a:ext cx="87782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>
                <a:solidFill>
                  <a:srgbClr val="0D9488"/>
                </a:solidFill>
                <a:latin typeface="Consolas"/>
              </a:rPr>
              <a:t>RELEVANT SCENE
</a:t>
            </a:r>
          </a:p>
          <a:p>
            <a:pPr algn="l">
              <a:spcBef>
                <a:spcPts val="150"/>
              </a:spcBef>
            </a:pPr>
            <a:r>
              <a:rPr sz="560">
                <a:solidFill>
                  <a:srgbClr val="1E293B"/>
                </a:solidFill>
                <a:latin typeface="Segoe UI"/>
              </a:rPr>
              <a:t>Ranked candidates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25896" y="1399032"/>
            <a:ext cx="1737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243584"/>
            <a:ext cx="1572768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pact_step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072" y="1307592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876288" y="1280160"/>
            <a:ext cx="87782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>
                <a:solidFill>
                  <a:srgbClr val="1E7E34"/>
                </a:solidFill>
                <a:latin typeface="Consolas"/>
              </a:rPr>
              <a:t>TEMPORAL COMPARISON
</a:t>
            </a:r>
          </a:p>
          <a:p>
            <a:pPr algn="l">
              <a:spcBef>
                <a:spcPts val="150"/>
              </a:spcBef>
            </a:pPr>
            <a:r>
              <a:rPr sz="560">
                <a:solidFill>
                  <a:srgbClr val="1E293B"/>
                </a:solidFill>
                <a:latin typeface="Segoe UI"/>
              </a:rPr>
              <a:t>Calibrated 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6" y="1399032"/>
            <a:ext cx="1737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1243584"/>
            <a:ext cx="1572768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pact_step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4152" y="1307592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659368" y="1280160"/>
            <a:ext cx="87782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>
                <a:solidFill>
                  <a:srgbClr val="B45309"/>
                </a:solidFill>
                <a:latin typeface="Consolas"/>
              </a:rPr>
              <a:t>EVIDENCE REVIEW
</a:t>
            </a:r>
          </a:p>
          <a:p>
            <a:pPr algn="l">
              <a:spcBef>
                <a:spcPts val="150"/>
              </a:spcBef>
            </a:pPr>
            <a:r>
              <a:rPr sz="560">
                <a:solidFill>
                  <a:srgbClr val="1E293B"/>
                </a:solidFill>
                <a:latin typeface="Segoe UI"/>
              </a:rPr>
              <a:t>Spectral attribution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2056" y="1399032"/>
            <a:ext cx="1737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CBD5E1"/>
                </a:solidFill>
                <a:latin typeface="Segoe UI"/>
              </a:rPr>
              <a:t>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84080" y="1243584"/>
            <a:ext cx="1572768" cy="6766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3D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pact_step_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7232" y="1307592"/>
            <a:ext cx="548640" cy="5486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442448" y="1280160"/>
            <a:ext cx="87782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>
                <a:solidFill>
                  <a:srgbClr val="163D6B"/>
                </a:solidFill>
                <a:latin typeface="Consolas"/>
              </a:rPr>
              <a:t>ANALYST DECISION
</a:t>
            </a:r>
          </a:p>
          <a:p>
            <a:pPr algn="l">
              <a:spcBef>
                <a:spcPts val="150"/>
              </a:spcBef>
            </a:pPr>
            <a:r>
              <a:rPr sz="560">
                <a:solidFill>
                  <a:srgbClr val="1E293B"/>
                </a:solidFill>
                <a:latin typeface="Segoe UI"/>
              </a:rPr>
              <a:t>Actionable verdict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2194560"/>
            <a:ext cx="5230368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ontrolled_t2_rg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9536" y="2322576"/>
            <a:ext cx="1481328" cy="148132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50592" y="2304288"/>
            <a:ext cx="3383280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00" b="1">
                <a:solidFill>
                  <a:srgbClr val="2563EB"/>
                </a:solidFill>
                <a:latin typeface="Consolas"/>
              </a:defRPr>
            </a:pPr>
            <a:r>
              <a:t>01 / INFRASTRUCTURE MONITORING</a:t>
            </a:r>
          </a:p>
          <a:p>
            <a:pPr>
              <a:spcBef>
                <a:spcPts val="200"/>
              </a:spcBef>
            </a:pPr>
            <a:r>
              <a:rPr sz="819" b="1">
                <a:solidFill>
                  <a:srgbClr val="1E293B"/>
                </a:solidFill>
                <a:latin typeface="Segoe UI"/>
              </a:rPr>
              <a:t>Forward Outpost, Tarmac &amp; Fortified Perimeter Detection</a:t>
            </a:r>
          </a:p>
          <a:p>
            <a:pPr>
              <a:spcBef>
                <a:spcPts val="3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Quickly discovers clandestine military construction, border tarmac paving, and fortified forward compounds. Natural-language intent isolates candidate tiles across thousands of sq km without coordinate guessing.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7064" y="2194560"/>
            <a:ext cx="5230368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ordeaux_t1_rg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5080" y="2322576"/>
            <a:ext cx="1481328" cy="14813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46136" y="2304288"/>
            <a:ext cx="3383280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00" b="1">
                <a:solidFill>
                  <a:srgbClr val="0D9488"/>
                </a:solidFill>
                <a:latin typeface="Consolas"/>
              </a:defRPr>
            </a:pPr>
            <a:r>
              <a:t>02 / STRATEGIC SITE DISCOVERY</a:t>
            </a:r>
          </a:p>
          <a:p>
            <a:pPr>
              <a:spcBef>
                <a:spcPts val="200"/>
              </a:spcBef>
            </a:pPr>
            <a:r>
              <a:rPr sz="819" b="1">
                <a:solidFill>
                  <a:srgbClr val="1E293B"/>
                </a:solidFill>
                <a:latin typeface="Segoe UI"/>
              </a:rPr>
              <a:t>Cross-Theater Facility Pattern Matching</a:t>
            </a:r>
          </a:p>
          <a:p>
            <a:pPr>
              <a:spcBef>
                <a:spcPts val="3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Query the RemoteCLIP FAISS vector index to discover geographically separated candidate sites sharing identical visual-semantic patterns across the theater, cutting manual catalog triage by hours.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078224"/>
            <a:ext cx="5230368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mumbai_t1_rg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9536" y="4206240"/>
            <a:ext cx="1481328" cy="14813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450592" y="4187952"/>
            <a:ext cx="3383280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00" b="1">
                <a:solidFill>
                  <a:srgbClr val="1E7E34"/>
                </a:solidFill>
                <a:latin typeface="Consolas"/>
              </a:defRPr>
            </a:pPr>
            <a:r>
              <a:t>03 / ROAD / TERRAIN CORRIDOR CHANGE</a:t>
            </a:r>
          </a:p>
          <a:p>
            <a:pPr>
              <a:spcBef>
                <a:spcPts val="200"/>
              </a:spcBef>
            </a:pPr>
            <a:r>
              <a:rPr sz="819" b="1">
                <a:solidFill>
                  <a:srgbClr val="1E293B"/>
                </a:solidFill>
                <a:latin typeface="Segoe UI"/>
              </a:rPr>
              <a:t>Frontier Logistics Tracks, Earth Clearings &amp; Bridgeheads</a:t>
            </a:r>
          </a:p>
          <a:p>
            <a:pPr>
              <a:spcBef>
                <a:spcPts val="3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Tracks emerging logistics road corridors and supply clearings across rugged terrain. Spatial coherence analysis confirms contiguous linear infrastructure while suppressing single-pixel seasonal slope washouts.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7064" y="4078224"/>
            <a:ext cx="5230368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sentinel2_tmid_rg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55080" y="4206240"/>
            <a:ext cx="1481328" cy="14813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946136" y="4187952"/>
            <a:ext cx="3383280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00" b="1">
                <a:solidFill>
                  <a:srgbClr val="B45309"/>
                </a:solidFill>
                <a:latin typeface="Consolas"/>
              </a:defRPr>
            </a:pPr>
            <a:r>
              <a:t>04 / VEGETATION / WATER INTERPRETATION</a:t>
            </a:r>
          </a:p>
          <a:p>
            <a:pPr>
              <a:spcBef>
                <a:spcPts val="200"/>
              </a:spcBef>
            </a:pPr>
            <a:r>
              <a:rPr sz="819" b="1">
                <a:solidFill>
                  <a:srgbClr val="1E293B"/>
                </a:solidFill>
                <a:latin typeface="Segoe UI"/>
              </a:rPr>
              <a:t>Defending Against False-Alarm Alert Fatigue</a:t>
            </a:r>
          </a:p>
          <a:p>
            <a:pPr>
              <a:spcBef>
                <a:spcPts val="300"/>
              </a:spcBef>
            </a:pPr>
            <a:r>
              <a:rPr sz="680">
                <a:solidFill>
                  <a:srgbClr val="64748B"/>
                </a:solidFill>
                <a:latin typeface="Segoe UI"/>
              </a:rPr>
              <a:t>Enforces 3-date MECE persistence trajectories to distinguish agricultural crop cycles (monsoon greening to harvest senescence) from permanent land-cover conversion, protecting command staff from false alarms.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952744"/>
            <a:ext cx="105457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" b="1">
                <a:solidFill>
                  <a:srgbClr val="163D6B"/>
                </a:solidFill>
                <a:latin typeface="Consolas"/>
              </a:rPr>
              <a:t>CORE DEFENSE PRINCIPLES:   [OFFLINE]   [AUDITABLE]   [CONSERVATIVE]</a:t>
            </a:r>
          </a:p>
          <a:p>
            <a:pPr algn="ctr"/>
            <a:r>
              <a:rPr sz="950" b="1">
                <a:solidFill>
                  <a:srgbClr val="B45309"/>
                </a:solidFill>
                <a:latin typeface="Georgia"/>
              </a:rPr>
              <a:t>“The goal is not to make every result positive. The goal is to make the result explainable.”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82880"/>
            <a:ext cx="2377440" cy="640080"/>
          </a:xfrm>
          <a:prstGeom prst="roundRect">
            <a:avLst/>
          </a:prstGeom>
          <a:solidFill>
            <a:srgbClr val="F8F7F3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23774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63D6B"/>
                </a:solidFill>
                <a:latin typeface="Segoe UI"/>
              </a:rPr>
              <a:t>Team: Quantumcrew
</a:t>
            </a:r>
          </a:p>
          <a:p>
            <a:pPr algn="ctr"/>
            <a:r>
              <a:rPr sz="720">
                <a:solidFill>
                  <a:srgbClr val="64748B"/>
                </a:solidFill>
                <a:latin typeface="Consolas"/>
              </a:rPr>
              <a:t>PS: SIH26227 · Space Technology</a:t>
            </a:r>
          </a:p>
        </p:txBody>
      </p:sp>
      <p:pic>
        <p:nvPicPr>
          <p:cNvPr id="4" name="Picture 3" descr="sih_logo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46304"/>
            <a:ext cx="1600200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46120" y="137160"/>
            <a:ext cx="649224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700" b="1">
                <a:solidFill>
                  <a:srgbClr val="163D6B"/>
                </a:solidFill>
                <a:latin typeface="Georgia"/>
              </a:rPr>
              <a:t>06 — RESEARCH AND REFERENCES</a:t>
            </a:r>
          </a:p>
          <a:p>
            <a:pPr algn="ctr">
              <a:spcBef>
                <a:spcPts val="200"/>
              </a:spcBef>
            </a:pPr>
            <a:r>
              <a:rPr sz="880" b="0">
                <a:solidFill>
                  <a:srgbClr val="64748B"/>
                </a:solidFill>
                <a:latin typeface="Segoe UI"/>
              </a:rPr>
              <a:t>EMPIRICAL BENCHMARKS, RESEARCH FOUNDATIONS &amp; PROJECT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47395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1967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>
                <a:solidFill>
                  <a:srgbClr val="64748B"/>
                </a:solidFill>
                <a:latin typeface="Segoe UI"/>
              </a:rPr>
              <a:t>@SIH Idea submission- Template   |   </a:t>
            </a:r>
            <a:r>
              <a:rPr sz="750">
                <a:solidFill>
                  <a:srgbClr val="64748B"/>
                </a:solidFill>
                <a:latin typeface="Segoe UI"/>
              </a:rPr>
              <a:t>TERRAE — TERRAE — Earth Intelligence Satellite Investigation Console   |   Ministry of Defence / Indian Army — DGIS   |   </a:t>
            </a:r>
            <a:r>
              <a:rPr sz="750">
                <a:solidFill>
                  <a:srgbClr val="163D6B"/>
                </a:solidFill>
                <a:latin typeface="Segoe UI"/>
                <a:hlinkClick r:id="rId3"/>
              </a:rPr>
              <a:t>Console: https://terrae-geospatial-intelligence.vercel.app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94457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163D6B"/>
                </a:solidFill>
                <a:latin typeface="Segoe U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097280"/>
            <a:ext cx="2926080" cy="4709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188720"/>
            <a:ext cx="265176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163D6B"/>
                </a:solidFill>
                <a:latin typeface="Consolas"/>
              </a:defRPr>
            </a:pPr>
            <a:r>
              <a:t>RESEARCH FOUNDATION FLOW</a:t>
            </a:r>
          </a:p>
        </p:txBody>
      </p:sp>
      <p:pic>
        <p:nvPicPr>
          <p:cNvPr id="12" name="Picture 11" descr="research_fl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463040"/>
            <a:ext cx="1005840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965960" y="1463040"/>
            <a:ext cx="157276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1499616"/>
            <a:ext cx="144475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80" b="1">
                <a:solidFill>
                  <a:srgbClr val="2563EB"/>
                </a:solidFill>
                <a:latin typeface="Consolas"/>
              </a:rPr>
              <a:t>REMOTECLIP
</a:t>
            </a:r>
          </a:p>
          <a:p>
            <a:pPr>
              <a:spcBef>
                <a:spcPts val="10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Chen et al., IEEE TGRS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2066544"/>
            <a:ext cx="157276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29968" y="2103120"/>
            <a:ext cx="144475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80" b="1">
                <a:solidFill>
                  <a:srgbClr val="0D9488"/>
                </a:solidFill>
                <a:latin typeface="Consolas"/>
              </a:rPr>
              <a:t>SENTINEL-2
</a:t>
            </a:r>
          </a:p>
          <a:p>
            <a:pPr>
              <a:spcBef>
                <a:spcPts val="10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ESA Copernicus 10m BOA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2670048"/>
            <a:ext cx="157276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9968" y="2706624"/>
            <a:ext cx="144475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80" b="1">
                <a:solidFill>
                  <a:srgbClr val="1E7E34"/>
                </a:solidFill>
                <a:latin typeface="Consolas"/>
              </a:rPr>
              <a:t>OSCD BENCHMARK
</a:t>
            </a:r>
          </a:p>
          <a:p>
            <a:pPr>
              <a:spcBef>
                <a:spcPts val="10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Daudt et al., IEEE IGARSS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5960" y="3273552"/>
            <a:ext cx="157276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3310128"/>
            <a:ext cx="144475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80" b="1">
                <a:solidFill>
                  <a:srgbClr val="B45309"/>
                </a:solidFill>
                <a:latin typeface="Consolas"/>
              </a:rPr>
              <a:t>NDVI / NDWI
</a:t>
            </a:r>
          </a:p>
          <a:p>
            <a:pPr>
              <a:spcBef>
                <a:spcPts val="10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Rouse et al. / McFeeters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5960" y="3877056"/>
            <a:ext cx="1572768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9968" y="3913632"/>
            <a:ext cx="144475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680" b="1">
                <a:solidFill>
                  <a:srgbClr val="163D6B"/>
                </a:solidFill>
                <a:latin typeface="Consolas"/>
              </a:rPr>
              <a:t>TERRAE CONSOLE
</a:t>
            </a:r>
          </a:p>
          <a:p>
            <a:pPr>
              <a:spcBef>
                <a:spcPts val="100"/>
              </a:spcBef>
            </a:pPr>
            <a:r>
              <a:rPr sz="620">
                <a:solidFill>
                  <a:srgbClr val="1E293B"/>
                </a:solidFill>
                <a:latin typeface="Segoe UI"/>
              </a:rPr>
              <a:t>Quantumcrew SIH26227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097280"/>
            <a:ext cx="448056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163D6B"/>
                </a:solidFill>
                <a:latin typeface="Consolas"/>
              </a:defRPr>
            </a:pPr>
            <a:r>
              <a:t>VALIDATION PROOF &amp; BENCHMARKS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1371600"/>
            <a:ext cx="4480560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9352" y="1463040"/>
            <a:ext cx="4151376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1E7E34"/>
                </a:solidFill>
                <a:latin typeface="Consolas"/>
              </a:defRPr>
            </a:pPr>
            <a:r>
              <a:t>1. REAL SENTINEL-2 (MGRS 43RGM · NCR INDIA)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1E293B"/>
                </a:solidFill>
                <a:latin typeface="Segoe UI"/>
              </a:rPr>
              <a:t>• Analysis Tile: 512×512 (262,144 valid pixels · 10m GSD)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1E293B"/>
                </a:solidFill>
                <a:latin typeface="Segoe UI"/>
              </a:rPr>
              <a:t>• Observations: T0 (19 May 2023), TMID (06 Oct 2023), T1 (05 Dec 2023)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1E293B"/>
                </a:solidFill>
                <a:latin typeface="Segoe UI"/>
              </a:rPr>
              <a:t>• Change Fractions: T0➔TMID: 0.7% | TMID➔T1: 0.2% | T0➔T1: 1.0%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1E293B"/>
                </a:solidFill>
                <a:latin typeface="Segoe UI"/>
              </a:rPr>
              <a:t>• Trajectory Distribution: STABLE = 98.75% (258,869 px)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1E293B"/>
                </a:solidFill>
                <a:latin typeface="Segoe UI"/>
              </a:rPr>
              <a:t>• Attribution: Built 51.1% | Veg 24.7% | Seasonal 19.9% | Unresolved 3.1%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1E293B"/>
                </a:solidFill>
                <a:latin typeface="Segoe UI"/>
              </a:rPr>
              <a:t>• System Verdict: REVIEW (Conservative routing on 1.0% change)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3493008"/>
            <a:ext cx="4480560" cy="23134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9352" y="3584448"/>
            <a:ext cx="4151376" cy="2130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2563EB"/>
                </a:solidFill>
                <a:latin typeface="Consolas"/>
              </a:defRPr>
            </a:pPr>
            <a:r>
              <a:t>2. OSCD BENCHMARK — 5-PAIR VALIDATION SUBSET</a:t>
            </a:r>
          </a:p>
          <a:p>
            <a:pPr>
              <a:spcBef>
                <a:spcPts val="150"/>
              </a:spcBef>
            </a:pPr>
            <a:r>
              <a:rPr sz="650" b="0">
                <a:solidFill>
                  <a:srgbClr val="1E293B"/>
                </a:solidFill>
                <a:latin typeface="Segoe UI"/>
              </a:rPr>
              <a:t>• Pairs: Aguas Claras, Beirut, Bordeaux, Cupertino, Mumbai</a:t>
            </a:r>
          </a:p>
          <a:p>
            <a:pPr>
              <a:spcBef>
                <a:spcPts val="150"/>
              </a:spcBef>
            </a:pPr>
            <a:r>
              <a:rPr sz="650" b="0">
                <a:solidFill>
                  <a:srgbClr val="1E293B"/>
                </a:solidFill>
                <a:latin typeface="Segoe UI"/>
              </a:rPr>
              <a:t>• Valid Pixels Evaluated: 3,025,938 valid pixels | Fixed τ = 0.15</a:t>
            </a:r>
          </a:p>
          <a:p>
            <a:pPr>
              <a:spcBef>
                <a:spcPts val="150"/>
              </a:spcBef>
            </a:pPr>
            <a:r>
              <a:rPr sz="650" b="0">
                <a:solidFill>
                  <a:srgbClr val="64748B"/>
                </a:solidFill>
                <a:latin typeface="Segoe UI"/>
              </a:rPr>
              <a:t/>
            </a:r>
          </a:p>
          <a:p>
            <a:pPr>
              <a:spcBef>
                <a:spcPts val="150"/>
              </a:spcBef>
            </a:pPr>
            <a:r>
              <a:rPr sz="650" b="1">
                <a:solidFill>
                  <a:srgbClr val="163D6B"/>
                </a:solidFill>
                <a:latin typeface="Segoe UI"/>
              </a:rPr>
              <a:t>QUANTITATIVE BENCHMARK METRICS:</a:t>
            </a:r>
          </a:p>
          <a:p>
            <a:pPr>
              <a:spcBef>
                <a:spcPts val="150"/>
              </a:spcBef>
            </a:pPr>
            <a:r>
              <a:rPr sz="680" b="0">
                <a:solidFill>
                  <a:srgbClr val="1E293B"/>
                </a:solidFill>
                <a:latin typeface="Consolas"/>
              </a:rPr>
              <a:t>• Micro Aggregate: Precision 57.55% | Recall 9.72% | F1 0.1663 | IoU 0.0907</a:t>
            </a:r>
          </a:p>
          <a:p>
            <a:pPr>
              <a:spcBef>
                <a:spcPts val="150"/>
              </a:spcBef>
            </a:pPr>
            <a:r>
              <a:rPr sz="680" b="0">
                <a:solidFill>
                  <a:srgbClr val="1E293B"/>
                </a:solidFill>
                <a:latin typeface="Consolas"/>
              </a:rPr>
              <a:t>• Macro Average:   Precision 52.22% | Recall 7.84% | F1 0.1267 | IoU 0.0692</a:t>
            </a:r>
          </a:p>
          <a:p>
            <a:pPr>
              <a:spcBef>
                <a:spcPts val="150"/>
              </a:spcBef>
            </a:pPr>
            <a:r>
              <a:rPr sz="650" b="0">
                <a:solidFill>
                  <a:srgbClr val="64748B"/>
                </a:solidFill>
                <a:latin typeface="Segoe UI"/>
              </a:rPr>
              <a:t/>
            </a:r>
          </a:p>
          <a:p>
            <a:pPr>
              <a:spcBef>
                <a:spcPts val="150"/>
              </a:spcBef>
            </a:pPr>
            <a:r>
              <a:rPr sz="650" b="0">
                <a:solidFill>
                  <a:srgbClr val="64748B"/>
                </a:solidFill>
                <a:latin typeface="Segoe UI"/>
              </a:rPr>
              <a:t>Class Imbalance Note: Accuracy (97.90%) is dominated by 97.64% unchanged</a:t>
            </a:r>
          </a:p>
          <a:p>
            <a:pPr>
              <a:spcBef>
                <a:spcPts val="150"/>
              </a:spcBef>
            </a:pPr>
            <a:r>
              <a:rPr sz="650" b="0">
                <a:solidFill>
                  <a:srgbClr val="64748B"/>
                </a:solidFill>
                <a:latin typeface="Segoe UI"/>
              </a:rPr>
              <a:t>ground truth. Low recall reflects conservative noise suppression.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1097280"/>
            <a:ext cx="3047695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163D6B"/>
                </a:solidFill>
                <a:latin typeface="Consolas"/>
              </a:defRPr>
            </a:pPr>
            <a:r>
              <a:t>PROJECT ACCESS &amp; REFERENCES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1371600"/>
            <a:ext cx="3047695" cy="228600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1463040"/>
            <a:ext cx="2718511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B45309"/>
                </a:solidFill>
                <a:latin typeface="Consolas"/>
              </a:defRPr>
            </a:pPr>
            <a:r>
              <a:t>PROJECT ACCESS</a:t>
            </a:r>
          </a:p>
          <a:p>
            <a:pPr>
              <a:spcBef>
                <a:spcPts val="300"/>
              </a:spcBef>
            </a:pPr>
            <a:r>
              <a:rPr sz="720" b="1">
                <a:solidFill>
                  <a:srgbClr val="1E293B"/>
                </a:solidFill>
                <a:latin typeface="Segoe UI"/>
              </a:rPr>
              <a:t>• Live Console: </a:t>
            </a:r>
            <a:r>
              <a:rPr sz="700">
                <a:solidFill>
                  <a:srgbClr val="163D6B"/>
                </a:solidFill>
                <a:latin typeface="Segoe UI"/>
                <a:hlinkClick r:id="rId3"/>
              </a:rPr>
              <a:t>terrae-geospatial-intelligence.vercel.app</a:t>
            </a:r>
          </a:p>
          <a:p>
            <a:pPr>
              <a:spcBef>
                <a:spcPts val="300"/>
              </a:spcBef>
            </a:pPr>
            <a:r>
              <a:rPr sz="720" b="1">
                <a:solidFill>
                  <a:srgbClr val="1E293B"/>
                </a:solidFill>
                <a:latin typeface="Segoe UI"/>
              </a:rPr>
              <a:t>• GitHub Repository: </a:t>
            </a:r>
            <a:r>
              <a:rPr sz="700">
                <a:solidFill>
                  <a:srgbClr val="163D6B"/>
                </a:solidFill>
                <a:latin typeface="Segoe UI"/>
                <a:hlinkClick r:id="rId5"/>
              </a:rPr>
              <a:t>github.com/PhantomCipher13/terrae-geospatial-intelligence</a:t>
            </a:r>
          </a:p>
          <a:p>
            <a:pPr>
              <a:spcBef>
                <a:spcPts val="300"/>
              </a:spcBef>
            </a:pPr>
            <a:r>
              <a:rPr sz="720" b="1">
                <a:solidFill>
                  <a:srgbClr val="1E293B"/>
                </a:solidFill>
                <a:latin typeface="Segoe UI"/>
              </a:rPr>
              <a:t>• Technical Report: </a:t>
            </a:r>
            <a:r>
              <a:rPr sz="700">
                <a:solidFill>
                  <a:srgbClr val="64748B"/>
                </a:solidFill>
                <a:latin typeface="Segoe UI"/>
              </a:rPr>
              <a:t>REPORT.md (6-Part Scientific Dossier)</a:t>
            </a:r>
          </a:p>
          <a:p>
            <a:pPr>
              <a:spcBef>
                <a:spcPts val="300"/>
              </a:spcBef>
            </a:pPr>
            <a:r>
              <a:rPr sz="720" b="1">
                <a:solidFill>
                  <a:srgbClr val="1E293B"/>
                </a:solidFill>
                <a:latin typeface="Segoe UI"/>
              </a:rPr>
              <a:t>• Automated Tests: </a:t>
            </a:r>
            <a:r>
              <a:rPr sz="700">
                <a:solidFill>
                  <a:srgbClr val="64748B"/>
                </a:solidFill>
                <a:latin typeface="Segoe UI"/>
              </a:rPr>
              <a:t>135 / 135 Tests Passing</a:t>
            </a:r>
          </a:p>
          <a:p>
            <a:pPr>
              <a:spcBef>
                <a:spcPts val="300"/>
              </a:spcBef>
            </a:pPr>
            <a:r>
              <a:rPr sz="720" b="1">
                <a:solidFill>
                  <a:srgbClr val="1E293B"/>
                </a:solidFill>
                <a:latin typeface="Segoe UI"/>
              </a:rPr>
              <a:t>• Team: </a:t>
            </a:r>
            <a:r>
              <a:rPr sz="700">
                <a:solidFill>
                  <a:srgbClr val="64748B"/>
                </a:solidFill>
                <a:latin typeface="Segoe UI"/>
              </a:rPr>
              <a:t>Quantumcrew (SIH26227)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3767328"/>
            <a:ext cx="3047695" cy="20391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7072" y="3840480"/>
            <a:ext cx="2718511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63D6B"/>
                </a:solidFill>
                <a:latin typeface="Consolas"/>
              </a:defRPr>
            </a:pPr>
            <a:r>
              <a:t>COMPACT REFERENCES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1E293B"/>
                </a:solidFill>
                <a:latin typeface="Segoe UI"/>
              </a:rPr>
              <a:t>[1] RemoteCLIP: Chen et al., IEEE TGRS 2024.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1E293B"/>
                </a:solidFill>
                <a:latin typeface="Segoe UI"/>
              </a:rPr>
              <a:t>[2] Sentinel-2: ESA Level-2A ATBD (10m BOA).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1E293B"/>
                </a:solidFill>
                <a:latin typeface="Segoe UI"/>
              </a:rPr>
              <a:t>[3] OSCD: Daudt et al., IEEE IGARSS 2018.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1E293B"/>
                </a:solidFill>
                <a:latin typeface="Segoe UI"/>
              </a:rPr>
              <a:t>[4] NDVI: Rouse et al., NASA SP-351, 1974.</a:t>
            </a:r>
          </a:p>
          <a:p>
            <a:pPr>
              <a:spcBef>
                <a:spcPts val="200"/>
              </a:spcBef>
            </a:pPr>
            <a:r>
              <a:rPr sz="680">
                <a:solidFill>
                  <a:srgbClr val="1E293B"/>
                </a:solidFill>
                <a:latin typeface="Segoe UI"/>
              </a:rPr>
              <a:t>[5] NDWI: McFeeters, Int. J. Remote Sens., 1996.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897880"/>
            <a:ext cx="10728655" cy="502920"/>
          </a:xfrm>
          <a:prstGeom prst="roundRect">
            <a:avLst/>
          </a:prstGeom>
          <a:solidFill>
            <a:srgbClr val="F8F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600760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b="1">
                <a:solidFill>
                  <a:srgbClr val="163D6B"/>
                </a:solidFill>
                <a:latin typeface="Georgia"/>
              </a:rPr>
              <a:t>“INVESTIGATE THE CHANGE. FOLLOW THE EVIDENCE. KNOW WHEN TO REVIEW.”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